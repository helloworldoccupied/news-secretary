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From Cloud to Edge</a:t>
            </a:r>
          </a:p>
          <a:p>
            <a:pPr algn="l">
              <a:spcAft>
                <a:spcPts val="600"/>
              </a:spcAft>
              <a:defRPr sz="3600" b="0">
                <a:solidFill>
                  <a:srgbClr val="0EA5E9"/>
                </a:solidFill>
                <a:latin typeface="Calibri"/>
              </a:defRPr>
            </a:pPr>
            <a:r>
              <a:t>Building AI Computing Infrastructure</a:t>
            </a:r>
          </a:p>
          <a:p>
            <a:pPr algn="l">
              <a:spcAft>
                <a:spcPts val="600"/>
              </a:spcAft>
              <a:defRPr sz="3600" b="0">
                <a:solidFill>
                  <a:srgbClr val="0EA5E9"/>
                </a:solidFill>
                <a:latin typeface="Calibri"/>
              </a:defRPr>
            </a:pPr>
            <a:r>
              <a:t>for the Age of Embodied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7315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Chao Chen  |  陈超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General Manager, Suzhou Chuangjie Intelligent Technology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0A0A0"/>
                </a:solidFill>
                <a:latin typeface="Calibri"/>
              </a:defRPr>
            </a:pPr>
            <a:r>
              <a:t>Vice Chair, Supercomputing &amp; Intelligent Computing Committee, CCIA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A0A0A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F97316"/>
                </a:solidFill>
                <a:latin typeface="Calibri"/>
              </a:defRPr>
            </a:pPr>
            <a:r>
              <a:t>IEEE ICTA 2026  |  Singapore  | 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14400"/>
            <a:ext cx="3017520" cy="5029200"/>
          </a:xfrm>
          <a:prstGeom prst="rect">
            <a:avLst/>
          </a:prstGeom>
          <a:solidFill>
            <a:srgbClr val="252540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📷 Circuit + Robot Silhouette</a:t>
            </a:r>
            <a:br/>
            <a:r>
              <a:t>(Replace with image)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About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2004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EA5E9"/>
                </a:solidFill>
                <a:latin typeface="Calibri"/>
              </a:defRPr>
            </a:pPr>
            <a:r>
              <a:t>📐 Quantitative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Applied Mathematics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High-frequency computation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0A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A0A0A0"/>
                </a:solidFill>
                <a:latin typeface="Calibri"/>
              </a:defRPr>
            </a:pPr>
            <a:r>
              <a:t>"Compute = Profit"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32004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20116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97316"/>
                </a:solidFill>
                <a:latin typeface="Calibri"/>
              </a:defRPr>
            </a:pPr>
            <a:r>
              <a:t>🏗️ AI Computing Centers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43200"/>
            <a:ext cx="32004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Operating GPU clusters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at national scale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0A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A0A0A0"/>
                </a:solidFill>
                <a:latin typeface="Calibri"/>
              </a:defRPr>
            </a:pPr>
            <a:r>
              <a:t>"Compute = Infrastructure"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2004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🤖 Embodied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743200"/>
            <a:ext cx="32004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Investing in humanoid robots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LingShen Tech | TIEN Kung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A0A0A0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A0A0A0"/>
                </a:solidFill>
                <a:latin typeface="Calibri"/>
              </a:defRPr>
            </a:pPr>
            <a:r>
              <a:t>"Compute = Autonomy"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31920" y="2103120"/>
            <a:ext cx="45720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589520" y="2103120"/>
            <a:ext cx="45720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 Waves of Compute Demand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0EA5E9"/>
                </a:solidFill>
                <a:latin typeface="Calibri"/>
              </a:defRPr>
            </a:pPr>
            <a:r>
              <a:t>Wave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Quantitative Finance (2010s)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2743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• Microsecond latency matters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• Every compute cycle = money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97316"/>
                </a:solidFill>
                <a:latin typeface="Calibri"/>
              </a:defRPr>
            </a:pPr>
            <a:r>
              <a:t>Wave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AI Training (2020s)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08960"/>
            <a:ext cx="2743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• GPU clusters at scale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• Petaflops of throughput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Wave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Embodied AI (2026→)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08960"/>
            <a:ext cx="2743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• Real-time on-body inference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0C0C0"/>
                </a:solidFill>
                <a:latin typeface="Calibri"/>
              </a:defRPr>
            </a:pPr>
            <a:r>
              <a:t>• Milliwatt-level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"Each wave demands fundamentally different IC design."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Compute: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2004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200" b="1">
                <a:solidFill>
                  <a:srgbClr val="0EA5E9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C0C0C0"/>
                </a:solidFill>
                <a:latin typeface="Calibri"/>
              </a:defRPr>
            </a:pPr>
            <a:r>
              <a:t>of all AI compute</a:t>
            </a:r>
            <a:br/>
            <a:r>
              <a:t>is inference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011680"/>
            <a:ext cx="32004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200" b="1">
                <a:solidFill>
                  <a:srgbClr val="F97316"/>
                </a:solidFill>
                <a:latin typeface="Calibri"/>
              </a:defRPr>
            </a:pPr>
            <a:r>
              <a:t>$50B+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11480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C0C0C0"/>
                </a:solidFill>
                <a:latin typeface="Calibri"/>
              </a:defRPr>
            </a:pPr>
            <a:r>
              <a:t>inference chip</a:t>
            </a:r>
            <a:br/>
            <a:r>
              <a:t>market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32004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200" b="1">
                <a:solidFill>
                  <a:srgbClr val="22C55E"/>
                </a:solidFill>
                <a:latin typeface="Calibri"/>
              </a:defRPr>
            </a:pPr>
            <a:r>
              <a:t>31%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11480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C0C0C0"/>
                </a:solidFill>
                <a:latin typeface="Calibri"/>
              </a:defRPr>
            </a:pPr>
            <a:r>
              <a:t>embodied AI</a:t>
            </a:r>
            <a:br/>
            <a:r>
              <a:t>market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A0A0A0"/>
                </a:solidFill>
                <a:latin typeface="Calibri"/>
              </a:defRPr>
            </a:pPr>
            <a:r>
              <a:t>Source: Deloitte TMT Predictions 2026  |  Omdia Market Radar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540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📷 Data Center Corridor Photo</a:t>
            </a:r>
            <a:br/>
            <a:r>
              <a:t>(Replace with full-bleed image + dark overlay)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600"/>
              </a:spcAft>
              <a:defRPr sz="2000" b="1">
                <a:solidFill>
                  <a:srgbClr val="0EA5E9"/>
                </a:solidFill>
                <a:latin typeface="Calibri"/>
              </a:defRPr>
            </a:pPr>
            <a:r>
              <a:t>PART I</a:t>
            </a:r>
          </a:p>
          <a:p>
            <a:pPr algn="l">
              <a:spcAft>
                <a:spcPts val="60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The Cloud</a:t>
            </a:r>
          </a:p>
          <a:p>
            <a:pPr algn="l">
              <a:spcAft>
                <a:spcPts val="600"/>
              </a:spcAft>
              <a:defRPr sz="2800" b="0">
                <a:solidFill>
                  <a:srgbClr val="C0C0C0"/>
                </a:solidFill>
                <a:latin typeface="Calibri"/>
              </a:defRPr>
            </a:pPr>
            <a:r>
              <a:t>Operating AI at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China's Intelligent Computing Centers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200" b="1">
                <a:solidFill>
                  <a:srgbClr val="EF4444"/>
                </a:solidFill>
                <a:latin typeface="Calibri"/>
              </a:defRPr>
            </a:pPr>
            <a:r>
              <a:t>200+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965960"/>
            <a:ext cx="6400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C0C0C0"/>
                </a:solidFill>
                <a:latin typeface="Calibri"/>
              </a:defRPr>
            </a:pPr>
            <a:r>
              <a:t>intelligent computing centers built since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2743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200" b="1">
                <a:solidFill>
                  <a:srgbClr val="F97316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337560"/>
            <a:ext cx="6400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C0C0C0"/>
                </a:solidFill>
                <a:latin typeface="Calibri"/>
              </a:defRPr>
            </a:pPr>
            <a:r>
              <a:t>GPU accelerators per large facility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2743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&lt;30%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709160"/>
            <a:ext cx="6400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C0C0C0"/>
                </a:solidFill>
                <a:latin typeface="Calibri"/>
              </a:defRPr>
            </a:pPr>
            <a:r>
              <a:t>average GPU utilization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"The system-level challenges dominate everything."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 #1: Thermal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1800" b="0">
                <a:solidFill>
                  <a:srgbClr val="A0A0A0"/>
                </a:solidFill>
                <a:latin typeface="Calibri"/>
              </a:defRPr>
            </a:pPr>
            <a:r>
              <a:t>Single accelerator:</a:t>
            </a:r>
          </a:p>
          <a:p>
            <a:pPr algn="l">
              <a:spcAft>
                <a:spcPts val="600"/>
              </a:spcAft>
              <a:defRPr sz="4400" b="1">
                <a:solidFill>
                  <a:srgbClr val="EF4444"/>
                </a:solidFill>
                <a:latin typeface="Calibri"/>
              </a:defRPr>
            </a:pPr>
            <a:r>
              <a:t>700W+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0">
                <a:solidFill>
                  <a:srgbClr val="A0A0A0"/>
                </a:solidFill>
                <a:latin typeface="Calibri"/>
              </a:defRPr>
            </a:pPr>
            <a:r>
              <a:t>Single rack:</a:t>
            </a:r>
          </a:p>
          <a:p>
            <a:pPr algn="l">
              <a:spcAft>
                <a:spcPts val="600"/>
              </a:spcAft>
              <a:defRPr sz="4400" b="1">
                <a:solidFill>
                  <a:srgbClr val="F97316"/>
                </a:solidFill>
                <a:latin typeface="Calibri"/>
              </a:defRPr>
            </a:pPr>
            <a:r>
              <a:t>40–80 kW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2400" b="1">
                <a:solidFill>
                  <a:srgbClr val="0EA5E9"/>
                </a:solidFill>
                <a:latin typeface="Calibri"/>
              </a:defRPr>
            </a:pPr>
            <a:r>
              <a:t>Air Cooling → Liquid Cooling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PUE: 1.4 → 1.15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0C0C0"/>
                </a:solidFill>
                <a:latin typeface="Calibri"/>
              </a:defRPr>
            </a:pPr>
            <a:r>
              <a:t>= millions saved per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3840480"/>
            <a:ext cx="4572000" cy="2286000"/>
          </a:xfrm>
          <a:prstGeom prst="rect">
            <a:avLst/>
          </a:prstGeom>
          <a:solidFill>
            <a:srgbClr val="252540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📷 Liquid Cooling Equipment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"Your chip's TDP is not a spec — it's a cost multiplier."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 #2: Power Supply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2800" b="1">
                <a:solidFill>
                  <a:srgbClr val="F97316"/>
                </a:solidFill>
                <a:latin typeface="Calibri"/>
              </a:defRPr>
            </a:pPr>
            <a:r>
              <a:t>1,000 GPUs = 1 MW</a:t>
            </a:r>
          </a:p>
          <a:p>
            <a:pPr algn="l">
              <a:spcAft>
                <a:spcPts val="600"/>
              </a:spcAft>
              <a:defRPr sz="2800" b="1">
                <a:solidFill>
                  <a:srgbClr val="EF4444"/>
                </a:solidFill>
                <a:latin typeface="Calibri"/>
              </a:defRPr>
            </a:pPr>
            <a:r>
              <a:t>10,000 GPUs = 10 MW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A0A0A0"/>
                </a:solidFill>
                <a:latin typeface="Calibri"/>
              </a:defRPr>
            </a:pPr>
            <a:r>
              <a:t>= a small town's power consumption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4572000" cy="109728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749039"/>
            <a:ext cx="4114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East China:  ¥0.8/kWh  →  Expensive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4572000" cy="109728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029200"/>
            <a:ext cx="4114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West China:  ¥0.3/kWh  →  AI moves west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252540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📷 China Map: East vs West</a:t>
            </a:r>
            <a:br/>
            <a:r>
              <a:t>Power cost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"Power is the new oil of the AI era."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 #3: GPU Utilization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0" b="1">
                <a:solidFill>
                  <a:srgbClr val="EF4444"/>
                </a:solidFill>
                <a:latin typeface="Calibri"/>
              </a:defRPr>
            </a:pPr>
            <a:r>
              <a:t>&lt;30%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4572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C0C0C0"/>
                </a:solidFill>
                <a:latin typeface="Calibri"/>
              </a:defRPr>
            </a:pPr>
            <a:r>
              <a:t>Average GPU Utilization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4572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97316"/>
                </a:solidFill>
                <a:latin typeface="Calibri"/>
              </a:defRPr>
            </a:pPr>
            <a:r>
              <a:t>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50292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1800" b="0">
                <a:solidFill>
                  <a:srgbClr val="C0C0C0"/>
                </a:solidFill>
                <a:latin typeface="Calibri"/>
              </a:defRPr>
            </a:pPr>
            <a:r>
              <a:t>• Multi-tenant scheduling is hard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0C0C0"/>
                </a:solidFill>
                <a:latin typeface="Calibri"/>
              </a:defRPr>
            </a:pPr>
            <a:r>
              <a:t>• Memory fragmentation between model sizes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0C0C0"/>
                </a:solidFill>
                <a:latin typeface="Calibri"/>
              </a:defRPr>
            </a:pPr>
            <a:r>
              <a:t>• Daily hardware failures at scale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0C0C0"/>
                </a:solidFill>
                <a:latin typeface="Calibri"/>
              </a:defRPr>
            </a:pPr>
            <a:r>
              <a:t>• Recovery and job migration overhead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"Utilization rate matters more than total capacity."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Cloud Operations Teach IC Designers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645920"/>
            <a:ext cx="73152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645920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737360"/>
            <a:ext cx="8229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1. Design for system deployability, not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743200"/>
            <a:ext cx="73152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8229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2. Performance per watt &gt; peak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840480"/>
            <a:ext cx="73152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840480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931920"/>
            <a:ext cx="8229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3. Build diagnostics into the silicon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937759"/>
            <a:ext cx="73152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937759"/>
            <a:ext cx="914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029199"/>
            <a:ext cx="8229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4. Reliability over years, not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"The best chip is the one that runs stable at 85% load for 365 days."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540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📷 Humanoid Robot Photo</a:t>
            </a:r>
            <a:br/>
            <a:r>
              <a:t>(Replace with full-bleed image + dark overlay)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6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PART II</a:t>
            </a:r>
          </a:p>
          <a:p>
            <a:pPr algn="l">
              <a:spcAft>
                <a:spcPts val="6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From Racks to Bodies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C0C0C0"/>
                </a:solidFill>
                <a:latin typeface="Calibri"/>
              </a:defRPr>
            </a:pPr>
            <a:r>
              <a:t>When Compute Walks Out of the Data Center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I Invest in Embodied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C0C0C0"/>
                </a:solidFill>
                <a:latin typeface="Calibri"/>
              </a:defRPr>
            </a:pPr>
            <a:r>
              <a:t>"I asked the engineering teams:</a:t>
            </a:r>
            <a:br/>
            <a:r>
              <a:t> What is your biggest bottleneck?"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❌  Not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4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❌  Not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✅  On-body 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"The available processors simply cannot deliver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 what we need within our power and size constraints."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Portfolio: LingShen Technology  灵生科技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515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5943600" cy="457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Tsinghua University origin, founded 2023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Universal brain platform for humanoid robots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Self-developed: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     ▸  LDP: Real-world Data Collection Platform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     ▸  LWM: Embodied World Model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Deployed: smart manufacturing, retail, healthcare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Pre-A / Pre-A+ funding: &gt;100M RMB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645920"/>
            <a:ext cx="4114800" cy="4114800"/>
          </a:xfrm>
          <a:prstGeom prst="rect">
            <a:avLst/>
          </a:prstGeom>
          <a:solidFill>
            <a:srgbClr val="252540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📷 LingShen Robot Product Photo</a:t>
            </a:r>
            <a:br/>
            <a:r>
              <a:t>(找灵生科技要产品图)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Portfolio: TIEN Kung  天工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5156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594360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Beijing Innovation Center of Humanoid Robotics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Supported by MIIT + Beijing Municipality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World's first pure-electric full-size humanoid running at 6 km/h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v3.0 (Feb 2026): touch-interactive, high-dynamic whole-body control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C0C0C0"/>
                </a:solidFill>
                <a:latin typeface="Calibri"/>
              </a:defRPr>
            </a:pPr>
            <a:r>
              <a:t>•  Open-source platform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645920"/>
            <a:ext cx="4114800" cy="4114800"/>
          </a:xfrm>
          <a:prstGeom prst="rect">
            <a:avLst/>
          </a:prstGeom>
          <a:solidFill>
            <a:srgbClr val="252540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📷 TIEN Kung v3.0 Robot Photo</a:t>
            </a:r>
            <a:br/>
            <a:r>
              <a:t>(官网可下载)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Cloud Chips vs. On-Body Chips: Two Worlds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3200400" cy="59436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77639" y="1280160"/>
            <a:ext cx="3840480" cy="59436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0" y="1280160"/>
            <a:ext cx="3840480" cy="59436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2926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A0A0A0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60520" y="132588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EA5E9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2588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On-Body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39"/>
            <a:ext cx="32004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920239"/>
            <a:ext cx="384048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920239"/>
            <a:ext cx="384048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65959"/>
            <a:ext cx="2926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C0C0C0"/>
                </a:solidFill>
                <a:latin typeface="Calibri"/>
              </a:defRPr>
            </a:pPr>
            <a:r>
              <a:t>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965959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PetaFLOPS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965959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TeraOPS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60320"/>
            <a:ext cx="320040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2560320"/>
            <a:ext cx="384048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2560320"/>
            <a:ext cx="384048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06040"/>
            <a:ext cx="2926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C0C0C0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60604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700W (rack cooled)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60604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&lt;50W (battery)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00399"/>
            <a:ext cx="32004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3200399"/>
            <a:ext cx="384048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3200399"/>
            <a:ext cx="384048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246119"/>
            <a:ext cx="2926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C0C0C0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246119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~1 second 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246119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&lt;10ms 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40479"/>
            <a:ext cx="320040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77639" y="3840479"/>
            <a:ext cx="384048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3840479"/>
            <a:ext cx="384048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886199"/>
            <a:ext cx="2926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C0C0C0"/>
                </a:solidFill>
                <a:latin typeface="Calibri"/>
              </a:defRPr>
            </a:pPr>
            <a:r>
              <a:t>Failure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886199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Swap &amp; restart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886199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Cannot fail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480560"/>
            <a:ext cx="32004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77639" y="4480560"/>
            <a:ext cx="384048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4480560"/>
            <a:ext cx="384048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526280"/>
            <a:ext cx="2926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C0C0C0"/>
                </a:solidFill>
                <a:latin typeface="Calibri"/>
              </a:defRPr>
            </a:pPr>
            <a:r>
              <a:t>Workload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52628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Single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52628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Multi-modal simultaneous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120640"/>
            <a:ext cx="320040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77639" y="5120640"/>
            <a:ext cx="384048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3840" y="5120640"/>
            <a:ext cx="3840480" cy="5943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166360"/>
            <a:ext cx="2926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C0C0C0"/>
                </a:solidFill>
                <a:latin typeface="Calibri"/>
              </a:defRPr>
            </a:pPr>
            <a:r>
              <a:t>Form factor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516636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Rack-mounted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166360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Fits in torso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760719"/>
            <a:ext cx="320040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977639" y="5760719"/>
            <a:ext cx="384048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5760719"/>
            <a:ext cx="3840480" cy="594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806439"/>
            <a:ext cx="2926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C0C0C0"/>
                </a:solidFill>
                <a:latin typeface="Calibri"/>
              </a:defRPr>
            </a:pPr>
            <a:r>
              <a:t>Cost target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5806439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$30,000/card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5806439"/>
            <a:ext cx="3474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&lt;$500/unit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"Cloud computing's challenge:</a:t>
            </a:r>
          </a:p>
          <a:p>
            <a:pPr algn="ctr">
              <a:spcAft>
                <a:spcPts val="600"/>
              </a:spcAft>
              <a:defRPr sz="3000" b="1">
                <a:solidFill>
                  <a:srgbClr val="0EA5E9"/>
                </a:solidFill>
                <a:latin typeface="Calibri"/>
              </a:defRPr>
            </a:pPr>
            <a:r>
              <a:t> fitting chips into racks.</a:t>
            </a:r>
          </a:p>
          <a:p>
            <a:pPr algn="ctr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 Embodied computing's challenge:</a:t>
            </a:r>
          </a:p>
          <a:p>
            <a:pPr algn="ctr">
              <a:spcAft>
                <a:spcPts val="600"/>
              </a:spcAft>
              <a:defRPr sz="3000" b="1">
                <a:solidFill>
                  <a:srgbClr val="22C55E"/>
                </a:solidFill>
                <a:latin typeface="Calibri"/>
              </a:defRPr>
            </a:pPr>
            <a:r>
              <a:t> fitting racks into bodies."</a:t>
            </a:r>
          </a:p>
          <a:p>
            <a:pPr algn="ctr">
              <a:spcAft>
                <a:spcPts val="60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800" b="0">
                <a:solidFill>
                  <a:srgbClr val="A0A0A0"/>
                </a:solidFill>
                <a:latin typeface="Calibri"/>
              </a:defRPr>
            </a:pPr>
            <a:r>
              <a:t>These require fundamentally different IC design philosophies.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Three-Tier Compute Architecture for Embodied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7772400" cy="146304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18872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EA5E9"/>
                </a:solidFill>
                <a:latin typeface="Calibri"/>
              </a:defRPr>
            </a:pPr>
            <a:r>
              <a:t>☁️ 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002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GPU Cluster  |  Existing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Model training, world model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0EA5E9"/>
                </a:solidFill>
                <a:latin typeface="Calibri"/>
              </a:defRPr>
            </a:pPr>
            <a:r>
              <a:t>Latency: Hours /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926080"/>
            <a:ext cx="7772400" cy="146304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01752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97316"/>
                </a:solidFill>
                <a:latin typeface="Calibri"/>
              </a:defRPr>
            </a:pPr>
            <a:r>
              <a:t>🏭 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4290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Edge Server  |  100–300W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Scene-specific inference, multi-robot coordination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Latency: ~100ms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754880"/>
            <a:ext cx="7772400" cy="146304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484632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🤖  ON-BODY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2578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SoC / NPU  |  &lt;50W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9204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Perception, safety, autonomous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349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Latency: &lt;10ms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035040" y="2560320"/>
            <a:ext cx="274320" cy="320040"/>
          </a:xfrm>
          <a:prstGeom prst="down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6035040" y="4389120"/>
            <a:ext cx="274320" cy="320040"/>
          </a:xfrm>
          <a:prstGeom prst="down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IC Demands by Compute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A0A0A0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474720" y="146304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EA5E9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46304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97316"/>
                </a:solidFill>
                <a:latin typeface="Calibri"/>
              </a:defRPr>
            </a:pPr>
            <a:r>
              <a:t>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46304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On-Body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1155680" cy="10058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A0A0A0"/>
                </a:solidFill>
                <a:latin typeface="Calibri"/>
              </a:defRPr>
            </a:pPr>
            <a:r>
              <a:t>Key IC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GPU / AI</a:t>
            </a:r>
            <a:br/>
            <a:r>
              <a:t>accelerator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19456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Inference</a:t>
            </a:r>
            <a:br/>
            <a:r>
              <a:t>accelerator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94560"/>
            <a:ext cx="2926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Heterogeneous</a:t>
            </a:r>
            <a:br/>
            <a:r>
              <a:t>SoC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1115568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A0A0A0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9184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400–700W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9184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100–300W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291840"/>
            <a:ext cx="2926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&lt;50W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79"/>
            <a:ext cx="11155680" cy="10058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19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A0A0A0"/>
                </a:solidFill>
                <a:latin typeface="Calibri"/>
              </a:defRPr>
            </a:pPr>
            <a:r>
              <a:t>Key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389119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Interconnect</a:t>
            </a:r>
            <a:br/>
            <a:r>
              <a:t>bandwidth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389119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Multi-model</a:t>
            </a:r>
            <a:br/>
            <a:r>
              <a:t>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389119"/>
            <a:ext cx="2926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Multi-modal</a:t>
            </a:r>
            <a:br/>
            <a:r>
              <a:t>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59"/>
            <a:ext cx="1115568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86399"/>
            <a:ext cx="2560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A0A0A0"/>
                </a:solidFill>
                <a:latin typeface="Calibri"/>
              </a:defRPr>
            </a:pPr>
            <a:r>
              <a:t>Market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486399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486399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Exploding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486399"/>
            <a:ext cx="2926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GREENFIELD</a:t>
            </a:r>
            <a:br/>
            <a:r>
              <a:t>BIGGEST OPPORTUNITY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540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📷 Chip Wafer Macro Photo</a:t>
            </a:r>
            <a:br/>
            <a:r>
              <a:t>(Replace with full-bleed image + dark overlay)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600"/>
              </a:spcAft>
              <a:defRPr sz="2000" b="1">
                <a:solidFill>
                  <a:srgbClr val="F97316"/>
                </a:solidFill>
                <a:latin typeface="Calibri"/>
              </a:defRPr>
            </a:pPr>
            <a:r>
              <a:t>PART III</a:t>
            </a:r>
          </a:p>
          <a:p>
            <a:pPr algn="l">
              <a:spcAft>
                <a:spcPts val="6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Recommendations</a:t>
            </a:r>
          </a:p>
          <a:p>
            <a:pPr algn="l">
              <a:spcAft>
                <a:spcPts val="600"/>
              </a:spcAft>
              <a:defRPr sz="2800" b="0">
                <a:solidFill>
                  <a:srgbClr val="C0C0C0"/>
                </a:solidFill>
                <a:latin typeface="Calibri"/>
              </a:defRPr>
            </a:pPr>
            <a:r>
              <a:t>for IC Designers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For Cloud / Data Center Chip Designers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54864" cy="4754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5544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  Performance per watt &gt; peak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05740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Your customer's #1 cost is electricity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2.  Standardize interconnects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20040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Proprietary = lock-in = slow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8404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  Build diagnostics into silicon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34340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Remote monitoring is an operational necessity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9834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4.  Design for multi-tenant workloads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48640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Hardware isolation improves utilization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For Edge / Embodied Chip Designers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54864" cy="502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1.  Heterogeneous compute is 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87452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CNN + Transformer + Control on one die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  Power is the hard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83464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Design to 50W first, then maximize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38328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  Latency &gt; 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79476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One result in 5ms, not 1000 results per second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34340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EF4444"/>
                </a:solidFill>
                <a:latin typeface="Calibri"/>
              </a:defRPr>
            </a:pPr>
            <a:r>
              <a:t>4.  Safety is non-negotiable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75488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Functional safety, error correction, graceful degradation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30352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5.  Cost at scale: &lt;$500/unit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715000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A0A0"/>
                </a:solidFill>
                <a:latin typeface="Calibri"/>
              </a:defRPr>
            </a:pPr>
            <a:r>
              <a:t>A $200K robot will never reach mass adoption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5029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"The best chip is never the one</a:t>
            </a:r>
          </a:p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 with the highest benchmark score.</a:t>
            </a:r>
          </a:p>
          <a:p>
            <a:pPr algn="ctr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800" b="1">
                <a:solidFill>
                  <a:srgbClr val="0EA5E9"/>
                </a:solidFill>
                <a:latin typeface="Calibri"/>
              </a:defRPr>
            </a:pPr>
            <a:r>
              <a:t> It is the one that runs reliably,</a:t>
            </a:r>
          </a:p>
          <a:p>
            <a:pPr algn="ctr">
              <a:spcAft>
                <a:spcPts val="600"/>
              </a:spcAft>
              <a:defRPr sz="2800" b="1">
                <a:solidFill>
                  <a:srgbClr val="0EA5E9"/>
                </a:solidFill>
                <a:latin typeface="Calibri"/>
              </a:defRPr>
            </a:pPr>
            <a:r>
              <a:t> efficiently, and affordably</a:t>
            </a:r>
          </a:p>
          <a:p>
            <a:pPr algn="ctr">
              <a:spcAft>
                <a:spcPts val="600"/>
              </a:spcAft>
              <a:defRPr sz="2800" b="1">
                <a:solidFill>
                  <a:srgbClr val="0EA5E9"/>
                </a:solidFill>
                <a:latin typeface="Calibri"/>
              </a:defRPr>
            </a:pPr>
            <a:r>
              <a:t> in its target deployment environment."</a:t>
            </a:r>
          </a:p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000" b="0">
                <a:solidFill>
                  <a:srgbClr val="A0A0A0"/>
                </a:solidFill>
                <a:latin typeface="Calibri"/>
              </a:defRPr>
            </a:pPr>
            <a:r>
              <a:t>— From quantitative trading,</a:t>
            </a:r>
          </a:p>
          <a:p>
            <a:pPr algn="ctr">
              <a:spcAft>
                <a:spcPts val="600"/>
              </a:spcAft>
              <a:defRPr sz="2000" b="0">
                <a:solidFill>
                  <a:srgbClr val="A0A0A0"/>
                </a:solidFill>
                <a:latin typeface="Calibri"/>
              </a:defRPr>
            </a:pPr>
            <a:r>
              <a:t>  through data centers, to robots.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Looking Ahead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645920"/>
            <a:ext cx="1097280" cy="10972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892807" y="2743200"/>
            <a:ext cx="54864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169164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"Inference Famine"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1945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Demand for inference compute outpaces supply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200400"/>
            <a:ext cx="1097280" cy="10972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1892807" y="4297680"/>
            <a:ext cx="54864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24612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First wave of mass-produced humanoid robots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74904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Logistics, manufacturing, elder care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754880"/>
            <a:ext cx="1097280" cy="10972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2028+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80060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On-body AI compute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30352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A0A0A0"/>
                </a:solidFill>
                <a:latin typeface="Calibri"/>
              </a:defRPr>
            </a:pPr>
            <a:r>
              <a:t>Comparable in scale to smartphone SoC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Every robot = a mobile computing platform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Aggregate demand = enormous new IC market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Convergence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645920"/>
            <a:ext cx="3200400" cy="3200400"/>
          </a:xfrm>
          <a:prstGeom prst="ellipse">
            <a:avLst/>
          </a:prstGeom>
          <a:solidFill>
            <a:srgbClr val="04374D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Cloud AI</a:t>
            </a:r>
            <a:br/>
            <a:r>
              <a:t>Training chips</a:t>
            </a:r>
            <a:br/>
            <a:r>
              <a:t>(mature)</a:t>
            </a:r>
          </a:p>
        </p:txBody>
      </p:sp>
      <p:sp>
        <p:nvSpPr>
          <p:cNvPr id="4" name="Oval 3"/>
          <p:cNvSpPr/>
          <p:nvPr/>
        </p:nvSpPr>
        <p:spPr>
          <a:xfrm>
            <a:off x="5943600" y="1645920"/>
            <a:ext cx="3200400" cy="3200400"/>
          </a:xfrm>
          <a:prstGeom prst="ellipse">
            <a:avLst/>
          </a:prstGeom>
          <a:solidFill>
            <a:srgbClr val="532607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Edge AI</a:t>
            </a:r>
            <a:br/>
            <a:r>
              <a:t>Inference chips</a:t>
            </a:r>
            <a:br/>
            <a:r>
              <a:t>(growing)</a:t>
            </a:r>
          </a:p>
        </p:txBody>
      </p:sp>
      <p:sp>
        <p:nvSpPr>
          <p:cNvPr id="5" name="Oval 4"/>
          <p:cNvSpPr/>
          <p:nvPr/>
        </p:nvSpPr>
        <p:spPr>
          <a:xfrm>
            <a:off x="4800600" y="3474720"/>
            <a:ext cx="3200400" cy="3200400"/>
          </a:xfrm>
          <a:prstGeom prst="ellipse">
            <a:avLst/>
          </a:prstGeom>
          <a:solidFill>
            <a:srgbClr val="0B411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On-Body AI</a:t>
            </a:r>
            <a:br/>
            <a:r>
              <a:t>Embodied SoCs</a:t>
            </a:r>
            <a:br/>
            <a:r>
              <a:t>(emerging)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3474720"/>
            <a:ext cx="2560320" cy="640080"/>
          </a:xfrm>
          <a:prstGeom prst="roundRect">
            <a:avLst/>
          </a:prstGeom>
          <a:solidFill>
            <a:srgbClr val="30305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352044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The IC Opportunity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For Everyone in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You are designing the</a:t>
            </a:r>
          </a:p>
          <a:p>
            <a:pPr algn="l">
              <a:spcAft>
                <a:spcPts val="600"/>
              </a:spcAft>
              <a:defRPr sz="3600" b="1">
                <a:solidFill>
                  <a:srgbClr val="FFD700"/>
                </a:solidFill>
                <a:latin typeface="Calibri"/>
              </a:defRPr>
            </a:pPr>
            <a:r>
              <a:t>nervous system</a:t>
            </a:r>
          </a:p>
          <a:p>
            <a:pPr algn="l">
              <a:spcAft>
                <a:spcPts val="6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of tomorrow's intelligent machines.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400" b="0">
                <a:solidFill>
                  <a:srgbClr val="C0C0C0"/>
                </a:solidFill>
                <a:latin typeface="Calibri"/>
              </a:defRPr>
            </a:pPr>
            <a:r>
              <a:t>Your decisions on: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400" b="1">
                <a:solidFill>
                  <a:srgbClr val="0EA5E9"/>
                </a:solidFill>
                <a:latin typeface="Calibri"/>
              </a:defRPr>
            </a:pPr>
            <a:r>
              <a:t>    •  Architecture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F97316"/>
                </a:solidFill>
                <a:latin typeface="Calibri"/>
              </a:defRPr>
            </a:pPr>
            <a:r>
              <a:t>    •  Power efficiency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    •  Reliability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will determine whether embodied AI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becomes reality — or stays in the lab.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5029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"I started optimizing compute for financial models,</a:t>
            </a:r>
          </a:p>
          <a:p>
            <a:pPr algn="ctr">
              <a:spcAft>
                <a:spcPts val="600"/>
              </a:spcAft>
              <a:defRPr sz="2400" b="1">
                <a:solidFill>
                  <a:srgbClr val="0EA5E9"/>
                </a:solidFill>
                <a:latin typeface="Calibri"/>
              </a:defRPr>
            </a:pPr>
            <a:r>
              <a:t> where microseconds meant money.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 I then built computing centers,</a:t>
            </a:r>
          </a:p>
          <a:p>
            <a:pPr algn="ctr">
              <a:spcAft>
                <a:spcPts val="600"/>
              </a:spcAft>
              <a:defRPr sz="2400" b="1">
                <a:solidFill>
                  <a:srgbClr val="F97316"/>
                </a:solidFill>
                <a:latin typeface="Calibri"/>
              </a:defRPr>
            </a:pPr>
            <a:r>
              <a:t> where power efficiency meant survival.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 Now I invest in robots,</a:t>
            </a:r>
          </a:p>
          <a:p>
            <a:pPr algn="ctr">
              <a:spcAft>
                <a:spcPts val="60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 where real-time inference means safety."</a:t>
            </a:r>
          </a:p>
          <a:p>
            <a:pPr algn="ctr">
              <a:spcAft>
                <a:spcPts val="6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200" b="0">
                <a:solidFill>
                  <a:srgbClr val="C0C0C0"/>
                </a:solidFill>
                <a:latin typeface="Calibri"/>
              </a:defRPr>
            </a:pPr>
            <a:r>
              <a:t>Advancing IC with AI.</a:t>
            </a:r>
          </a:p>
          <a:p>
            <a:pPr algn="ctr">
              <a:spcAft>
                <a:spcPts val="600"/>
              </a:spcAft>
              <a:defRPr sz="2200" b="0">
                <a:solidFill>
                  <a:srgbClr val="C0C0C0"/>
                </a:solidFill>
                <a:latin typeface="Calibri"/>
              </a:defRPr>
            </a:pPr>
            <a:r>
              <a:t>Advancing AI with IC —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from the cloud, through the edge, into the body.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4572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60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Aft>
                <a:spcPts val="600"/>
              </a:spcAft>
              <a:defRPr sz="3600" b="0">
                <a:solidFill>
                  <a:srgbClr val="A0A0A0"/>
                </a:solidFill>
                <a:latin typeface="Calibri"/>
              </a:defRPr>
            </a:pPr>
            <a:r>
              <a:t>谢谢</a:t>
            </a:r>
          </a:p>
          <a:p>
            <a:pPr algn="ctr">
              <a:spcAft>
                <a:spcPts val="60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Chao Chen  陈超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800" b="0">
                <a:solidFill>
                  <a:srgbClr val="C0C0C0"/>
                </a:solidFill>
                <a:latin typeface="Calibri"/>
              </a:defRPr>
            </a:pPr>
            <a:r>
              <a:t>Suzhou Chuangjie Intelligent Technology Co., Ltd.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A0A0A0"/>
                </a:solidFill>
                <a:latin typeface="Calibri"/>
              </a:defRPr>
            </a:pPr>
            <a:r>
              <a:t>苏州创杰智能科技有限公司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800" b="0">
                <a:solidFill>
                  <a:srgbClr val="F97316"/>
                </a:solidFill>
                <a:latin typeface="Calibri"/>
              </a:defRPr>
            </a:pPr>
            <a:r>
              <a:t>IEEE ICTA 2026  |  Singapore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