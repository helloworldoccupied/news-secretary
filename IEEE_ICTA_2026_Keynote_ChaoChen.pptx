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Thank you to the IEEE ICTA organizing committee for the invitation. It's a privilege to be here at a conference dedicated to advancing integrated circuits with AI.</a:t>
            </a:r>
          </a:p>
          <a:p/>
          <a:p>
            <a:r>
              <a:t>My name is Chao Chen. I'm going to talk about AI computing infrastructure — but not from the chip designer's perspective. I'm going to talk about it from the other side: the perspective of someone who deploys chips at scale, who operates the data centers they go into, and who invests in the robots that will need them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a personal observation. In my career, I've lived through what I call three waves of compute demand.</a:t>
            </a:r>
          </a:p>
          <a:p/>
          <a:p>
            <a:r>
              <a:t>The first wave was quantitative trading. I started in quantitative finance, building systems where microseconds mattered and computational throughput directly translated to profit. Computing power is not an IT cost — it's the core production asset.</a:t>
            </a:r>
          </a:p>
          <a:p/>
          <a:p>
            <a:r>
              <a:t>The second wave — what I call "traditional AI" — is large-scale GPU clusters for training foundation models. This wave is data-center-centric: the chips stay in the rack, the cooling stays in the building, and the power stays on the grid. All the hard problems — thermal management, power delivery, interconnection, utilization — are system-level problems, but they happen in a controlled environment. 700 watts per chip is fine when you have liquid cooling. Megawatts of power is fine when you build next to a hydroelectric dam.</a:t>
            </a:r>
          </a:p>
          <a:p/>
          <a:p>
            <a:r>
              <a:t>The third wave is fundamentally different: embodied intelligence. Compute leaves the data center. It walks out on two legs, runs on batteries, and must make safety-critical decisions in milliseconds. I'm an investor in LingShen Technology and TIEN Kung, and through these investments I've seen computing demands that break every assumption from the data center world.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According to Deloitte, inference workloads will account for roughly two-thirds of all AI compute in 2026 — up from one-third in 2023. The market for inference-optimized chips alone will exceed 50 billion US dollars this year. And the embodied AI market is projected to grow at a 31% compound annual growth rate.</a:t>
            </a:r>
          </a:p>
          <a:p/>
          <a:p>
            <a:r>
              <a:t>The demand for compute is not just growing — it's diversifying. Each new form of compute creates new demands on IC design.</a:t>
            </a:r>
          </a:p>
          <a:p/>
          <a:p>
            <a:r>
              <a:t>Today I want to take you on a journey from the cloud to the edge to the robot's body — and at each stop, I'll share what chip designers need to know.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slide — let the numbers speak]</a:t>
            </a:r>
          </a:p>
          <a:p/>
          <a:p>
            <a:r>
              <a:t>Two-thirds of all AI compute is inference. 50 billion dollar inference chip market. 31% CAGR for embodied AI.</a:t>
            </a:r>
          </a:p>
          <a:p/>
          <a:p>
            <a:r>
              <a:t>Source: Deloitte TMT Predictions 2026, Omdia Market Radar 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data center.</a:t>
            </a:r>
          </a:p>
          <a:p/>
          <a:p>
            <a:r>
              <a:t>[Section transition — 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China has built over 200 intelligent computing centers in the past three years. I've been directly involved in several of these. The largest operators now manage over 60,000 GPU accelerators across multiple sites, with total deployed compute exceeding 12 exaFLOPS — spread across centers in Yichang, Ordos, Sichuan, Xinjiang, and more.</a:t>
            </a:r>
          </a:p>
          <a:p/>
          <a:p>
            <a:r>
              <a:t>To give you a sense of scale: a single facility in Ordos deployed 3,000 petaFLOPS with a 10-billion-yuan investment. The largest planned facility — in Wenzhou — is targeting 50,000 petaFLOPS with investment of nearly 14 billion yuan. These are massive infrastructure projects comparable to building power plants.</a:t>
            </a:r>
          </a:p>
          <a:p/>
          <a:p>
            <a:r>
              <a:t>Yet even at this scale, the most important lessons I've learned have nothing to do with chip specifications. When you operate thousands of GPUs in a single facility, the system-level challenges dominate everything. Let me walk you through the top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number one: thermal management.</a:t>
            </a:r>
          </a:p>
          <a:p/>
          <a:p>
            <a:r>
              <a:t>A single high-end AI accelerator now consumes 700 watts or more. A fully loaded rack can draw 40 to 80 kilowatts. At this power density, traditional air cooling simply cannot keep up.</a:t>
            </a:r>
          </a:p>
          <a:p/>
          <a:p>
            <a:r>
              <a:t>In our facilities, we've transitioned from air cooling to liquid cooling, bringing our PUE from approximately 1.4 down to 1.15. That 0.25 reduction translates directly to millions of dollars in annual energy savings and, more importantly, to stable chip operating temperatures that extend hardware lifetime.</a:t>
            </a:r>
          </a:p>
          <a:p/>
          <a:p>
            <a:r>
              <a:t>The takeaway for IC designers: your chip's thermal design power is not just a spec on a datasheet. It directly determines what kind of cooling infrastructure is required, which determines the total cost of ownership. Reducing TDP by even 50 watts can change the economics of an entire data center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number two: power supply.</a:t>
            </a:r>
          </a:p>
          <a:p/>
          <a:p>
            <a:r>
              <a:t>One thousand GPU accelerators consume approximately one megawatt. A large center may have ten to fifty thousand cards — 10 to 50 megawatts — the electrical load of a small town. The largest planned facilities now reach 50,000 petaFLOPS, with investment exceeding one billion US dollars.</a:t>
            </a:r>
          </a:p>
          <a:p/>
          <a:p>
            <a:r>
              <a:t>In China, this has led to a geographic redistribution of AI infrastructure — the "Eastern Data, Western Computing" national strategy. New centers are being built in Guizhou, Inner Mongolia, Gansu, and Xinjiang, where electricity costs one-third of eastern prices and renewable energy is abundant.</a:t>
            </a:r>
          </a:p>
          <a:p/>
          <a:p>
            <a:r>
              <a:t>An interesting innovation: some operators are recovering waste heat from their cooling systems to power agricultural operations — aquaculture and hydroponic farming — turning an energy cost into a revenue stream. This is the kind of system-level thinking that matters.</a:t>
            </a:r>
          </a:p>
          <a:p/>
          <a:p>
            <a:r>
              <a:t>For chip designers: performance per watt is arguably more important than absolute performance. A chip that delivers 90% of the FLOPS at 70% of the power will win in large-scale deployment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number three: utilization.</a:t>
            </a:r>
          </a:p>
          <a:p/>
          <a:p>
            <a:r>
              <a:t>This one surprised me. The average GPU utilization rate across China's intelligent computing centers is estimated at less than 30 percent. We buy enormous compute capacity, and most of it sits idle.</a:t>
            </a:r>
          </a:p>
          <a:p/>
          <a:p>
            <a:r>
              <a:t>Why? Multi-tenant scheduling is hard. Memory fragmentation between models of different sizes is a real problem. When a card fails — which happens daily at scale — recovery wastes hours of cluster time.</a:t>
            </a:r>
          </a:p>
          <a:p/>
          <a:p>
            <a:r>
              <a:t>The good news is that heterogeneous resource pooling and vGPU slicing techniques are emerging — some operators have demonstrated that these can lift utilization from under 30% to over 70%, reducing cost by 40-70% compared to traditional cloud. But the fundamental point stands: hardware not designed for multi-tenant, fault-tolerant operation creates utilization problems that no software layer can fully solve.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are the cloud-scale lessons for IC designers:</a:t>
            </a:r>
          </a:p>
          <a:p/>
          <a:p>
            <a:r>
              <a:t>First, design for system deployability, not just benchmark performance. A chip that runs hot, draws excessive power, or lacks diagnostic capabilities creates downstream costs that dwarf the chip's purchase price.</a:t>
            </a:r>
          </a:p>
          <a:p/>
          <a:p>
            <a:r>
              <a:t>Second, power efficiency is king. Performance per watt matters more than peak performance.</a:t>
            </a:r>
          </a:p>
          <a:p/>
          <a:p>
            <a:r>
              <a:t>Third, build observability into the silicon. Remote monitoring, temperature reporting, error logging — at scale, they are operational necessities.</a:t>
            </a:r>
          </a:p>
          <a:p/>
          <a:p>
            <a:r>
              <a:t>Fourth, reliability over years, not hours. We need chips that run stable at 85% load for 365 days, not chips that hit a record benchmark for 60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want to shift gears dramatically.</a:t>
            </a:r>
          </a:p>
          <a:p/>
          <a:p>
            <a:r>
              <a:t>Everything I just described — liquid cooling, megawatt power supplies, high-speed interconnects — assumes the chip lives in a data center. But what happens when compute needs to leave the data center and walk around on two legs?</a:t>
            </a:r>
          </a:p>
          <a:p/>
          <a:p>
            <a:r>
              <a:t>[Section transition — pause for effect]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years ago, I started asking: what comes after the data center? Where does AI compute go next? The answer is into the physical world — into robots, vehicles, and industrial equipment.</a:t>
            </a:r>
          </a:p>
          <a:p/>
          <a:p>
            <a:r>
              <a:t>When I talk to the engineering teams, I always ask: what is your biggest bottleneck?</a:t>
            </a:r>
          </a:p>
          <a:p/>
          <a:p>
            <a:r>
              <a:t>The answer is never funding. It's never algorithms. The answer is consistently: on-body compute. The available processors simply cannot deliver what we need within our power and size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LingShen Technology, or LivSyn — founded by a Tsinghua University team in 2023. They're building what they call a "universal brain platform" for humanoid robots.</a:t>
            </a:r>
          </a:p>
          <a:p/>
          <a:p>
            <a:r>
              <a:t>What sets them apart is their four-in-one embodied large model that integrates perception, movement, manipulation, and planning. Their L1 robot has 26 degrees of freedom, weighs 85 kilograms, runs on NVIDIA Orin compute, and achieves over 12 hours of endurance.</a:t>
            </a:r>
          </a:p>
          <a:p/>
          <a:p>
            <a:r>
              <a:t>What's remarkable from a deployment perspective: their pretrained models can generalize to a new scenario with fewer than 300 data samples, and be deployed in just 5 hours. They're already operating in smart manufacturing, hospital ward rounds, and data center inspection. Over 100 million RMB in Pre-A financing.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TIEN Kung — developed by the Beijing Innovation Center of Humanoid Robotics, a national-level platform supported by MIIT.</a:t>
            </a:r>
          </a:p>
          <a:p/>
          <a:p>
            <a:r>
              <a:t>World's first purely electric-driven full-size humanoid robot capable of running at 6 km/h. Let me share some real numbers from their 2.0 Pro version: 173 centimeters tall, 73 kilograms, 42 degrees of freedom including dexterous hands, and on-body compute powered by dual NVIDIA Orin AGX modules delivering 550 TOPS — that's the kind of compute budget embodied AI has to work with.</a:t>
            </a:r>
          </a:p>
          <a:p/>
          <a:p>
            <a:r>
              <a:t>Single-arm payload is 4 kilograms, bimanual up to 16. Battery life is 3.5 hours with hot-swappable battery packs. And critically, they've chosen an open-source platform strategy, making it a universal robot mother platform for the broader ecosystem.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three real-world deployments that are already operating today.</a:t>
            </a:r>
          </a:p>
          <a:p/>
          <a:p>
            <a:r>
              <a:t>First, smart manufacturing. LingShen's L1 robot is deployed on injection molding and stamping production lines — handling grasping, sorting, quality inspection, and assembly. Each robot replaces two to three manual workers, with ROI achieved within months.</a:t>
            </a:r>
          </a:p>
          <a:p/>
          <a:p>
            <a:r>
              <a:t>Second, hospital ward rounds. The L1 robot assists doctors in completing morning rounds across 30 wards. It carries vital sign measurement devices — blood pressure, SpO2, temperature — syncs data to the hospital information system, and generates daily ward round reports automatically. It even conducts pre-diagnosis through medical large model and voice interaction.</a:t>
            </a:r>
          </a:p>
          <a:p/>
          <a:p>
            <a:r>
              <a:t>Third, data center inspection. This one is close to my heart — 24/7 autonomous patrol of server racks. The robot detects anomalies like power failures, LED status changes, and can perform simple equipment restarts. And remember: it only needs 300 training samples and 5 hours to adapt to a new data center environment.</a:t>
            </a:r>
          </a:p>
          <a:p/>
          <a:p>
            <a:r>
              <a:t>TIEN Kung's open platform is enabling applications in logistics, elder care, and hazardous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comparison — and now I can give you real numbers from the robots I've invested in.</a:t>
            </a:r>
          </a:p>
          <a:p/>
          <a:p>
            <a:r>
              <a:t>In the cloud, we measure in petaFLOPS. On TIEN Kung's body, total compute is 550 TOPS from dual Orin modules — that's all you get.</a:t>
            </a:r>
          </a:p>
          <a:p/>
          <a:p>
            <a:r>
              <a:t>Power: 700 watts per accelerator in a liquid-cooled rack versus less than 50 watts total for on-body compute running on a 30-amp-hour battery. That's a 15x reduction.</a:t>
            </a:r>
          </a:p>
          <a:p/>
          <a:p>
            <a:r>
              <a:t>Latency: one second is fine for cloud inference. For a robot catching its balance, you need under 10 milliseconds. Hesitate for one second and it falls.</a:t>
            </a:r>
          </a:p>
          <a:p/>
          <a:p>
            <a:r>
              <a:t>Workload: in the cloud, typically one model at a time. On the robot body, you're running vision, large language model, motor control, and tactile processing simultaneously on the same silicon.</a:t>
            </a:r>
          </a:p>
          <a:p/>
          <a:p>
            <a:r>
              <a:t>And cost: $30,000 per accelerator card is acceptable for data centers. But to reach mass adoption, on-body compute must be under $500 per unit.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 let this sink in]</a:t>
            </a:r>
          </a:p>
          <a:p/>
          <a:p>
            <a:r>
              <a:t>Cloud computing's challenge is fitting chips into racks. Embodied computing's challenge is fitting racks into bodies.</a:t>
            </a:r>
          </a:p>
          <a:p/>
          <a:p>
            <a:r>
              <a:t>These require fundamentally different IC design philosophies.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 news: robots don't have to do everything locally. The emerging architecture is what I call the Big Brain, Mid Brain, Small Brain model.</a:t>
            </a:r>
          </a:p>
          <a:p/>
          <a:p>
            <a:r>
              <a:t>The Big Brain is the cloud — our heterogeneous GPU pools running exaFLOPS of compute. This is where models are trained and world models are updated. It runs on the timescale of hours and days, and it's where innovations like heterogeneous resource pooling and vGPU slicing are maximizing utilization.</a:t>
            </a:r>
          </a:p>
          <a:p/>
          <a:p>
            <a:r>
              <a:t>The Mid Brain is the edge — servers at the factory floor or warehouse. This is where multi-robot swarm coordination happens, connected via 5G or future 6G uplinks. Response time is in the hundreds of milliseconds.</a:t>
            </a:r>
          </a:p>
          <a:p/>
          <a:p>
            <a:r>
              <a:t>The Small Brain is on-body compute — the SoC inside the robot itself. With 550 TOPS from dual Orin modules, it handles real-time perception, safety-critical control, and autonomous decision-making. Response time must be under 10 milliseconds.</a:t>
            </a:r>
          </a:p>
          <a:p/>
          <a:p>
            <a:r>
              <a:t>[Walk through each tier, pointing to the diagram]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tier creates different IC demands.</a:t>
            </a:r>
          </a:p>
          <a:p/>
          <a:p>
            <a:r>
              <a:t>Cloud tier — we know this well. GPU and AI accelerator market. Scale, power, interconnect.</a:t>
            </a:r>
          </a:p>
          <a:p/>
          <a:p>
            <a:r>
              <a:t>Edge tier — where the inference chip market is exploding. High-throughput inference at 100-300 watts, multiple model types, real-time scheduling.</a:t>
            </a:r>
          </a:p>
          <a:p/>
          <a:p>
            <a:r>
              <a:t>On-body tier — the wide-open frontier. Heterogeneous SoCs integrating CNN, transformer, and control processors, all under 50 watts.</a:t>
            </a:r>
          </a:p>
          <a:p/>
          <a:p>
            <a:r>
              <a:t>This third tier is the single largest greenfield opportunity for IC designers in the next decade.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a:t>
            </a:r>
          </a:p>
          <a:p/>
          <a:p>
            <a:r>
              <a:t>Let me synthesize what I've learned from operating at cloud scale and investing at the robot edge into specific recommendations.</a:t>
            </a:r>
          </a:p>
          <a:p/>
          <a:p>
            <a:r>
              <a:t>[Pause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cloud and data center chip designers:</a:t>
            </a:r>
          </a:p>
          <a:p/>
          <a:p>
            <a:r>
              <a:t>One — prioritize performance per watt. Your customers' biggest cost is electricity, not your chip.</a:t>
            </a:r>
          </a:p>
          <a:p/>
          <a:p>
            <a:r>
              <a:t>Two — standardize interconnect interfaces. Proprietary interconnects create vendor lock-in that slows adoption.</a:t>
            </a:r>
          </a:p>
          <a:p/>
          <a:p>
            <a:r>
              <a:t>Three — build diagnostics into the silicon. Remote health reporting, error counters, thermal sensors are not optional. They make large-scale operation viable.</a:t>
            </a:r>
          </a:p>
          <a:p/>
          <a:p>
            <a:r>
              <a:t>Four — design for multi-tenant workloads. Hardware-level memory isolation, secure context switching, QoS guarantees directly improve utilization rates.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edge and embodied chip designers:</a:t>
            </a:r>
          </a:p>
          <a:p/>
          <a:p>
            <a:r>
              <a:t>One — heterogeneous compute is a requirement. CNN, transformer, and real-time control on a single die.</a:t>
            </a:r>
          </a:p>
          <a:p/>
          <a:p>
            <a:r>
              <a:t>Two — power is THE hard constraint. Design to 50W first, then maximize compute. Sacrifice TOPS if needed.</a:t>
            </a:r>
          </a:p>
          <a:p/>
          <a:p>
            <a:r>
              <a:t>Three — latency over throughput. One result in 5ms, not 1000 results per second.</a:t>
            </a:r>
          </a:p>
          <a:p/>
          <a:p>
            <a:r>
              <a:t>Four — safety is non-negotiable. These chips operate inside machines alongside humans. Functional safety, error correction, graceful degradation — designed in from day one.</a:t>
            </a:r>
          </a:p>
          <a:p/>
          <a:p>
            <a:r>
              <a:t>Five — cost under $500. A $200K robot will never reach mass adoption.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 key message]</a:t>
            </a:r>
          </a:p>
          <a:p/>
          <a:p>
            <a:r>
              <a:t>The best chip is never the one with the highest benchmark score. It is the one that runs reliably, efficiently, and affordably in its target deployment environment.</a:t>
            </a:r>
          </a:p>
          <a:p/>
          <a:p>
            <a:r>
              <a:t>This connects my entire career: from trading systems, through data centers, to robots. The principle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a:t>
            </a:r>
          </a:p>
          <a:p/>
          <a:p>
            <a:r>
              <a:t>2026 — the year of "inference famine." Demand for inference compute is growing faster than supply. Operators are racing to build out — some with plans for 50,000 petaFLOPS facilities. The gap will widen as embodied AI moves from labs to factories.</a:t>
            </a:r>
          </a:p>
          <a:p/>
          <a:p>
            <a:r>
              <a:t>2027 — first wave of mass-produced humanoid robots in commercial deployment. Companies like LingShen already produce 25-30 units per month. Logistics, manufacturing, elder care — these are the first beachheads.</a:t>
            </a:r>
          </a:p>
          <a:p/>
          <a:p>
            <a:r>
              <a:t>2028 to 2030 — the industry targets hardware costs dropping to around 30,000 RMB per robot, enabling C-end service scenarios. On-body AI compute market becomes comparable in scale to the smartphone SoC market. Every robot is a mobile computing platform.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[Convergence diagram]</a:t>
            </a:r>
          </a:p>
          <a:p/>
          <a:p>
            <a:r>
              <a:t>Three markets converging: cloud training chips (mature), edge inference chips (growing), and on-body embodied SoCs (emerging).</a:t>
            </a:r>
          </a:p>
          <a:p/>
          <a:p>
            <a:r>
              <a:t>The intersection is the IC opportunity — the core message of this talk.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of you in this room who design integrated circuits — you are designing the nervous system of tomorrow's intelligent machines.</a:t>
            </a:r>
          </a:p>
          <a:p/>
          <a:p>
            <a:r>
              <a:t>Your decisions on architecture, power efficiency, and reliability will determine whether embodied AI becomes reality — or stays in the lab.</a:t>
            </a:r>
          </a:p>
          <a:p/>
          <a:p>
            <a:r>
              <a:t>[Speak directly to the audience, make eye contact]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started optimizing compute for financial models, where microseconds meant money.</a:t>
            </a:r>
          </a:p>
          <a:p/>
          <a:p>
            <a:r>
              <a:t>I then built computing centers, where power efficiency meant survival.</a:t>
            </a:r>
          </a:p>
          <a:p/>
          <a:p>
            <a:r>
              <a:t>Now I invest in robots, where real-time inference means safety.</a:t>
            </a:r>
          </a:p>
          <a:p/>
          <a:p>
            <a:r>
              <a:t>At every stage, the lesson is the same: great chips don't just compute — they integrate into systems, they operate at scale, and they serve the real world.</a:t>
            </a:r>
          </a:p>
          <a:p/>
          <a:p>
            <a:r>
              <a:t>The theme of this conference is "Advancing IC with AI." I'd like to add: we also need to advance AI with IC — from the cloud, through the edge, into the body.</a:t>
            </a:r>
          </a:p>
          <a:p/>
          <a:p>
            <a:r>
              <a:t>[Pause for emphasis on last line]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a:t>
            </a:r>
          </a:p>
          <a:p/>
          <a:p>
            <a:r>
              <a:t>[Wait for applause, then invite questions]</a:t>
            </a:r>
          </a:p>
          <a:p/>
          <a:p>
            <a:r>
              <a:t>Q&amp;A prepared topics:</a:t>
            </a:r>
          </a:p>
          <a:p>
            <a:r>
              <a:t>- US chip export restrictions → focus on supply chain diversification driving innovation, avoid geopolitical commentary</a:t>
            </a:r>
          </a:p>
          <a:p>
            <a:r>
              <a:t>- Domestic chips deployed → speak generally about maturing ecosystem, importance of deployment feedback loops. Mention heterogeneous pooling can compensate for individual chip performance gaps.</a:t>
            </a:r>
          </a:p>
          <a:p>
            <a:r>
              <a:t>- Timeline for mass humanoid robots → 13,000 units shipped in 2025, expect 10x by 2028. LingShen already at 25-30/month. Industry targets 30K RMB cost by 2030. Bottleneck is compute, not mechanical hardware.</a:t>
            </a:r>
          </a:p>
          <a:p>
            <a:r>
              <a:t>- Liquid cooling ROI → yes, unambiguously, for &gt;30kW/rack, 18-24 month payback from energy savings alone. Waste heat recovery for agriculture is an emerging bonus.</a:t>
            </a:r>
          </a:p>
          <a:p>
            <a:r>
              <a:t>- On-body compute specifics → TIEN Kung 2.0 Pro uses dual Orin AGX at 550 TOPS total, 42 DOF, 3.5h battery. LingShen L1 uses single Orin, 26 DOF, 12h+. Both NVIDIA platform — shows current dependence and opportunity for new entrants.</a:t>
            </a:r>
          </a:p>
          <a:p>
            <a:r>
              <a:t>- 5G/6G for swarm robotics → emerging "mid brain" architecture uses dedicated wireless for multi-robot coordination, especially in industrial and logistics scenarios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6492240"/>
            <a:ext cx="12191695" cy="36576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144000" cy="3200400"/>
          </a:xfrm>
          <a:prstGeom prst="rect">
            <a:avLst/>
          </a:prstGeom>
          <a:noFill/>
        </p:spPr>
        <p:txBody>
          <a:bodyPr wrap="square" anchor="t"/>
          <a:lstStyle/>
          <a:p>
            <a:pPr algn="l">
              <a:spcAft>
                <a:spcPts val="600"/>
              </a:spcAft>
              <a:defRPr sz="4400" b="1">
                <a:solidFill>
                  <a:srgbClr val="FFFFFF"/>
                </a:solidFill>
                <a:latin typeface="Calibri"/>
              </a:defRPr>
            </a:pPr>
            <a:r>
              <a:t>From Cloud to Edge</a:t>
            </a:r>
          </a:p>
          <a:p>
            <a:pPr algn="l">
              <a:spcAft>
                <a:spcPts val="600"/>
              </a:spcAft>
              <a:defRPr sz="3600" b="0">
                <a:solidFill>
                  <a:srgbClr val="0EA5E9"/>
                </a:solidFill>
                <a:latin typeface="Calibri"/>
              </a:defRPr>
            </a:pPr>
            <a:r>
              <a:t>Building AI Computing Infrastructure</a:t>
            </a:r>
          </a:p>
          <a:p>
            <a:pPr algn="l">
              <a:spcAft>
                <a:spcPts val="600"/>
              </a:spcAft>
              <a:defRPr sz="3600" b="0">
                <a:solidFill>
                  <a:srgbClr val="0EA5E9"/>
                </a:solidFill>
                <a:latin typeface="Calibri"/>
              </a:defRPr>
            </a:pPr>
            <a:r>
              <a:t>for the Age of Embodied Intelligence</a:t>
            </a:r>
          </a:p>
        </p:txBody>
      </p:sp>
      <p:sp>
        <p:nvSpPr>
          <p:cNvPr id="4" name="TextBox 3"/>
          <p:cNvSpPr txBox="1"/>
          <p:nvPr/>
        </p:nvSpPr>
        <p:spPr>
          <a:xfrm>
            <a:off x="1371600" y="4572000"/>
            <a:ext cx="7315200" cy="1828800"/>
          </a:xfrm>
          <a:prstGeom prst="rect">
            <a:avLst/>
          </a:prstGeom>
          <a:noFill/>
        </p:spPr>
        <p:txBody>
          <a:bodyPr wrap="square" anchor="t"/>
          <a:lstStyle/>
          <a:p>
            <a:pPr algn="l">
              <a:spcAft>
                <a:spcPts val="600"/>
              </a:spcAft>
              <a:defRPr sz="2200" b="1">
                <a:solidFill>
                  <a:srgbClr val="FFFFFF"/>
                </a:solidFill>
                <a:latin typeface="Calibri"/>
              </a:defRPr>
            </a:pPr>
            <a:r>
              <a:t>Chao Chen  |  陈超</a:t>
            </a:r>
          </a:p>
          <a:p>
            <a:pPr algn="l">
              <a:spcAft>
                <a:spcPts val="600"/>
              </a:spcAft>
              <a:defRPr sz="1600" b="0">
                <a:solidFill>
                  <a:srgbClr val="C0C0C0"/>
                </a:solidFill>
                <a:latin typeface="Calibri"/>
              </a:defRPr>
            </a:pPr>
            <a:r>
              <a:t>General Manager, Suzhou Chuangjie Intelligent Technology</a:t>
            </a:r>
          </a:p>
          <a:p>
            <a:pPr algn="l">
              <a:spcAft>
                <a:spcPts val="600"/>
              </a:spcAft>
              <a:defRPr sz="1400" b="0">
                <a:solidFill>
                  <a:srgbClr val="A0A0A0"/>
                </a:solidFill>
                <a:latin typeface="Calibri"/>
              </a:defRPr>
            </a:pPr>
            <a:r>
              <a:t>Vice Chair, Supercomputing &amp; Intelligent Computing Committee, CCIA</a:t>
            </a:r>
          </a:p>
          <a:p>
            <a:pPr algn="l">
              <a:spcAft>
                <a:spcPts val="600"/>
              </a:spcAft>
              <a:defRPr sz="800" b="0">
                <a:solidFill>
                  <a:srgbClr val="A0A0A0"/>
                </a:solidFill>
                <a:latin typeface="Calibri"/>
              </a:defRPr>
            </a:pPr>
          </a:p>
          <a:p>
            <a:pPr algn="l">
              <a:spcAft>
                <a:spcPts val="600"/>
              </a:spcAft>
              <a:defRPr sz="1400" b="0">
                <a:solidFill>
                  <a:srgbClr val="F97316"/>
                </a:solidFill>
                <a:latin typeface="Calibri"/>
              </a:defRPr>
            </a:pPr>
            <a:r>
              <a:t>IEEE ICTA 2026  |  Singapore  |  October 2026</a:t>
            </a:r>
          </a:p>
        </p:txBody>
      </p:sp>
      <p:pic>
        <p:nvPicPr>
          <p:cNvPr id="5" name="Picture 4" descr="circuit_abstract.jpg"/>
          <p:cNvPicPr>
            <a:picLocks noChangeAspect="1"/>
          </p:cNvPicPr>
          <p:nvPr/>
        </p:nvPicPr>
        <p:blipFill>
          <a:blip r:embed="rId2"/>
          <a:stretch>
            <a:fillRect/>
          </a:stretch>
        </p:blipFill>
        <p:spPr>
          <a:xfrm>
            <a:off x="8686800" y="2423160"/>
            <a:ext cx="3017520" cy="20116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About Me</a:t>
            </a:r>
          </a:p>
        </p:txBody>
      </p:sp>
      <p:sp>
        <p:nvSpPr>
          <p:cNvPr id="3" name="Rectangle 2"/>
          <p:cNvSpPr/>
          <p:nvPr/>
        </p:nvSpPr>
        <p:spPr>
          <a:xfrm>
            <a:off x="731520" y="1828800"/>
            <a:ext cx="32004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200400" cy="640080"/>
          </a:xfrm>
          <a:prstGeom prst="rect">
            <a:avLst/>
          </a:prstGeom>
          <a:noFill/>
        </p:spPr>
        <p:txBody>
          <a:bodyPr wrap="square" anchor="t"/>
          <a:lstStyle/>
          <a:p>
            <a:pPr algn="l">
              <a:defRPr sz="2200" b="1">
                <a:solidFill>
                  <a:srgbClr val="0EA5E9"/>
                </a:solidFill>
                <a:latin typeface="Calibri"/>
              </a:defRPr>
            </a:pPr>
            <a:r>
              <a:t>📐 Quantitative Trading</a:t>
            </a:r>
          </a:p>
        </p:txBody>
      </p:sp>
      <p:sp>
        <p:nvSpPr>
          <p:cNvPr id="5" name="TextBox 4"/>
          <p:cNvSpPr txBox="1"/>
          <p:nvPr/>
        </p:nvSpPr>
        <p:spPr>
          <a:xfrm>
            <a:off x="731520" y="2743200"/>
            <a:ext cx="3200400" cy="2743200"/>
          </a:xfrm>
          <a:prstGeom prst="rect">
            <a:avLst/>
          </a:prstGeom>
          <a:noFill/>
        </p:spPr>
        <p:txBody>
          <a:bodyPr wrap="square" anchor="t"/>
          <a:lstStyle/>
          <a:p>
            <a:pPr algn="l">
              <a:spcAft>
                <a:spcPts val="600"/>
              </a:spcAft>
              <a:defRPr sz="1600" b="0">
                <a:solidFill>
                  <a:srgbClr val="C0C0C0"/>
                </a:solidFill>
                <a:latin typeface="Calibri"/>
              </a:defRPr>
            </a:pPr>
            <a:r>
              <a:t>Applied Mathematics</a:t>
            </a:r>
          </a:p>
          <a:p>
            <a:pPr algn="l">
              <a:spcAft>
                <a:spcPts val="600"/>
              </a:spcAft>
              <a:defRPr sz="1600" b="0">
                <a:solidFill>
                  <a:srgbClr val="C0C0C0"/>
                </a:solidFill>
                <a:latin typeface="Calibri"/>
              </a:defRPr>
            </a:pPr>
            <a:r>
              <a:t>High-frequency computation</a:t>
            </a:r>
          </a:p>
          <a:p>
            <a:pPr algn="l">
              <a:spcAft>
                <a:spcPts val="600"/>
              </a:spcAft>
              <a:defRPr sz="1600" b="0">
                <a:solidFill>
                  <a:srgbClr val="A0A0A0"/>
                </a:solidFill>
                <a:latin typeface="Calibri"/>
              </a:defRPr>
            </a:pPr>
          </a:p>
          <a:p>
            <a:pPr algn="l">
              <a:spcAft>
                <a:spcPts val="600"/>
              </a:spcAft>
              <a:defRPr sz="1600" b="1">
                <a:solidFill>
                  <a:srgbClr val="A0A0A0"/>
                </a:solidFill>
                <a:latin typeface="Calibri"/>
              </a:defRPr>
            </a:pPr>
            <a:r>
              <a:t>"Compute = Profit"</a:t>
            </a:r>
          </a:p>
        </p:txBody>
      </p:sp>
      <p:sp>
        <p:nvSpPr>
          <p:cNvPr id="6" name="Rectangle 5"/>
          <p:cNvSpPr/>
          <p:nvPr/>
        </p:nvSpPr>
        <p:spPr>
          <a:xfrm>
            <a:off x="4389120" y="1828800"/>
            <a:ext cx="320040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0" y="2011680"/>
            <a:ext cx="3200400" cy="640080"/>
          </a:xfrm>
          <a:prstGeom prst="rect">
            <a:avLst/>
          </a:prstGeom>
          <a:noFill/>
        </p:spPr>
        <p:txBody>
          <a:bodyPr wrap="square" anchor="t"/>
          <a:lstStyle/>
          <a:p>
            <a:pPr algn="l">
              <a:defRPr sz="2200" b="1">
                <a:solidFill>
                  <a:srgbClr val="F97316"/>
                </a:solidFill>
                <a:latin typeface="Calibri"/>
              </a:defRPr>
            </a:pPr>
            <a:r>
              <a:t>🏗️ Traditional AI Infra</a:t>
            </a:r>
          </a:p>
        </p:txBody>
      </p:sp>
      <p:sp>
        <p:nvSpPr>
          <p:cNvPr id="8" name="TextBox 7"/>
          <p:cNvSpPr txBox="1"/>
          <p:nvPr/>
        </p:nvSpPr>
        <p:spPr>
          <a:xfrm>
            <a:off x="4389120" y="2743200"/>
            <a:ext cx="3200400" cy="2743200"/>
          </a:xfrm>
          <a:prstGeom prst="rect">
            <a:avLst/>
          </a:prstGeom>
          <a:noFill/>
        </p:spPr>
        <p:txBody>
          <a:bodyPr wrap="square" anchor="t"/>
          <a:lstStyle/>
          <a:p>
            <a:pPr algn="l">
              <a:spcAft>
                <a:spcPts val="600"/>
              </a:spcAft>
              <a:defRPr sz="1600" b="0">
                <a:solidFill>
                  <a:srgbClr val="C0C0C0"/>
                </a:solidFill>
                <a:latin typeface="Calibri"/>
              </a:defRPr>
            </a:pPr>
            <a:r>
              <a:t>Operating GPU clusters</a:t>
            </a:r>
          </a:p>
          <a:p>
            <a:pPr algn="l">
              <a:spcAft>
                <a:spcPts val="600"/>
              </a:spcAft>
              <a:defRPr sz="1600" b="0">
                <a:solidFill>
                  <a:srgbClr val="C0C0C0"/>
                </a:solidFill>
                <a:latin typeface="Calibri"/>
              </a:defRPr>
            </a:pPr>
            <a:r>
              <a:t>at national scale (DC-centric)</a:t>
            </a:r>
          </a:p>
          <a:p>
            <a:pPr algn="l">
              <a:spcAft>
                <a:spcPts val="600"/>
              </a:spcAft>
              <a:defRPr sz="1600" b="0">
                <a:solidFill>
                  <a:srgbClr val="A0A0A0"/>
                </a:solidFill>
                <a:latin typeface="Calibri"/>
              </a:defRPr>
            </a:pPr>
          </a:p>
          <a:p>
            <a:pPr algn="l">
              <a:spcAft>
                <a:spcPts val="600"/>
              </a:spcAft>
              <a:defRPr sz="1600" b="1">
                <a:solidFill>
                  <a:srgbClr val="A0A0A0"/>
                </a:solidFill>
                <a:latin typeface="Calibri"/>
              </a:defRPr>
            </a:pPr>
            <a:r>
              <a:t>"Compute = Infrastructure"</a:t>
            </a:r>
          </a:p>
        </p:txBody>
      </p:sp>
      <p:sp>
        <p:nvSpPr>
          <p:cNvPr id="9" name="Rectangle 8"/>
          <p:cNvSpPr/>
          <p:nvPr/>
        </p:nvSpPr>
        <p:spPr>
          <a:xfrm>
            <a:off x="8046720" y="1828800"/>
            <a:ext cx="320040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640080"/>
          </a:xfrm>
          <a:prstGeom prst="rect">
            <a:avLst/>
          </a:prstGeom>
          <a:noFill/>
        </p:spPr>
        <p:txBody>
          <a:bodyPr wrap="square" anchor="t"/>
          <a:lstStyle/>
          <a:p>
            <a:pPr algn="l">
              <a:defRPr sz="2200" b="1">
                <a:solidFill>
                  <a:srgbClr val="22C55E"/>
                </a:solidFill>
                <a:latin typeface="Calibri"/>
              </a:defRPr>
            </a:pPr>
            <a:r>
              <a:t>🤖 Embodied Intelligence</a:t>
            </a:r>
          </a:p>
        </p:txBody>
      </p:sp>
      <p:sp>
        <p:nvSpPr>
          <p:cNvPr id="11" name="TextBox 10"/>
          <p:cNvSpPr txBox="1"/>
          <p:nvPr/>
        </p:nvSpPr>
        <p:spPr>
          <a:xfrm>
            <a:off x="8046720" y="2743200"/>
            <a:ext cx="3200400" cy="2743200"/>
          </a:xfrm>
          <a:prstGeom prst="rect">
            <a:avLst/>
          </a:prstGeom>
          <a:noFill/>
        </p:spPr>
        <p:txBody>
          <a:bodyPr wrap="square" anchor="t"/>
          <a:lstStyle/>
          <a:p>
            <a:pPr algn="l">
              <a:spcAft>
                <a:spcPts val="600"/>
              </a:spcAft>
              <a:defRPr sz="1600" b="0">
                <a:solidFill>
                  <a:srgbClr val="C0C0C0"/>
                </a:solidFill>
                <a:latin typeface="Calibri"/>
              </a:defRPr>
            </a:pPr>
            <a:r>
              <a:t>Investing in humanoid robots</a:t>
            </a:r>
          </a:p>
          <a:p>
            <a:pPr algn="l">
              <a:spcAft>
                <a:spcPts val="600"/>
              </a:spcAft>
              <a:defRPr sz="1600" b="0">
                <a:solidFill>
                  <a:srgbClr val="C0C0C0"/>
                </a:solidFill>
                <a:latin typeface="Calibri"/>
              </a:defRPr>
            </a:pPr>
            <a:r>
              <a:t>Compute leaves the DC</a:t>
            </a:r>
          </a:p>
          <a:p>
            <a:pPr algn="l">
              <a:spcAft>
                <a:spcPts val="600"/>
              </a:spcAft>
              <a:defRPr sz="1600" b="0">
                <a:solidFill>
                  <a:srgbClr val="A0A0A0"/>
                </a:solidFill>
                <a:latin typeface="Calibri"/>
              </a:defRPr>
            </a:pPr>
          </a:p>
          <a:p>
            <a:pPr algn="l">
              <a:spcAft>
                <a:spcPts val="600"/>
              </a:spcAft>
              <a:defRPr sz="1600" b="1">
                <a:solidFill>
                  <a:srgbClr val="A0A0A0"/>
                </a:solidFill>
                <a:latin typeface="Calibri"/>
              </a:defRPr>
            </a:pPr>
            <a:r>
              <a:t>"Compute = Autonomy"</a:t>
            </a:r>
          </a:p>
        </p:txBody>
      </p:sp>
      <p:sp>
        <p:nvSpPr>
          <p:cNvPr id="12" name="Right Arrow 11"/>
          <p:cNvSpPr/>
          <p:nvPr/>
        </p:nvSpPr>
        <p:spPr>
          <a:xfrm>
            <a:off x="3931920" y="2103120"/>
            <a:ext cx="457200" cy="274320"/>
          </a:xfrm>
          <a:prstGeom prst="right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589520" y="2103120"/>
            <a:ext cx="457200" cy="274320"/>
          </a:xfrm>
          <a:prstGeom prst="right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Three Waves of Compute Demand</a:t>
            </a:r>
          </a:p>
        </p:txBody>
      </p:sp>
      <p:sp>
        <p:nvSpPr>
          <p:cNvPr id="3" name="Rounded Rectangle 2"/>
          <p:cNvSpPr/>
          <p:nvPr/>
        </p:nvSpPr>
        <p:spPr>
          <a:xfrm>
            <a:off x="731520" y="1645920"/>
            <a:ext cx="3291840" cy="3840480"/>
          </a:xfrm>
          <a:prstGeom prst="roundRect">
            <a:avLst/>
          </a:prstGeom>
          <a:solidFill>
            <a:srgbClr val="202038"/>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2743200" cy="548640"/>
          </a:xfrm>
          <a:prstGeom prst="rect">
            <a:avLst/>
          </a:prstGeom>
          <a:noFill/>
        </p:spPr>
        <p:txBody>
          <a:bodyPr wrap="square" anchor="t"/>
          <a:lstStyle/>
          <a:p>
            <a:pPr algn="l">
              <a:defRPr sz="2800" b="1">
                <a:solidFill>
                  <a:srgbClr val="0EA5E9"/>
                </a:solidFill>
                <a:latin typeface="Calibri"/>
              </a:defRPr>
            </a:pPr>
            <a:r>
              <a:t>Wave 1</a:t>
            </a:r>
          </a:p>
        </p:txBody>
      </p:sp>
      <p:sp>
        <p:nvSpPr>
          <p:cNvPr id="5" name="TextBox 4"/>
          <p:cNvSpPr txBox="1"/>
          <p:nvPr/>
        </p:nvSpPr>
        <p:spPr>
          <a:xfrm>
            <a:off x="1005840" y="2377440"/>
            <a:ext cx="2743200" cy="548640"/>
          </a:xfrm>
          <a:prstGeom prst="rect">
            <a:avLst/>
          </a:prstGeom>
          <a:noFill/>
        </p:spPr>
        <p:txBody>
          <a:bodyPr wrap="square" anchor="t"/>
          <a:lstStyle/>
          <a:p>
            <a:pPr algn="l">
              <a:defRPr sz="1600" b="0">
                <a:solidFill>
                  <a:srgbClr val="FFFFFF"/>
                </a:solidFill>
                <a:latin typeface="Calibri"/>
              </a:defRPr>
            </a:pPr>
            <a:r>
              <a:t>Quantitative Finance (2010s)</a:t>
            </a:r>
          </a:p>
        </p:txBody>
      </p:sp>
      <p:sp>
        <p:nvSpPr>
          <p:cNvPr id="6" name="TextBox 5"/>
          <p:cNvSpPr txBox="1"/>
          <p:nvPr/>
        </p:nvSpPr>
        <p:spPr>
          <a:xfrm>
            <a:off x="1005840" y="3017520"/>
            <a:ext cx="2743200" cy="2286000"/>
          </a:xfrm>
          <a:prstGeom prst="rect">
            <a:avLst/>
          </a:prstGeom>
          <a:noFill/>
        </p:spPr>
        <p:txBody>
          <a:bodyPr wrap="square" anchor="t"/>
          <a:lstStyle/>
          <a:p>
            <a:pPr algn="l">
              <a:spcAft>
                <a:spcPts val="600"/>
              </a:spcAft>
              <a:defRPr sz="1500" b="0">
                <a:solidFill>
                  <a:srgbClr val="C0C0C0"/>
                </a:solidFill>
                <a:latin typeface="Calibri"/>
              </a:defRPr>
            </a:pPr>
            <a:r>
              <a:t>• Microsecond latency matters</a:t>
            </a:r>
          </a:p>
          <a:p>
            <a:pPr algn="l">
              <a:spcAft>
                <a:spcPts val="600"/>
              </a:spcAft>
              <a:defRPr sz="1500" b="0">
                <a:solidFill>
                  <a:srgbClr val="C0C0C0"/>
                </a:solidFill>
                <a:latin typeface="Calibri"/>
              </a:defRPr>
            </a:pPr>
            <a:r>
              <a:t>• Every compute cycle = money</a:t>
            </a:r>
          </a:p>
          <a:p>
            <a:pPr algn="l">
              <a:spcAft>
                <a:spcPts val="600"/>
              </a:spcAft>
              <a:defRPr sz="1500" b="0">
                <a:solidFill>
                  <a:srgbClr val="C0C0C0"/>
                </a:solidFill>
                <a:latin typeface="Calibri"/>
              </a:defRPr>
            </a:pPr>
          </a:p>
          <a:p>
            <a:pPr algn="l">
              <a:spcAft>
                <a:spcPts val="600"/>
              </a:spcAft>
              <a:defRPr sz="1500" b="1">
                <a:solidFill>
                  <a:srgbClr val="FFD700"/>
                </a:solidFill>
                <a:latin typeface="Calibri"/>
              </a:defRPr>
            </a:pPr>
            <a:r>
              <a:t>▸ Compute = Profit</a:t>
            </a:r>
          </a:p>
        </p:txBody>
      </p:sp>
      <p:sp>
        <p:nvSpPr>
          <p:cNvPr id="7" name="Rounded Rectangle 6"/>
          <p:cNvSpPr/>
          <p:nvPr/>
        </p:nvSpPr>
        <p:spPr>
          <a:xfrm>
            <a:off x="4389120" y="1645920"/>
            <a:ext cx="3291840" cy="3840480"/>
          </a:xfrm>
          <a:prstGeom prst="roundRect">
            <a:avLst/>
          </a:prstGeom>
          <a:solidFill>
            <a:srgbClr val="202038"/>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828800"/>
            <a:ext cx="2743200" cy="548640"/>
          </a:xfrm>
          <a:prstGeom prst="rect">
            <a:avLst/>
          </a:prstGeom>
          <a:noFill/>
        </p:spPr>
        <p:txBody>
          <a:bodyPr wrap="square" anchor="t"/>
          <a:lstStyle/>
          <a:p>
            <a:pPr algn="l">
              <a:defRPr sz="2800" b="1">
                <a:solidFill>
                  <a:srgbClr val="F97316"/>
                </a:solidFill>
                <a:latin typeface="Calibri"/>
              </a:defRPr>
            </a:pPr>
            <a:r>
              <a:t>Wave 2</a:t>
            </a:r>
          </a:p>
        </p:txBody>
      </p:sp>
      <p:sp>
        <p:nvSpPr>
          <p:cNvPr id="9" name="TextBox 8"/>
          <p:cNvSpPr txBox="1"/>
          <p:nvPr/>
        </p:nvSpPr>
        <p:spPr>
          <a:xfrm>
            <a:off x="4663440" y="2377440"/>
            <a:ext cx="2743200" cy="548640"/>
          </a:xfrm>
          <a:prstGeom prst="rect">
            <a:avLst/>
          </a:prstGeom>
          <a:noFill/>
        </p:spPr>
        <p:txBody>
          <a:bodyPr wrap="square" anchor="t"/>
          <a:lstStyle/>
          <a:p>
            <a:pPr algn="l">
              <a:defRPr sz="1600" b="0">
                <a:solidFill>
                  <a:srgbClr val="FFFFFF"/>
                </a:solidFill>
                <a:latin typeface="Calibri"/>
              </a:defRPr>
            </a:pPr>
            <a:r>
              <a:t>Traditional AI Training (2020s)</a:t>
            </a:r>
          </a:p>
        </p:txBody>
      </p:sp>
      <p:sp>
        <p:nvSpPr>
          <p:cNvPr id="10" name="TextBox 9"/>
          <p:cNvSpPr txBox="1"/>
          <p:nvPr/>
        </p:nvSpPr>
        <p:spPr>
          <a:xfrm>
            <a:off x="4663440" y="3017520"/>
            <a:ext cx="2743200" cy="2286000"/>
          </a:xfrm>
          <a:prstGeom prst="rect">
            <a:avLst/>
          </a:prstGeom>
          <a:noFill/>
        </p:spPr>
        <p:txBody>
          <a:bodyPr wrap="square" anchor="t"/>
          <a:lstStyle/>
          <a:p>
            <a:pPr algn="l">
              <a:spcAft>
                <a:spcPts val="600"/>
              </a:spcAft>
              <a:defRPr sz="1500" b="0">
                <a:solidFill>
                  <a:srgbClr val="C0C0C0"/>
                </a:solidFill>
                <a:latin typeface="Calibri"/>
              </a:defRPr>
            </a:pPr>
            <a:r>
              <a:t>• GPU clusters — stays in the data center</a:t>
            </a:r>
          </a:p>
          <a:p>
            <a:pPr algn="l">
              <a:spcAft>
                <a:spcPts val="600"/>
              </a:spcAft>
              <a:defRPr sz="1500" b="0">
                <a:solidFill>
                  <a:srgbClr val="C0C0C0"/>
                </a:solidFill>
                <a:latin typeface="Calibri"/>
              </a:defRPr>
            </a:pPr>
            <a:r>
              <a:t>• Petaflops throughput, 700W/chip</a:t>
            </a:r>
          </a:p>
          <a:p>
            <a:pPr algn="l">
              <a:spcAft>
                <a:spcPts val="600"/>
              </a:spcAft>
              <a:defRPr sz="1500" b="0">
                <a:solidFill>
                  <a:srgbClr val="C0C0C0"/>
                </a:solidFill>
                <a:latin typeface="Calibri"/>
              </a:defRPr>
            </a:pPr>
            <a:r>
              <a:t>• Liquid cooling, MW-scale power</a:t>
            </a:r>
          </a:p>
          <a:p>
            <a:pPr algn="l">
              <a:spcAft>
                <a:spcPts val="600"/>
              </a:spcAft>
              <a:defRPr sz="1500" b="0">
                <a:solidFill>
                  <a:srgbClr val="C0C0C0"/>
                </a:solidFill>
                <a:latin typeface="Calibri"/>
              </a:defRPr>
            </a:pPr>
          </a:p>
          <a:p>
            <a:pPr algn="l">
              <a:spcAft>
                <a:spcPts val="600"/>
              </a:spcAft>
              <a:defRPr sz="1500" b="1">
                <a:solidFill>
                  <a:srgbClr val="FFD700"/>
                </a:solidFill>
                <a:latin typeface="Calibri"/>
              </a:defRPr>
            </a:pPr>
            <a:r>
              <a:t>▸ Compute = Infrastructure</a:t>
            </a:r>
          </a:p>
        </p:txBody>
      </p:sp>
      <p:sp>
        <p:nvSpPr>
          <p:cNvPr id="11" name="Rounded Rectangle 10"/>
          <p:cNvSpPr/>
          <p:nvPr/>
        </p:nvSpPr>
        <p:spPr>
          <a:xfrm>
            <a:off x="8046720" y="1645920"/>
            <a:ext cx="3291840" cy="3840480"/>
          </a:xfrm>
          <a:prstGeom prst="roundRect">
            <a:avLst/>
          </a:prstGeom>
          <a:solidFill>
            <a:srgbClr val="202038"/>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828800"/>
            <a:ext cx="2743200" cy="548640"/>
          </a:xfrm>
          <a:prstGeom prst="rect">
            <a:avLst/>
          </a:prstGeom>
          <a:noFill/>
        </p:spPr>
        <p:txBody>
          <a:bodyPr wrap="square" anchor="t"/>
          <a:lstStyle/>
          <a:p>
            <a:pPr algn="l">
              <a:defRPr sz="2800" b="1">
                <a:solidFill>
                  <a:srgbClr val="22C55E"/>
                </a:solidFill>
                <a:latin typeface="Calibri"/>
              </a:defRPr>
            </a:pPr>
            <a:r>
              <a:t>Wave 3</a:t>
            </a:r>
          </a:p>
        </p:txBody>
      </p:sp>
      <p:sp>
        <p:nvSpPr>
          <p:cNvPr id="13" name="TextBox 12"/>
          <p:cNvSpPr txBox="1"/>
          <p:nvPr/>
        </p:nvSpPr>
        <p:spPr>
          <a:xfrm>
            <a:off x="8321040" y="2377440"/>
            <a:ext cx="2743200" cy="548640"/>
          </a:xfrm>
          <a:prstGeom prst="rect">
            <a:avLst/>
          </a:prstGeom>
          <a:noFill/>
        </p:spPr>
        <p:txBody>
          <a:bodyPr wrap="square" anchor="t"/>
          <a:lstStyle/>
          <a:p>
            <a:pPr algn="l">
              <a:defRPr sz="1600" b="0">
                <a:solidFill>
                  <a:srgbClr val="FFFFFF"/>
                </a:solidFill>
                <a:latin typeface="Calibri"/>
              </a:defRPr>
            </a:pPr>
            <a:r>
              <a:t>Embodied AI (2026→)</a:t>
            </a:r>
          </a:p>
        </p:txBody>
      </p:sp>
      <p:sp>
        <p:nvSpPr>
          <p:cNvPr id="14" name="TextBox 13"/>
          <p:cNvSpPr txBox="1"/>
          <p:nvPr/>
        </p:nvSpPr>
        <p:spPr>
          <a:xfrm>
            <a:off x="8321040" y="3017520"/>
            <a:ext cx="2743200" cy="2286000"/>
          </a:xfrm>
          <a:prstGeom prst="rect">
            <a:avLst/>
          </a:prstGeom>
          <a:noFill/>
        </p:spPr>
        <p:txBody>
          <a:bodyPr wrap="square" anchor="t"/>
          <a:lstStyle/>
          <a:p>
            <a:pPr algn="l">
              <a:spcAft>
                <a:spcPts val="600"/>
              </a:spcAft>
              <a:defRPr sz="1500" b="0">
                <a:solidFill>
                  <a:srgbClr val="C0C0C0"/>
                </a:solidFill>
                <a:latin typeface="Calibri"/>
              </a:defRPr>
            </a:pPr>
            <a:r>
              <a:t>• Compute leaves the data center</a:t>
            </a:r>
          </a:p>
          <a:p>
            <a:pPr algn="l">
              <a:spcAft>
                <a:spcPts val="600"/>
              </a:spcAft>
              <a:defRPr sz="1500" b="0">
                <a:solidFill>
                  <a:srgbClr val="C0C0C0"/>
                </a:solidFill>
                <a:latin typeface="Calibri"/>
              </a:defRPr>
            </a:pPr>
            <a:r>
              <a:t>• On-body inference, &lt;50W budget</a:t>
            </a:r>
          </a:p>
          <a:p>
            <a:pPr algn="l">
              <a:spcAft>
                <a:spcPts val="600"/>
              </a:spcAft>
              <a:defRPr sz="1500" b="0">
                <a:solidFill>
                  <a:srgbClr val="C0C0C0"/>
                </a:solidFill>
                <a:latin typeface="Calibri"/>
              </a:defRPr>
            </a:pPr>
            <a:r>
              <a:t>• Real-time safety-critical control</a:t>
            </a:r>
          </a:p>
          <a:p>
            <a:pPr algn="l">
              <a:spcAft>
                <a:spcPts val="600"/>
              </a:spcAft>
              <a:defRPr sz="1500" b="0">
                <a:solidFill>
                  <a:srgbClr val="C0C0C0"/>
                </a:solidFill>
                <a:latin typeface="Calibri"/>
              </a:defRPr>
            </a:pPr>
          </a:p>
          <a:p>
            <a:pPr algn="l">
              <a:spcAft>
                <a:spcPts val="600"/>
              </a:spcAft>
              <a:defRPr sz="1500" b="1">
                <a:solidFill>
                  <a:srgbClr val="FFD700"/>
                </a:solidFill>
                <a:latin typeface="Calibri"/>
              </a:defRPr>
            </a:pPr>
            <a:r>
              <a:t>▸ Compute = Autonomy</a:t>
            </a:r>
          </a:p>
        </p:txBody>
      </p:sp>
      <p:sp>
        <p:nvSpPr>
          <p:cNvPr id="15" name="TextBox 14"/>
          <p:cNvSpPr txBox="1"/>
          <p:nvPr/>
        </p:nvSpPr>
        <p:spPr>
          <a:xfrm>
            <a:off x="914400" y="5760720"/>
            <a:ext cx="10058400" cy="731520"/>
          </a:xfrm>
          <a:prstGeom prst="rect">
            <a:avLst/>
          </a:prstGeom>
          <a:noFill/>
        </p:spPr>
        <p:txBody>
          <a:bodyPr wrap="square" anchor="t"/>
          <a:lstStyle/>
          <a:p>
            <a:pPr algn="ctr">
              <a:defRPr sz="2000" b="1">
                <a:solidFill>
                  <a:srgbClr val="FFD700"/>
                </a:solidFill>
                <a:latin typeface="Calibri"/>
              </a:defRPr>
            </a:pPr>
            <a:r>
              <a:t>"Each wave demands fundamentally different IC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AI Compute: The Numbers</a:t>
            </a:r>
          </a:p>
        </p:txBody>
      </p:sp>
      <p:sp>
        <p:nvSpPr>
          <p:cNvPr id="3" name="TextBox 2"/>
          <p:cNvSpPr txBox="1"/>
          <p:nvPr/>
        </p:nvSpPr>
        <p:spPr>
          <a:xfrm>
            <a:off x="914400" y="2011680"/>
            <a:ext cx="3200400" cy="1828800"/>
          </a:xfrm>
          <a:prstGeom prst="rect">
            <a:avLst/>
          </a:prstGeom>
          <a:noFill/>
        </p:spPr>
        <p:txBody>
          <a:bodyPr wrap="square" anchor="t"/>
          <a:lstStyle/>
          <a:p>
            <a:pPr algn="ctr">
              <a:defRPr sz="7200" b="1">
                <a:solidFill>
                  <a:srgbClr val="0EA5E9"/>
                </a:solidFill>
                <a:latin typeface="Calibri"/>
              </a:defRPr>
            </a:pPr>
            <a:r>
              <a:t>2/3</a:t>
            </a:r>
          </a:p>
        </p:txBody>
      </p:sp>
      <p:sp>
        <p:nvSpPr>
          <p:cNvPr id="4" name="TextBox 3"/>
          <p:cNvSpPr txBox="1"/>
          <p:nvPr/>
        </p:nvSpPr>
        <p:spPr>
          <a:xfrm>
            <a:off x="914400" y="4114800"/>
            <a:ext cx="3200400" cy="1371600"/>
          </a:xfrm>
          <a:prstGeom prst="rect">
            <a:avLst/>
          </a:prstGeom>
          <a:noFill/>
        </p:spPr>
        <p:txBody>
          <a:bodyPr wrap="square" anchor="t"/>
          <a:lstStyle/>
          <a:p>
            <a:pPr algn="ctr">
              <a:defRPr sz="1800" b="0">
                <a:solidFill>
                  <a:srgbClr val="C0C0C0"/>
                </a:solidFill>
                <a:latin typeface="Calibri"/>
              </a:defRPr>
            </a:pPr>
            <a:r>
              <a:t>of all AI compute</a:t>
            </a:r>
            <a:br/>
            <a:r>
              <a:t>is inference (2026)</a:t>
            </a:r>
          </a:p>
        </p:txBody>
      </p:sp>
      <p:sp>
        <p:nvSpPr>
          <p:cNvPr id="5" name="TextBox 4"/>
          <p:cNvSpPr txBox="1"/>
          <p:nvPr/>
        </p:nvSpPr>
        <p:spPr>
          <a:xfrm>
            <a:off x="4572000" y="2011680"/>
            <a:ext cx="3200400" cy="1828800"/>
          </a:xfrm>
          <a:prstGeom prst="rect">
            <a:avLst/>
          </a:prstGeom>
          <a:noFill/>
        </p:spPr>
        <p:txBody>
          <a:bodyPr wrap="square" anchor="t"/>
          <a:lstStyle/>
          <a:p>
            <a:pPr algn="ctr">
              <a:defRPr sz="7200" b="1">
                <a:solidFill>
                  <a:srgbClr val="F97316"/>
                </a:solidFill>
                <a:latin typeface="Calibri"/>
              </a:defRPr>
            </a:pPr>
            <a:r>
              <a:t>$50B+</a:t>
            </a:r>
          </a:p>
        </p:txBody>
      </p:sp>
      <p:sp>
        <p:nvSpPr>
          <p:cNvPr id="6" name="TextBox 5"/>
          <p:cNvSpPr txBox="1"/>
          <p:nvPr/>
        </p:nvSpPr>
        <p:spPr>
          <a:xfrm>
            <a:off x="4572000" y="4114800"/>
            <a:ext cx="3200400" cy="1371600"/>
          </a:xfrm>
          <a:prstGeom prst="rect">
            <a:avLst/>
          </a:prstGeom>
          <a:noFill/>
        </p:spPr>
        <p:txBody>
          <a:bodyPr wrap="square" anchor="t"/>
          <a:lstStyle/>
          <a:p>
            <a:pPr algn="ctr">
              <a:defRPr sz="1800" b="0">
                <a:solidFill>
                  <a:srgbClr val="C0C0C0"/>
                </a:solidFill>
                <a:latin typeface="Calibri"/>
              </a:defRPr>
            </a:pPr>
            <a:r>
              <a:t>inference chip</a:t>
            </a:r>
            <a:br/>
            <a:r>
              <a:t>market (2026)</a:t>
            </a:r>
          </a:p>
        </p:txBody>
      </p:sp>
      <p:sp>
        <p:nvSpPr>
          <p:cNvPr id="7" name="TextBox 6"/>
          <p:cNvSpPr txBox="1"/>
          <p:nvPr/>
        </p:nvSpPr>
        <p:spPr>
          <a:xfrm>
            <a:off x="8229600" y="2011680"/>
            <a:ext cx="3200400" cy="1828800"/>
          </a:xfrm>
          <a:prstGeom prst="rect">
            <a:avLst/>
          </a:prstGeom>
          <a:noFill/>
        </p:spPr>
        <p:txBody>
          <a:bodyPr wrap="square" anchor="t"/>
          <a:lstStyle/>
          <a:p>
            <a:pPr algn="ctr">
              <a:defRPr sz="7200" b="1">
                <a:solidFill>
                  <a:srgbClr val="22C55E"/>
                </a:solidFill>
                <a:latin typeface="Calibri"/>
              </a:defRPr>
            </a:pPr>
            <a:r>
              <a:t>31%</a:t>
            </a:r>
          </a:p>
        </p:txBody>
      </p:sp>
      <p:sp>
        <p:nvSpPr>
          <p:cNvPr id="8" name="TextBox 7"/>
          <p:cNvSpPr txBox="1"/>
          <p:nvPr/>
        </p:nvSpPr>
        <p:spPr>
          <a:xfrm>
            <a:off x="8229600" y="4114800"/>
            <a:ext cx="3200400" cy="1371600"/>
          </a:xfrm>
          <a:prstGeom prst="rect">
            <a:avLst/>
          </a:prstGeom>
          <a:noFill/>
        </p:spPr>
        <p:txBody>
          <a:bodyPr wrap="square" anchor="t"/>
          <a:lstStyle/>
          <a:p>
            <a:pPr algn="ctr">
              <a:defRPr sz="1800" b="0">
                <a:solidFill>
                  <a:srgbClr val="C0C0C0"/>
                </a:solidFill>
                <a:latin typeface="Calibri"/>
              </a:defRPr>
            </a:pPr>
            <a:r>
              <a:t>embodied AI</a:t>
            </a:r>
            <a:br/>
            <a:r>
              <a:t>market CAGR</a:t>
            </a:r>
          </a:p>
        </p:txBody>
      </p:sp>
      <p:sp>
        <p:nvSpPr>
          <p:cNvPr id="9" name="TextBox 8"/>
          <p:cNvSpPr txBox="1"/>
          <p:nvPr/>
        </p:nvSpPr>
        <p:spPr>
          <a:xfrm>
            <a:off x="914400" y="5943600"/>
            <a:ext cx="10058400" cy="457200"/>
          </a:xfrm>
          <a:prstGeom prst="rect">
            <a:avLst/>
          </a:prstGeom>
          <a:noFill/>
        </p:spPr>
        <p:txBody>
          <a:bodyPr wrap="square" anchor="t"/>
          <a:lstStyle/>
          <a:p>
            <a:pPr algn="ctr">
              <a:defRPr sz="1200" b="0">
                <a:solidFill>
                  <a:srgbClr val="A0A0A0"/>
                </a:solidFill>
                <a:latin typeface="Calibri"/>
              </a:defRPr>
            </a:pPr>
            <a:r>
              <a:t>Source: Deloitte TMT Predictions 2026  |  Omdia Market Radar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20"/>
        </a:solidFill>
        <a:effectLst/>
      </p:bgPr>
    </p:bg>
    <p:spTree>
      <p:nvGrpSpPr>
        <p:cNvPr id="1" name=""/>
        <p:cNvGrpSpPr/>
        <p:nvPr/>
      </p:nvGrpSpPr>
      <p:grpSpPr/>
      <p:pic>
        <p:nvPicPr>
          <p:cNvPr id="2" name="Picture 1" descr="datacenter_corridor.jpg"/>
          <p:cNvPicPr>
            <a:picLocks noChangeAspect="1"/>
          </p:cNvPicPr>
          <p:nvPr/>
        </p:nvPicPr>
        <p:blipFill>
          <a:blip r:embed="rId2"/>
          <a:stretch>
            <a:fillRect/>
          </a:stretch>
        </p:blipFill>
        <p:spPr>
          <a:xfrm>
            <a:off x="-17133" y="0"/>
            <a:ext cx="12225961" cy="6858000"/>
          </a:xfrm>
          <a:prstGeom prst="rect">
            <a:avLst/>
          </a:prstGeom>
        </p:spPr>
      </p:pic>
      <p:sp>
        <p:nvSpPr>
          <p:cNvPr id="3" name="Rectangle 2"/>
          <p:cNvSpPr/>
          <p:nvPr/>
        </p:nvSpPr>
        <p:spPr>
          <a:xfrm>
            <a:off x="0" y="0"/>
            <a:ext cx="12191695" cy="6858000"/>
          </a:xfrm>
          <a:prstGeom prst="rect">
            <a:avLst/>
          </a:prstGeom>
          <a:solidFill>
            <a:srgbClr val="0A0A15">
              <a:alpha val="44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3657600"/>
          </a:xfrm>
          <a:prstGeom prst="rect">
            <a:avLst/>
          </a:prstGeom>
          <a:noFill/>
        </p:spPr>
        <p:txBody>
          <a:bodyPr wrap="square" anchor="ctr"/>
          <a:lstStyle/>
          <a:p>
            <a:pPr algn="l">
              <a:spcAft>
                <a:spcPts val="600"/>
              </a:spcAft>
              <a:defRPr sz="2000" b="1">
                <a:solidFill>
                  <a:srgbClr val="0EA5E9"/>
                </a:solidFill>
                <a:latin typeface="Calibri"/>
              </a:defRPr>
            </a:pPr>
            <a:r>
              <a:t>PART I</a:t>
            </a:r>
          </a:p>
          <a:p>
            <a:pPr algn="l">
              <a:spcAft>
                <a:spcPts val="600"/>
              </a:spcAft>
              <a:defRPr sz="5600" b="1">
                <a:solidFill>
                  <a:srgbClr val="FFFFFF"/>
                </a:solidFill>
                <a:latin typeface="Calibri"/>
              </a:defRPr>
            </a:pPr>
            <a:r>
              <a:t>The Cloud</a:t>
            </a:r>
          </a:p>
          <a:p>
            <a:pPr algn="l">
              <a:spcAft>
                <a:spcPts val="600"/>
              </a:spcAft>
              <a:defRPr sz="2800" b="0">
                <a:solidFill>
                  <a:srgbClr val="C0C0C0"/>
                </a:solidFill>
                <a:latin typeface="Calibri"/>
              </a:defRPr>
            </a:pPr>
            <a:r>
              <a:t>Operating AI at Scale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China's Intelligent Computing Centers</a:t>
            </a:r>
          </a:p>
        </p:txBody>
      </p:sp>
      <p:sp>
        <p:nvSpPr>
          <p:cNvPr id="3" name="TextBox 2"/>
          <p:cNvSpPr txBox="1"/>
          <p:nvPr/>
        </p:nvSpPr>
        <p:spPr>
          <a:xfrm>
            <a:off x="1371600" y="1645920"/>
            <a:ext cx="2743200" cy="914400"/>
          </a:xfrm>
          <a:prstGeom prst="rect">
            <a:avLst/>
          </a:prstGeom>
          <a:noFill/>
        </p:spPr>
        <p:txBody>
          <a:bodyPr wrap="square" anchor="t"/>
          <a:lstStyle/>
          <a:p>
            <a:pPr algn="l">
              <a:defRPr sz="4800" b="1">
                <a:solidFill>
                  <a:srgbClr val="EF4444"/>
                </a:solidFill>
                <a:latin typeface="Calibri"/>
              </a:defRPr>
            </a:pPr>
            <a:r>
              <a:t>200+</a:t>
            </a:r>
          </a:p>
        </p:txBody>
      </p:sp>
      <p:sp>
        <p:nvSpPr>
          <p:cNvPr id="4" name="TextBox 3"/>
          <p:cNvSpPr txBox="1"/>
          <p:nvPr/>
        </p:nvSpPr>
        <p:spPr>
          <a:xfrm>
            <a:off x="4572000" y="1783080"/>
            <a:ext cx="6400800" cy="731520"/>
          </a:xfrm>
          <a:prstGeom prst="rect">
            <a:avLst/>
          </a:prstGeom>
          <a:noFill/>
        </p:spPr>
        <p:txBody>
          <a:bodyPr wrap="square" anchor="t"/>
          <a:lstStyle/>
          <a:p>
            <a:pPr algn="l">
              <a:defRPr sz="2000" b="0">
                <a:solidFill>
                  <a:srgbClr val="C0C0C0"/>
                </a:solidFill>
                <a:latin typeface="Calibri"/>
              </a:defRPr>
            </a:pPr>
            <a:r>
              <a:t>intelligent computing centers built since 2023</a:t>
            </a:r>
          </a:p>
        </p:txBody>
      </p:sp>
      <p:sp>
        <p:nvSpPr>
          <p:cNvPr id="5" name="TextBox 4"/>
          <p:cNvSpPr txBox="1"/>
          <p:nvPr/>
        </p:nvSpPr>
        <p:spPr>
          <a:xfrm>
            <a:off x="1371600" y="2743200"/>
            <a:ext cx="2743200" cy="914400"/>
          </a:xfrm>
          <a:prstGeom prst="rect">
            <a:avLst/>
          </a:prstGeom>
          <a:noFill/>
        </p:spPr>
        <p:txBody>
          <a:bodyPr wrap="square" anchor="t"/>
          <a:lstStyle/>
          <a:p>
            <a:pPr algn="l">
              <a:defRPr sz="4800" b="1">
                <a:solidFill>
                  <a:srgbClr val="F97316"/>
                </a:solidFill>
                <a:latin typeface="Calibri"/>
              </a:defRPr>
            </a:pPr>
            <a:r>
              <a:t>60,000+</a:t>
            </a:r>
          </a:p>
        </p:txBody>
      </p:sp>
      <p:sp>
        <p:nvSpPr>
          <p:cNvPr id="6" name="TextBox 5"/>
          <p:cNvSpPr txBox="1"/>
          <p:nvPr/>
        </p:nvSpPr>
        <p:spPr>
          <a:xfrm>
            <a:off x="4572000" y="2880360"/>
            <a:ext cx="6400800" cy="731520"/>
          </a:xfrm>
          <a:prstGeom prst="rect">
            <a:avLst/>
          </a:prstGeom>
          <a:noFill/>
        </p:spPr>
        <p:txBody>
          <a:bodyPr wrap="square" anchor="t"/>
          <a:lstStyle/>
          <a:p>
            <a:pPr algn="l">
              <a:defRPr sz="2000" b="0">
                <a:solidFill>
                  <a:srgbClr val="C0C0C0"/>
                </a:solidFill>
                <a:latin typeface="Calibri"/>
              </a:defRPr>
            </a:pPr>
            <a:r>
              <a:t>GPU accelerators deployed at leading operators</a:t>
            </a:r>
          </a:p>
        </p:txBody>
      </p:sp>
      <p:sp>
        <p:nvSpPr>
          <p:cNvPr id="7" name="TextBox 6"/>
          <p:cNvSpPr txBox="1"/>
          <p:nvPr/>
        </p:nvSpPr>
        <p:spPr>
          <a:xfrm>
            <a:off x="1371600" y="3840480"/>
            <a:ext cx="2743200" cy="914400"/>
          </a:xfrm>
          <a:prstGeom prst="rect">
            <a:avLst/>
          </a:prstGeom>
          <a:noFill/>
        </p:spPr>
        <p:txBody>
          <a:bodyPr wrap="square" anchor="t"/>
          <a:lstStyle/>
          <a:p>
            <a:pPr algn="l">
              <a:defRPr sz="4800" b="1">
                <a:solidFill>
                  <a:srgbClr val="0EA5E9"/>
                </a:solidFill>
                <a:latin typeface="Calibri"/>
              </a:defRPr>
            </a:pPr>
            <a:r>
              <a:t>12+ EFlops</a:t>
            </a:r>
          </a:p>
        </p:txBody>
      </p:sp>
      <p:sp>
        <p:nvSpPr>
          <p:cNvPr id="8" name="TextBox 7"/>
          <p:cNvSpPr txBox="1"/>
          <p:nvPr/>
        </p:nvSpPr>
        <p:spPr>
          <a:xfrm>
            <a:off x="4572000" y="3977640"/>
            <a:ext cx="6400800" cy="731520"/>
          </a:xfrm>
          <a:prstGeom prst="rect">
            <a:avLst/>
          </a:prstGeom>
          <a:noFill/>
        </p:spPr>
        <p:txBody>
          <a:bodyPr wrap="square" anchor="t"/>
          <a:lstStyle/>
          <a:p>
            <a:pPr algn="l">
              <a:defRPr sz="2000" b="0">
                <a:solidFill>
                  <a:srgbClr val="C0C0C0"/>
                </a:solidFill>
                <a:latin typeface="Calibri"/>
              </a:defRPr>
            </a:pPr>
            <a:r>
              <a:t>total deployed AI compute (and growing)</a:t>
            </a:r>
          </a:p>
        </p:txBody>
      </p:sp>
      <p:sp>
        <p:nvSpPr>
          <p:cNvPr id="9" name="TextBox 8"/>
          <p:cNvSpPr txBox="1"/>
          <p:nvPr/>
        </p:nvSpPr>
        <p:spPr>
          <a:xfrm>
            <a:off x="1371600" y="4937759"/>
            <a:ext cx="2743200" cy="914400"/>
          </a:xfrm>
          <a:prstGeom prst="rect">
            <a:avLst/>
          </a:prstGeom>
          <a:noFill/>
        </p:spPr>
        <p:txBody>
          <a:bodyPr wrap="square" anchor="t"/>
          <a:lstStyle/>
          <a:p>
            <a:pPr algn="l">
              <a:defRPr sz="4800" b="1">
                <a:solidFill>
                  <a:srgbClr val="FFFFFF"/>
                </a:solidFill>
                <a:latin typeface="Calibri"/>
              </a:defRPr>
            </a:pPr>
            <a:r>
              <a:t>&lt;30%</a:t>
            </a:r>
          </a:p>
        </p:txBody>
      </p:sp>
      <p:sp>
        <p:nvSpPr>
          <p:cNvPr id="10" name="TextBox 9"/>
          <p:cNvSpPr txBox="1"/>
          <p:nvPr/>
        </p:nvSpPr>
        <p:spPr>
          <a:xfrm>
            <a:off x="4572000" y="5074919"/>
            <a:ext cx="6400800" cy="731520"/>
          </a:xfrm>
          <a:prstGeom prst="rect">
            <a:avLst/>
          </a:prstGeom>
          <a:noFill/>
        </p:spPr>
        <p:txBody>
          <a:bodyPr wrap="square" anchor="t"/>
          <a:lstStyle/>
          <a:p>
            <a:pPr algn="l">
              <a:defRPr sz="2000" b="0">
                <a:solidFill>
                  <a:srgbClr val="C0C0C0"/>
                </a:solidFill>
                <a:latin typeface="Calibri"/>
              </a:defRPr>
            </a:pPr>
            <a:r>
              <a:t>average GPU utilization rate</a:t>
            </a:r>
          </a:p>
        </p:txBody>
      </p:sp>
      <p:sp>
        <p:nvSpPr>
          <p:cNvPr id="11" name="TextBox 10"/>
          <p:cNvSpPr txBox="1"/>
          <p:nvPr/>
        </p:nvSpPr>
        <p:spPr>
          <a:xfrm>
            <a:off x="1371600" y="5669280"/>
            <a:ext cx="9144000" cy="731520"/>
          </a:xfrm>
          <a:prstGeom prst="rect">
            <a:avLst/>
          </a:prstGeom>
          <a:noFill/>
        </p:spPr>
        <p:txBody>
          <a:bodyPr wrap="square" anchor="t"/>
          <a:lstStyle/>
          <a:p>
            <a:pPr algn="l">
              <a:defRPr sz="2000" b="1">
                <a:solidFill>
                  <a:srgbClr val="FFD700"/>
                </a:solidFill>
                <a:latin typeface="Calibri"/>
              </a:defRPr>
            </a:pPr>
            <a:r>
              <a:t>"The system-level challenges dominate everything."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Challenge #1: Thermal Management</a:t>
            </a:r>
          </a:p>
        </p:txBody>
      </p:sp>
      <p:sp>
        <p:nvSpPr>
          <p:cNvPr id="3" name="TextBox 2"/>
          <p:cNvSpPr txBox="1"/>
          <p:nvPr/>
        </p:nvSpPr>
        <p:spPr>
          <a:xfrm>
            <a:off x="914400" y="1645920"/>
            <a:ext cx="4572000" cy="2743200"/>
          </a:xfrm>
          <a:prstGeom prst="rect">
            <a:avLst/>
          </a:prstGeom>
          <a:noFill/>
        </p:spPr>
        <p:txBody>
          <a:bodyPr wrap="square" anchor="t"/>
          <a:lstStyle/>
          <a:p>
            <a:pPr algn="l">
              <a:spcAft>
                <a:spcPts val="600"/>
              </a:spcAft>
              <a:defRPr sz="1800" b="0">
                <a:solidFill>
                  <a:srgbClr val="A0A0A0"/>
                </a:solidFill>
                <a:latin typeface="Calibri"/>
              </a:defRPr>
            </a:pPr>
            <a:r>
              <a:t>Single accelerator:</a:t>
            </a:r>
          </a:p>
          <a:p>
            <a:pPr algn="l">
              <a:spcAft>
                <a:spcPts val="600"/>
              </a:spcAft>
              <a:defRPr sz="4400" b="1">
                <a:solidFill>
                  <a:srgbClr val="EF4444"/>
                </a:solidFill>
                <a:latin typeface="Calibri"/>
              </a:defRPr>
            </a:pPr>
            <a:r>
              <a:t>700W+</a:t>
            </a:r>
          </a:p>
          <a:p>
            <a:pPr algn="l">
              <a:spcAft>
                <a:spcPts val="600"/>
              </a:spcAft>
              <a:defRPr sz="1000" b="0">
                <a:solidFill>
                  <a:srgbClr val="FFFFFF"/>
                </a:solidFill>
                <a:latin typeface="Calibri"/>
              </a:defRPr>
            </a:pPr>
          </a:p>
          <a:p>
            <a:pPr algn="l">
              <a:spcAft>
                <a:spcPts val="600"/>
              </a:spcAft>
              <a:defRPr sz="1800" b="0">
                <a:solidFill>
                  <a:srgbClr val="A0A0A0"/>
                </a:solidFill>
                <a:latin typeface="Calibri"/>
              </a:defRPr>
            </a:pPr>
            <a:r>
              <a:t>Single rack:</a:t>
            </a:r>
          </a:p>
          <a:p>
            <a:pPr algn="l">
              <a:spcAft>
                <a:spcPts val="600"/>
              </a:spcAft>
              <a:defRPr sz="4400" b="1">
                <a:solidFill>
                  <a:srgbClr val="F97316"/>
                </a:solidFill>
                <a:latin typeface="Calibri"/>
              </a:defRPr>
            </a:pPr>
            <a:r>
              <a:t>40–80 kW</a:t>
            </a:r>
          </a:p>
        </p:txBody>
      </p:sp>
      <p:sp>
        <p:nvSpPr>
          <p:cNvPr id="4" name="TextBox 3"/>
          <p:cNvSpPr txBox="1"/>
          <p:nvPr/>
        </p:nvSpPr>
        <p:spPr>
          <a:xfrm>
            <a:off x="6400800" y="1645920"/>
            <a:ext cx="5029200" cy="3200400"/>
          </a:xfrm>
          <a:prstGeom prst="rect">
            <a:avLst/>
          </a:prstGeom>
          <a:noFill/>
        </p:spPr>
        <p:txBody>
          <a:bodyPr wrap="square" anchor="t"/>
          <a:lstStyle/>
          <a:p>
            <a:pPr algn="l">
              <a:spcAft>
                <a:spcPts val="600"/>
              </a:spcAft>
              <a:defRPr sz="2400" b="1">
                <a:solidFill>
                  <a:srgbClr val="0EA5E9"/>
                </a:solidFill>
                <a:latin typeface="Calibri"/>
              </a:defRPr>
            </a:pPr>
            <a:r>
              <a:t>Air Cooling → Liquid Cooling</a:t>
            </a:r>
          </a:p>
          <a:p>
            <a:pPr algn="l">
              <a:spcAft>
                <a:spcPts val="600"/>
              </a:spcAft>
              <a:defRPr sz="1000" b="0">
                <a:solidFill>
                  <a:srgbClr val="FFFFFF"/>
                </a:solidFill>
                <a:latin typeface="Calibri"/>
              </a:defRPr>
            </a:pPr>
          </a:p>
          <a:p>
            <a:pPr algn="l">
              <a:spcAft>
                <a:spcPts val="600"/>
              </a:spcAft>
              <a:defRPr sz="2800" b="1">
                <a:solidFill>
                  <a:srgbClr val="22C55E"/>
                </a:solidFill>
                <a:latin typeface="Calibri"/>
              </a:defRPr>
            </a:pPr>
            <a:r>
              <a:t>PUE: 1.4 → 1.15</a:t>
            </a:r>
          </a:p>
          <a:p>
            <a:pPr algn="l">
              <a:spcAft>
                <a:spcPts val="600"/>
              </a:spcAft>
              <a:defRPr sz="1800" b="0">
                <a:solidFill>
                  <a:srgbClr val="C0C0C0"/>
                </a:solidFill>
                <a:latin typeface="Calibri"/>
              </a:defRPr>
            </a:pPr>
            <a:r>
              <a:t>= millions saved per year</a:t>
            </a:r>
          </a:p>
        </p:txBody>
      </p:sp>
      <p:pic>
        <p:nvPicPr>
          <p:cNvPr id="5" name="Picture 4" descr="server_rack.jpg"/>
          <p:cNvPicPr>
            <a:picLocks noChangeAspect="1"/>
          </p:cNvPicPr>
          <p:nvPr/>
        </p:nvPicPr>
        <p:blipFill>
          <a:blip r:embed="rId2"/>
          <a:stretch>
            <a:fillRect/>
          </a:stretch>
        </p:blipFill>
        <p:spPr>
          <a:xfrm>
            <a:off x="6972300" y="3840480"/>
            <a:ext cx="3429000" cy="2286000"/>
          </a:xfrm>
          <a:prstGeom prst="rect">
            <a:avLst/>
          </a:prstGeom>
        </p:spPr>
      </p:pic>
      <p:sp>
        <p:nvSpPr>
          <p:cNvPr id="6" name="TextBox 5"/>
          <p:cNvSpPr txBox="1"/>
          <p:nvPr/>
        </p:nvSpPr>
        <p:spPr>
          <a:xfrm>
            <a:off x="914400" y="5760720"/>
            <a:ext cx="10058400" cy="731520"/>
          </a:xfrm>
          <a:prstGeom prst="rect">
            <a:avLst/>
          </a:prstGeom>
          <a:noFill/>
        </p:spPr>
        <p:txBody>
          <a:bodyPr wrap="square" anchor="t"/>
          <a:lstStyle/>
          <a:p>
            <a:pPr algn="l">
              <a:defRPr sz="2000" b="1">
                <a:solidFill>
                  <a:srgbClr val="FFD700"/>
                </a:solidFill>
                <a:latin typeface="Calibri"/>
              </a:defRPr>
            </a:pPr>
            <a:r>
              <a:t>"Your chip's TDP is not a spec — it's a cost multiplier."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Challenge #2: Power Supply</a:t>
            </a:r>
          </a:p>
        </p:txBody>
      </p:sp>
      <p:sp>
        <p:nvSpPr>
          <p:cNvPr id="3" name="TextBox 2"/>
          <p:cNvSpPr txBox="1"/>
          <p:nvPr/>
        </p:nvSpPr>
        <p:spPr>
          <a:xfrm>
            <a:off x="914400" y="1645920"/>
            <a:ext cx="5029200" cy="2286000"/>
          </a:xfrm>
          <a:prstGeom prst="rect">
            <a:avLst/>
          </a:prstGeom>
          <a:noFill/>
        </p:spPr>
        <p:txBody>
          <a:bodyPr wrap="square" anchor="t"/>
          <a:lstStyle/>
          <a:p>
            <a:pPr algn="l">
              <a:spcAft>
                <a:spcPts val="600"/>
              </a:spcAft>
              <a:defRPr sz="2800" b="1">
                <a:solidFill>
                  <a:srgbClr val="F97316"/>
                </a:solidFill>
                <a:latin typeface="Calibri"/>
              </a:defRPr>
            </a:pPr>
            <a:r>
              <a:t>1,000 GPUs = 1 MW</a:t>
            </a:r>
          </a:p>
          <a:p>
            <a:pPr algn="l">
              <a:spcAft>
                <a:spcPts val="600"/>
              </a:spcAft>
              <a:defRPr sz="2800" b="1">
                <a:solidFill>
                  <a:srgbClr val="EF4444"/>
                </a:solidFill>
                <a:latin typeface="Calibri"/>
              </a:defRPr>
            </a:pPr>
            <a:r>
              <a:t>10,000 GPUs = 10 MW</a:t>
            </a:r>
          </a:p>
          <a:p>
            <a:pPr algn="l">
              <a:spcAft>
                <a:spcPts val="600"/>
              </a:spcAft>
              <a:defRPr sz="1800" b="0">
                <a:solidFill>
                  <a:srgbClr val="A0A0A0"/>
                </a:solidFill>
                <a:latin typeface="Calibri"/>
              </a:defRPr>
            </a:pPr>
            <a:r>
              <a:t>= a small town's power consumption</a:t>
            </a:r>
          </a:p>
        </p:txBody>
      </p:sp>
      <p:sp>
        <p:nvSpPr>
          <p:cNvPr id="4" name="Rounded Rectangle 3"/>
          <p:cNvSpPr/>
          <p:nvPr/>
        </p:nvSpPr>
        <p:spPr>
          <a:xfrm>
            <a:off x="914400" y="3657600"/>
            <a:ext cx="4572000" cy="1097280"/>
          </a:xfrm>
          <a:prstGeom prst="roundRect">
            <a:avLst/>
          </a:prstGeom>
          <a:solidFill>
            <a:srgbClr val="202038"/>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749039"/>
            <a:ext cx="4114800" cy="914400"/>
          </a:xfrm>
          <a:prstGeom prst="rect">
            <a:avLst/>
          </a:prstGeom>
          <a:noFill/>
        </p:spPr>
        <p:txBody>
          <a:bodyPr wrap="square" anchor="t"/>
          <a:lstStyle/>
          <a:p>
            <a:pPr algn="l">
              <a:defRPr sz="2000" b="1">
                <a:solidFill>
                  <a:srgbClr val="EF4444"/>
                </a:solidFill>
                <a:latin typeface="Calibri"/>
              </a:defRPr>
            </a:pPr>
            <a:r>
              <a:t>East China:  ¥0.8/kWh  →  Expensive</a:t>
            </a:r>
          </a:p>
        </p:txBody>
      </p:sp>
      <p:sp>
        <p:nvSpPr>
          <p:cNvPr id="6" name="Rounded Rectangle 5"/>
          <p:cNvSpPr/>
          <p:nvPr/>
        </p:nvSpPr>
        <p:spPr>
          <a:xfrm>
            <a:off x="914400" y="4937760"/>
            <a:ext cx="4572000" cy="1097280"/>
          </a:xfrm>
          <a:prstGeom prst="roundRect">
            <a:avLst/>
          </a:prstGeom>
          <a:solidFill>
            <a:srgbClr val="202038"/>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5029200"/>
            <a:ext cx="4114800" cy="914400"/>
          </a:xfrm>
          <a:prstGeom prst="rect">
            <a:avLst/>
          </a:prstGeom>
          <a:noFill/>
        </p:spPr>
        <p:txBody>
          <a:bodyPr wrap="square" anchor="t"/>
          <a:lstStyle/>
          <a:p>
            <a:pPr algn="l">
              <a:defRPr sz="2000" b="1">
                <a:solidFill>
                  <a:srgbClr val="22C55E"/>
                </a:solidFill>
                <a:latin typeface="Calibri"/>
              </a:defRPr>
            </a:pPr>
            <a:r>
              <a:t>West China:  ¥0.3/kWh  →  AI moves west</a:t>
            </a:r>
          </a:p>
        </p:txBody>
      </p:sp>
      <p:sp>
        <p:nvSpPr>
          <p:cNvPr id="8" name="Rounded Rectangle 7"/>
          <p:cNvSpPr/>
          <p:nvPr/>
        </p:nvSpPr>
        <p:spPr>
          <a:xfrm>
            <a:off x="6400800" y="1645920"/>
            <a:ext cx="5029200" cy="4389120"/>
          </a:xfrm>
          <a:prstGeom prst="roundRect">
            <a:avLst/>
          </a:prstGeom>
          <a:solidFill>
            <a:srgbClr val="181830"/>
          </a:solidFill>
          <a:ln w="25400">
            <a:solidFill>
              <a:srgbClr val="30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737360"/>
            <a:ext cx="4572000" cy="457200"/>
          </a:xfrm>
          <a:prstGeom prst="rect">
            <a:avLst/>
          </a:prstGeom>
          <a:noFill/>
        </p:spPr>
        <p:txBody>
          <a:bodyPr wrap="square" anchor="t"/>
          <a:lstStyle/>
          <a:p>
            <a:pPr algn="ctr">
              <a:defRPr sz="1800" b="1">
                <a:solidFill>
                  <a:srgbClr val="FFD700"/>
                </a:solidFill>
                <a:latin typeface="Calibri"/>
              </a:defRPr>
            </a:pPr>
            <a:r>
              <a:t>“Eastern Data, Western Computing”</a:t>
            </a:r>
          </a:p>
        </p:txBody>
      </p:sp>
      <p:sp>
        <p:nvSpPr>
          <p:cNvPr id="10" name="Rounded Rectangle 9"/>
          <p:cNvSpPr/>
          <p:nvPr/>
        </p:nvSpPr>
        <p:spPr>
          <a:xfrm>
            <a:off x="6675120" y="2377440"/>
            <a:ext cx="2103120" cy="3200400"/>
          </a:xfrm>
          <a:prstGeom prst="roundRect">
            <a:avLst/>
          </a:prstGeom>
          <a:solidFill>
            <a:srgbClr val="153020"/>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468880"/>
            <a:ext cx="1920240" cy="3017520"/>
          </a:xfrm>
          <a:prstGeom prst="rect">
            <a:avLst/>
          </a:prstGeom>
          <a:noFill/>
        </p:spPr>
        <p:txBody>
          <a:bodyPr wrap="square" anchor="t"/>
          <a:lstStyle/>
          <a:p>
            <a:pPr algn="ctr">
              <a:spcAft>
                <a:spcPts val="600"/>
              </a:spcAft>
              <a:defRPr sz="1600" b="1">
                <a:solidFill>
                  <a:srgbClr val="22C55E"/>
                </a:solidFill>
                <a:latin typeface="Calibri"/>
              </a:defRPr>
            </a:pPr>
            <a:r>
              <a:t>WEST</a:t>
            </a:r>
          </a:p>
          <a:p>
            <a:pPr algn="ctr">
              <a:spcAft>
                <a:spcPts val="600"/>
              </a:spcAft>
              <a:defRPr sz="600" b="0">
                <a:solidFill>
                  <a:srgbClr val="FFFFFF"/>
                </a:solidFill>
                <a:latin typeface="Calibri"/>
              </a:defRPr>
            </a:pPr>
          </a:p>
          <a:p>
            <a:pPr algn="ctr">
              <a:spcAft>
                <a:spcPts val="600"/>
              </a:spcAft>
              <a:defRPr sz="1300" b="0">
                <a:solidFill>
                  <a:srgbClr val="C0C0C0"/>
                </a:solidFill>
                <a:latin typeface="Calibri"/>
              </a:defRPr>
            </a:pPr>
            <a:r>
              <a:t>Guizhou · Inner Mongolia</a:t>
            </a:r>
          </a:p>
          <a:p>
            <a:pPr algn="ctr">
              <a:spcAft>
                <a:spcPts val="600"/>
              </a:spcAft>
              <a:defRPr sz="1300" b="0">
                <a:solidFill>
                  <a:srgbClr val="C0C0C0"/>
                </a:solidFill>
                <a:latin typeface="Calibri"/>
              </a:defRPr>
            </a:pPr>
            <a:r>
              <a:t>Gansu · Xinjiang</a:t>
            </a:r>
          </a:p>
          <a:p>
            <a:pPr algn="ctr">
              <a:spcAft>
                <a:spcPts val="600"/>
              </a:spcAft>
              <a:defRPr sz="600" b="0">
                <a:solidFill>
                  <a:srgbClr val="FFFFFF"/>
                </a:solidFill>
                <a:latin typeface="Calibri"/>
              </a:defRPr>
            </a:pPr>
          </a:p>
          <a:p>
            <a:pPr algn="ctr">
              <a:spcAft>
                <a:spcPts val="600"/>
              </a:spcAft>
              <a:defRPr sz="2400" b="1">
                <a:solidFill>
                  <a:srgbClr val="22C55E"/>
                </a:solidFill>
                <a:latin typeface="Calibri"/>
              </a:defRPr>
            </a:pPr>
            <a:r>
              <a:t>¥0.3/kWh</a:t>
            </a:r>
          </a:p>
          <a:p>
            <a:pPr algn="ctr">
              <a:spcAft>
                <a:spcPts val="600"/>
              </a:spcAft>
              <a:defRPr sz="1200" b="0">
                <a:solidFill>
                  <a:srgbClr val="A0A0A0"/>
                </a:solidFill>
                <a:latin typeface="Calibri"/>
              </a:defRPr>
            </a:pPr>
            <a:r>
              <a:t>Abundant land</a:t>
            </a:r>
          </a:p>
          <a:p>
            <a:pPr algn="ctr">
              <a:spcAft>
                <a:spcPts val="600"/>
              </a:spcAft>
              <a:defRPr sz="1200" b="0">
                <a:solidFill>
                  <a:srgbClr val="A0A0A0"/>
                </a:solidFill>
                <a:latin typeface="Calibri"/>
              </a:defRPr>
            </a:pPr>
            <a:r>
              <a:t>Clean energy + waste</a:t>
            </a:r>
          </a:p>
          <a:p>
            <a:pPr algn="ctr">
              <a:spcAft>
                <a:spcPts val="600"/>
              </a:spcAft>
              <a:defRPr sz="1200" b="0">
                <a:solidFill>
                  <a:srgbClr val="A0A0A0"/>
                </a:solidFill>
                <a:latin typeface="Calibri"/>
              </a:defRPr>
            </a:pPr>
            <a:r>
              <a:t>heat recovery</a:t>
            </a:r>
          </a:p>
        </p:txBody>
      </p:sp>
      <p:sp>
        <p:nvSpPr>
          <p:cNvPr id="12" name="Left Arrow 11"/>
          <p:cNvSpPr/>
          <p:nvPr/>
        </p:nvSpPr>
        <p:spPr>
          <a:xfrm>
            <a:off x="8869680" y="3474720"/>
            <a:ext cx="731520" cy="457200"/>
          </a:xfrm>
          <a:prstGeom prst="leftArrow">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92640" y="2377440"/>
            <a:ext cx="1554480" cy="3200400"/>
          </a:xfrm>
          <a:prstGeom prst="roundRect">
            <a:avLst/>
          </a:prstGeom>
          <a:solidFill>
            <a:srgbClr val="301515"/>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0" y="2468880"/>
            <a:ext cx="1371600" cy="3017520"/>
          </a:xfrm>
          <a:prstGeom prst="rect">
            <a:avLst/>
          </a:prstGeom>
          <a:noFill/>
        </p:spPr>
        <p:txBody>
          <a:bodyPr wrap="square" anchor="t"/>
          <a:lstStyle/>
          <a:p>
            <a:pPr algn="ctr">
              <a:spcAft>
                <a:spcPts val="600"/>
              </a:spcAft>
              <a:defRPr sz="1600" b="1">
                <a:solidFill>
                  <a:srgbClr val="EF4444"/>
                </a:solidFill>
                <a:latin typeface="Calibri"/>
              </a:defRPr>
            </a:pPr>
            <a:r>
              <a:t>EAST</a:t>
            </a:r>
          </a:p>
          <a:p>
            <a:pPr algn="ctr">
              <a:spcAft>
                <a:spcPts val="600"/>
              </a:spcAft>
              <a:defRPr sz="600" b="0">
                <a:solidFill>
                  <a:srgbClr val="FFFFFF"/>
                </a:solidFill>
                <a:latin typeface="Calibri"/>
              </a:defRPr>
            </a:pPr>
          </a:p>
          <a:p>
            <a:pPr algn="ctr">
              <a:spcAft>
                <a:spcPts val="600"/>
              </a:spcAft>
              <a:defRPr sz="1400" b="0">
                <a:solidFill>
                  <a:srgbClr val="C0C0C0"/>
                </a:solidFill>
                <a:latin typeface="Calibri"/>
              </a:defRPr>
            </a:pPr>
            <a:r>
              <a:t>Beijing</a:t>
            </a:r>
          </a:p>
          <a:p>
            <a:pPr algn="ctr">
              <a:spcAft>
                <a:spcPts val="600"/>
              </a:spcAft>
              <a:defRPr sz="1400" b="0">
                <a:solidFill>
                  <a:srgbClr val="C0C0C0"/>
                </a:solidFill>
                <a:latin typeface="Calibri"/>
              </a:defRPr>
            </a:pPr>
            <a:r>
              <a:t>Shanghai</a:t>
            </a:r>
          </a:p>
          <a:p>
            <a:pPr algn="ctr">
              <a:spcAft>
                <a:spcPts val="600"/>
              </a:spcAft>
              <a:defRPr sz="1400" b="0">
                <a:solidFill>
                  <a:srgbClr val="C0C0C0"/>
                </a:solidFill>
                <a:latin typeface="Calibri"/>
              </a:defRPr>
            </a:pPr>
            <a:r>
              <a:t>Shenzhen</a:t>
            </a:r>
          </a:p>
          <a:p>
            <a:pPr algn="ctr">
              <a:spcAft>
                <a:spcPts val="600"/>
              </a:spcAft>
              <a:defRPr sz="800" b="0">
                <a:solidFill>
                  <a:srgbClr val="FFFFFF"/>
                </a:solidFill>
                <a:latin typeface="Calibri"/>
              </a:defRPr>
            </a:pPr>
          </a:p>
          <a:p>
            <a:pPr algn="ctr">
              <a:spcAft>
                <a:spcPts val="600"/>
              </a:spcAft>
              <a:defRPr sz="2400" b="1">
                <a:solidFill>
                  <a:srgbClr val="EF4444"/>
                </a:solidFill>
                <a:latin typeface="Calibri"/>
              </a:defRPr>
            </a:pPr>
            <a:r>
              <a:t>¥0.8/kWh</a:t>
            </a:r>
          </a:p>
          <a:p>
            <a:pPr algn="ctr">
              <a:spcAft>
                <a:spcPts val="600"/>
              </a:spcAft>
              <a:defRPr sz="1200" b="0">
                <a:solidFill>
                  <a:srgbClr val="A0A0A0"/>
                </a:solidFill>
                <a:latin typeface="Calibri"/>
              </a:defRPr>
            </a:pPr>
            <a:r>
              <a:t>Limited land</a:t>
            </a:r>
          </a:p>
          <a:p>
            <a:pPr algn="ctr">
              <a:spcAft>
                <a:spcPts val="600"/>
              </a:spcAft>
              <a:defRPr sz="1200" b="0">
                <a:solidFill>
                  <a:srgbClr val="A0A0A0"/>
                </a:solidFill>
                <a:latin typeface="Calibri"/>
              </a:defRPr>
            </a:pPr>
            <a:r>
              <a:t>High demand</a:t>
            </a:r>
          </a:p>
        </p:txBody>
      </p:sp>
      <p:sp>
        <p:nvSpPr>
          <p:cNvPr id="15" name="TextBox 14"/>
          <p:cNvSpPr txBox="1"/>
          <p:nvPr/>
        </p:nvSpPr>
        <p:spPr>
          <a:xfrm>
            <a:off x="914400" y="6217920"/>
            <a:ext cx="10058400" cy="457200"/>
          </a:xfrm>
          <a:prstGeom prst="rect">
            <a:avLst/>
          </a:prstGeom>
          <a:noFill/>
        </p:spPr>
        <p:txBody>
          <a:bodyPr wrap="square" anchor="t"/>
          <a:lstStyle/>
          <a:p>
            <a:pPr algn="l">
              <a:defRPr sz="2000" b="1">
                <a:solidFill>
                  <a:srgbClr val="FFD700"/>
                </a:solidFill>
                <a:latin typeface="Calibri"/>
              </a:defRPr>
            </a:pPr>
            <a:r>
              <a:t>"Power is the new oil of the AI era."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Challenge #3: GPU Utilization</a:t>
            </a:r>
          </a:p>
        </p:txBody>
      </p:sp>
      <p:sp>
        <p:nvSpPr>
          <p:cNvPr id="3" name="TextBox 2"/>
          <p:cNvSpPr txBox="1"/>
          <p:nvPr/>
        </p:nvSpPr>
        <p:spPr>
          <a:xfrm>
            <a:off x="914400" y="1645920"/>
            <a:ext cx="4572000" cy="1371600"/>
          </a:xfrm>
          <a:prstGeom prst="rect">
            <a:avLst/>
          </a:prstGeom>
          <a:noFill/>
        </p:spPr>
        <p:txBody>
          <a:bodyPr wrap="square" anchor="t"/>
          <a:lstStyle/>
          <a:p>
            <a:pPr algn="ctr">
              <a:defRPr sz="8000" b="1">
                <a:solidFill>
                  <a:srgbClr val="EF4444"/>
                </a:solidFill>
                <a:latin typeface="Calibri"/>
              </a:defRPr>
            </a:pPr>
            <a:r>
              <a:t>&lt;30%</a:t>
            </a:r>
          </a:p>
        </p:txBody>
      </p:sp>
      <p:sp>
        <p:nvSpPr>
          <p:cNvPr id="4" name="TextBox 3"/>
          <p:cNvSpPr txBox="1"/>
          <p:nvPr/>
        </p:nvSpPr>
        <p:spPr>
          <a:xfrm>
            <a:off x="914400" y="3200400"/>
            <a:ext cx="4572000" cy="548640"/>
          </a:xfrm>
          <a:prstGeom prst="rect">
            <a:avLst/>
          </a:prstGeom>
          <a:noFill/>
        </p:spPr>
        <p:txBody>
          <a:bodyPr wrap="square" anchor="t"/>
          <a:lstStyle/>
          <a:p>
            <a:pPr algn="ctr">
              <a:defRPr sz="2200" b="0">
                <a:solidFill>
                  <a:srgbClr val="C0C0C0"/>
                </a:solidFill>
                <a:latin typeface="Calibri"/>
              </a:defRPr>
            </a:pPr>
            <a:r>
              <a:t>Average GPU Utilization</a:t>
            </a:r>
          </a:p>
        </p:txBody>
      </p:sp>
      <p:sp>
        <p:nvSpPr>
          <p:cNvPr id="5" name="TextBox 4"/>
          <p:cNvSpPr txBox="1"/>
          <p:nvPr/>
        </p:nvSpPr>
        <p:spPr>
          <a:xfrm>
            <a:off x="6400800" y="1645920"/>
            <a:ext cx="4572000" cy="548640"/>
          </a:xfrm>
          <a:prstGeom prst="rect">
            <a:avLst/>
          </a:prstGeom>
          <a:noFill/>
        </p:spPr>
        <p:txBody>
          <a:bodyPr wrap="square" anchor="t"/>
          <a:lstStyle/>
          <a:p>
            <a:pPr algn="l">
              <a:defRPr sz="2800" b="1">
                <a:solidFill>
                  <a:srgbClr val="F97316"/>
                </a:solidFill>
                <a:latin typeface="Calibri"/>
              </a:defRPr>
            </a:pPr>
            <a:r>
              <a:t>Why?</a:t>
            </a:r>
          </a:p>
        </p:txBody>
      </p:sp>
      <p:sp>
        <p:nvSpPr>
          <p:cNvPr id="6" name="TextBox 5"/>
          <p:cNvSpPr txBox="1"/>
          <p:nvPr/>
        </p:nvSpPr>
        <p:spPr>
          <a:xfrm>
            <a:off x="6400800" y="2377440"/>
            <a:ext cx="5029200" cy="2286000"/>
          </a:xfrm>
          <a:prstGeom prst="rect">
            <a:avLst/>
          </a:prstGeom>
          <a:noFill/>
        </p:spPr>
        <p:txBody>
          <a:bodyPr wrap="square" anchor="t"/>
          <a:lstStyle/>
          <a:p>
            <a:pPr algn="l">
              <a:spcAft>
                <a:spcPts val="600"/>
              </a:spcAft>
              <a:defRPr sz="1800" b="0">
                <a:solidFill>
                  <a:srgbClr val="C0C0C0"/>
                </a:solidFill>
                <a:latin typeface="Calibri"/>
              </a:defRPr>
            </a:pPr>
            <a:r>
              <a:t>• Multi-tenant scheduling is hard</a:t>
            </a:r>
          </a:p>
          <a:p>
            <a:pPr algn="l">
              <a:spcAft>
                <a:spcPts val="600"/>
              </a:spcAft>
              <a:defRPr sz="1800" b="0">
                <a:solidFill>
                  <a:srgbClr val="C0C0C0"/>
                </a:solidFill>
                <a:latin typeface="Calibri"/>
              </a:defRPr>
            </a:pPr>
            <a:r>
              <a:t>• Memory fragmentation between model sizes</a:t>
            </a:r>
          </a:p>
          <a:p>
            <a:pPr algn="l">
              <a:spcAft>
                <a:spcPts val="600"/>
              </a:spcAft>
              <a:defRPr sz="1800" b="0">
                <a:solidFill>
                  <a:srgbClr val="C0C0C0"/>
                </a:solidFill>
                <a:latin typeface="Calibri"/>
              </a:defRPr>
            </a:pPr>
            <a:r>
              <a:t>• Daily hardware failures at scale</a:t>
            </a:r>
          </a:p>
          <a:p>
            <a:pPr algn="l">
              <a:spcAft>
                <a:spcPts val="600"/>
              </a:spcAft>
              <a:defRPr sz="1800" b="0">
                <a:solidFill>
                  <a:srgbClr val="C0C0C0"/>
                </a:solidFill>
                <a:latin typeface="Calibri"/>
              </a:defRPr>
            </a:pPr>
            <a:r>
              <a:t>• Recovery and job migration overhead</a:t>
            </a:r>
          </a:p>
        </p:txBody>
      </p:sp>
      <p:sp>
        <p:nvSpPr>
          <p:cNvPr id="7" name="Rounded Rectangle 6"/>
          <p:cNvSpPr/>
          <p:nvPr/>
        </p:nvSpPr>
        <p:spPr>
          <a:xfrm>
            <a:off x="6400800" y="4754880"/>
            <a:ext cx="5029200" cy="822960"/>
          </a:xfrm>
          <a:prstGeom prst="roundRect">
            <a:avLst/>
          </a:prstGeom>
          <a:solidFill>
            <a:srgbClr val="152515"/>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4800600"/>
            <a:ext cx="4663440" cy="731520"/>
          </a:xfrm>
          <a:prstGeom prst="rect">
            <a:avLst/>
          </a:prstGeom>
          <a:noFill/>
        </p:spPr>
        <p:txBody>
          <a:bodyPr wrap="square" anchor="t"/>
          <a:lstStyle/>
          <a:p>
            <a:pPr algn="l">
              <a:defRPr sz="1600" b="1">
                <a:solidFill>
                  <a:srgbClr val="22C55E"/>
                </a:solidFill>
                <a:latin typeface="Calibri"/>
              </a:defRPr>
            </a:pPr>
            <a:r>
              <a:t>→ Heterogeneous pooling + vGPU slicing can lift to 70%+</a:t>
            </a:r>
          </a:p>
        </p:txBody>
      </p:sp>
      <p:sp>
        <p:nvSpPr>
          <p:cNvPr id="9" name="TextBox 8"/>
          <p:cNvSpPr txBox="1"/>
          <p:nvPr/>
        </p:nvSpPr>
        <p:spPr>
          <a:xfrm>
            <a:off x="914400" y="5760720"/>
            <a:ext cx="10058400" cy="731520"/>
          </a:xfrm>
          <a:prstGeom prst="rect">
            <a:avLst/>
          </a:prstGeom>
          <a:noFill/>
        </p:spPr>
        <p:txBody>
          <a:bodyPr wrap="square" anchor="t"/>
          <a:lstStyle/>
          <a:p>
            <a:pPr algn="l">
              <a:defRPr sz="2000" b="1">
                <a:solidFill>
                  <a:srgbClr val="FFD700"/>
                </a:solidFill>
                <a:latin typeface="Calibri"/>
              </a:defRPr>
            </a:pPr>
            <a:r>
              <a:t>"Utilization rate matters more than total capacity."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nchor="t"/>
          <a:lstStyle/>
          <a:p>
            <a:pPr algn="l">
              <a:defRPr sz="3600" b="1">
                <a:solidFill>
                  <a:srgbClr val="FFFFFF"/>
                </a:solidFill>
                <a:latin typeface="Calibri"/>
              </a:defRPr>
            </a:pPr>
            <a:r>
              <a:t>What Cloud Operations Teach IC Designers</a:t>
            </a:r>
          </a:p>
        </p:txBody>
      </p:sp>
      <p:sp>
        <p:nvSpPr>
          <p:cNvPr id="3" name="Rectangle 2"/>
          <p:cNvSpPr/>
          <p:nvPr/>
        </p:nvSpPr>
        <p:spPr>
          <a:xfrm>
            <a:off x="1188720" y="1645920"/>
            <a:ext cx="73152" cy="7315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1645920"/>
            <a:ext cx="914400" cy="731520"/>
          </a:xfrm>
          <a:prstGeom prst="rect">
            <a:avLst/>
          </a:prstGeom>
          <a:noFill/>
        </p:spPr>
        <p:txBody>
          <a:bodyPr wrap="square" anchor="t"/>
          <a:lstStyle/>
          <a:p>
            <a:pPr algn="l">
              <a:defRPr sz="2400" b="1">
                <a:solidFill>
                  <a:srgbClr val="22C55E"/>
                </a:solidFill>
                <a:latin typeface="Calibri"/>
              </a:defRPr>
            </a:pPr>
            <a:r>
              <a:t>✅</a:t>
            </a:r>
          </a:p>
        </p:txBody>
      </p:sp>
      <p:sp>
        <p:nvSpPr>
          <p:cNvPr id="5" name="TextBox 4"/>
          <p:cNvSpPr txBox="1"/>
          <p:nvPr/>
        </p:nvSpPr>
        <p:spPr>
          <a:xfrm>
            <a:off x="2103120" y="1737360"/>
            <a:ext cx="8229600" cy="640080"/>
          </a:xfrm>
          <a:prstGeom prst="rect">
            <a:avLst/>
          </a:prstGeom>
          <a:noFill/>
        </p:spPr>
        <p:txBody>
          <a:bodyPr wrap="square" anchor="t"/>
          <a:lstStyle/>
          <a:p>
            <a:pPr algn="l">
              <a:defRPr sz="2400" b="0">
                <a:solidFill>
                  <a:srgbClr val="FFFFFF"/>
                </a:solidFill>
                <a:latin typeface="Calibri"/>
              </a:defRPr>
            </a:pPr>
            <a:r>
              <a:t>1. Design for system deployability, not benchmarks</a:t>
            </a:r>
          </a:p>
        </p:txBody>
      </p:sp>
      <p:sp>
        <p:nvSpPr>
          <p:cNvPr id="6" name="Rectangle 5"/>
          <p:cNvSpPr/>
          <p:nvPr/>
        </p:nvSpPr>
        <p:spPr>
          <a:xfrm>
            <a:off x="1188720" y="2743200"/>
            <a:ext cx="73152" cy="7315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2743200"/>
            <a:ext cx="914400" cy="731520"/>
          </a:xfrm>
          <a:prstGeom prst="rect">
            <a:avLst/>
          </a:prstGeom>
          <a:noFill/>
        </p:spPr>
        <p:txBody>
          <a:bodyPr wrap="square" anchor="t"/>
          <a:lstStyle/>
          <a:p>
            <a:pPr algn="l">
              <a:defRPr sz="2400" b="1">
                <a:solidFill>
                  <a:srgbClr val="22C55E"/>
                </a:solidFill>
                <a:latin typeface="Calibri"/>
              </a:defRPr>
            </a:pPr>
            <a:r>
              <a:t>✅</a:t>
            </a:r>
          </a:p>
        </p:txBody>
      </p:sp>
      <p:sp>
        <p:nvSpPr>
          <p:cNvPr id="8" name="TextBox 7"/>
          <p:cNvSpPr txBox="1"/>
          <p:nvPr/>
        </p:nvSpPr>
        <p:spPr>
          <a:xfrm>
            <a:off x="2103120" y="2834640"/>
            <a:ext cx="8229600" cy="640080"/>
          </a:xfrm>
          <a:prstGeom prst="rect">
            <a:avLst/>
          </a:prstGeom>
          <a:noFill/>
        </p:spPr>
        <p:txBody>
          <a:bodyPr wrap="square" anchor="t"/>
          <a:lstStyle/>
          <a:p>
            <a:pPr algn="l">
              <a:defRPr sz="2400" b="0">
                <a:solidFill>
                  <a:srgbClr val="FFFFFF"/>
                </a:solidFill>
                <a:latin typeface="Calibri"/>
              </a:defRPr>
            </a:pPr>
            <a:r>
              <a:t>2. Performance per watt &gt; peak performance</a:t>
            </a:r>
          </a:p>
        </p:txBody>
      </p:sp>
      <p:sp>
        <p:nvSpPr>
          <p:cNvPr id="9" name="Rectangle 8"/>
          <p:cNvSpPr/>
          <p:nvPr/>
        </p:nvSpPr>
        <p:spPr>
          <a:xfrm>
            <a:off x="1188720" y="3840480"/>
            <a:ext cx="73152" cy="7315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3840480"/>
            <a:ext cx="914400" cy="731520"/>
          </a:xfrm>
          <a:prstGeom prst="rect">
            <a:avLst/>
          </a:prstGeom>
          <a:noFill/>
        </p:spPr>
        <p:txBody>
          <a:bodyPr wrap="square" anchor="t"/>
          <a:lstStyle/>
          <a:p>
            <a:pPr algn="l">
              <a:defRPr sz="2400" b="1">
                <a:solidFill>
                  <a:srgbClr val="22C55E"/>
                </a:solidFill>
                <a:latin typeface="Calibri"/>
              </a:defRPr>
            </a:pPr>
            <a:r>
              <a:t>✅</a:t>
            </a:r>
          </a:p>
        </p:txBody>
      </p:sp>
      <p:sp>
        <p:nvSpPr>
          <p:cNvPr id="11" name="TextBox 10"/>
          <p:cNvSpPr txBox="1"/>
          <p:nvPr/>
        </p:nvSpPr>
        <p:spPr>
          <a:xfrm>
            <a:off x="2103120" y="3931920"/>
            <a:ext cx="8229600" cy="640080"/>
          </a:xfrm>
          <a:prstGeom prst="rect">
            <a:avLst/>
          </a:prstGeom>
          <a:noFill/>
        </p:spPr>
        <p:txBody>
          <a:bodyPr wrap="square" anchor="t"/>
          <a:lstStyle/>
          <a:p>
            <a:pPr algn="l">
              <a:defRPr sz="2400" b="0">
                <a:solidFill>
                  <a:srgbClr val="FFFFFF"/>
                </a:solidFill>
                <a:latin typeface="Calibri"/>
              </a:defRPr>
            </a:pPr>
            <a:r>
              <a:t>3. Build diagnostics into the silicon</a:t>
            </a:r>
          </a:p>
        </p:txBody>
      </p:sp>
      <p:sp>
        <p:nvSpPr>
          <p:cNvPr id="12" name="Rectangle 11"/>
          <p:cNvSpPr/>
          <p:nvPr/>
        </p:nvSpPr>
        <p:spPr>
          <a:xfrm>
            <a:off x="1188720" y="4937759"/>
            <a:ext cx="73152" cy="7315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4937759"/>
            <a:ext cx="914400" cy="731520"/>
          </a:xfrm>
          <a:prstGeom prst="rect">
            <a:avLst/>
          </a:prstGeom>
          <a:noFill/>
        </p:spPr>
        <p:txBody>
          <a:bodyPr wrap="square" anchor="t"/>
          <a:lstStyle/>
          <a:p>
            <a:pPr algn="l">
              <a:defRPr sz="2400" b="1">
                <a:solidFill>
                  <a:srgbClr val="22C55E"/>
                </a:solidFill>
                <a:latin typeface="Calibri"/>
              </a:defRPr>
            </a:pPr>
            <a:r>
              <a:t>✅</a:t>
            </a:r>
          </a:p>
        </p:txBody>
      </p:sp>
      <p:sp>
        <p:nvSpPr>
          <p:cNvPr id="14" name="TextBox 13"/>
          <p:cNvSpPr txBox="1"/>
          <p:nvPr/>
        </p:nvSpPr>
        <p:spPr>
          <a:xfrm>
            <a:off x="2103120" y="5029199"/>
            <a:ext cx="8229600" cy="640080"/>
          </a:xfrm>
          <a:prstGeom prst="rect">
            <a:avLst/>
          </a:prstGeom>
          <a:noFill/>
        </p:spPr>
        <p:txBody>
          <a:bodyPr wrap="square" anchor="t"/>
          <a:lstStyle/>
          <a:p>
            <a:pPr algn="l">
              <a:defRPr sz="2400" b="0">
                <a:solidFill>
                  <a:srgbClr val="FFFFFF"/>
                </a:solidFill>
                <a:latin typeface="Calibri"/>
              </a:defRPr>
            </a:pPr>
            <a:r>
              <a:t>4. Reliability over years, not hours</a:t>
            </a:r>
          </a:p>
        </p:txBody>
      </p:sp>
      <p:sp>
        <p:nvSpPr>
          <p:cNvPr id="15" name="TextBox 14"/>
          <p:cNvSpPr txBox="1"/>
          <p:nvPr/>
        </p:nvSpPr>
        <p:spPr>
          <a:xfrm>
            <a:off x="914400" y="5760720"/>
            <a:ext cx="10058400" cy="731520"/>
          </a:xfrm>
          <a:prstGeom prst="rect">
            <a:avLst/>
          </a:prstGeom>
          <a:noFill/>
        </p:spPr>
        <p:txBody>
          <a:bodyPr wrap="square" anchor="t"/>
          <a:lstStyle/>
          <a:p>
            <a:pPr algn="l">
              <a:defRPr sz="1800" b="1">
                <a:solidFill>
                  <a:srgbClr val="FFD700"/>
                </a:solidFill>
                <a:latin typeface="Calibri"/>
              </a:defRPr>
            </a:pPr>
            <a:r>
              <a:t>"The best chip is the one that runs stable at 85% load for 365 days."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20"/>
        </a:solidFill>
        <a:effectLst/>
      </p:bgPr>
    </p:bg>
    <p:spTree>
      <p:nvGrpSpPr>
        <p:cNvPr id="1" name=""/>
        <p:cNvGrpSpPr/>
        <p:nvPr/>
      </p:nvGrpSpPr>
      <p:grpSpPr/>
      <p:pic>
        <p:nvPicPr>
          <p:cNvPr id="2" name="Picture 1" descr="humanoid_robot.jpg"/>
          <p:cNvPicPr>
            <a:picLocks noChangeAspect="1"/>
          </p:cNvPicPr>
          <p:nvPr/>
        </p:nvPicPr>
        <p:blipFill>
          <a:blip r:embed="rId2"/>
          <a:stretch>
            <a:fillRect/>
          </a:stretch>
        </p:blipFill>
        <p:spPr>
          <a:xfrm>
            <a:off x="0" y="-634898"/>
            <a:ext cx="12191695" cy="8127796"/>
          </a:xfrm>
          <a:prstGeom prst="rect">
            <a:avLst/>
          </a:prstGeom>
        </p:spPr>
      </p:pic>
      <p:sp>
        <p:nvSpPr>
          <p:cNvPr id="3" name="Rectangle 2"/>
          <p:cNvSpPr/>
          <p:nvPr/>
        </p:nvSpPr>
        <p:spPr>
          <a:xfrm>
            <a:off x="0" y="0"/>
            <a:ext cx="12191695" cy="6858000"/>
          </a:xfrm>
          <a:prstGeom prst="rect">
            <a:avLst/>
          </a:prstGeom>
          <a:solidFill>
            <a:srgbClr val="0A0A15">
              <a:alpha val="44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3657600"/>
          </a:xfrm>
          <a:prstGeom prst="rect">
            <a:avLst/>
          </a:prstGeom>
          <a:noFill/>
        </p:spPr>
        <p:txBody>
          <a:bodyPr wrap="square" anchor="ctr"/>
          <a:lstStyle/>
          <a:p>
            <a:pPr algn="l">
              <a:spcAft>
                <a:spcPts val="600"/>
              </a:spcAft>
              <a:defRPr sz="2000" b="1">
                <a:solidFill>
                  <a:srgbClr val="22C55E"/>
                </a:solidFill>
                <a:latin typeface="Calibri"/>
              </a:defRPr>
            </a:pPr>
            <a:r>
              <a:t>PART II</a:t>
            </a:r>
          </a:p>
          <a:p>
            <a:pPr algn="l">
              <a:spcAft>
                <a:spcPts val="600"/>
              </a:spcAft>
              <a:defRPr sz="5200" b="1">
                <a:solidFill>
                  <a:srgbClr val="FFFFFF"/>
                </a:solidFill>
                <a:latin typeface="Calibri"/>
              </a:defRPr>
            </a:pPr>
            <a:r>
              <a:t>From Racks to Bodies</a:t>
            </a:r>
          </a:p>
          <a:p>
            <a:pPr algn="l">
              <a:spcAft>
                <a:spcPts val="600"/>
              </a:spcAft>
              <a:defRPr sz="2400" b="0">
                <a:solidFill>
                  <a:srgbClr val="C0C0C0"/>
                </a:solidFill>
                <a:latin typeface="Calibri"/>
              </a:defRPr>
            </a:pPr>
            <a:r>
              <a:t>When Compute Walks Out of the Data Center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Why I Invest in Embodied AI</a:t>
            </a:r>
          </a:p>
        </p:txBody>
      </p:sp>
      <p:sp>
        <p:nvSpPr>
          <p:cNvPr id="3" name="TextBox 2"/>
          <p:cNvSpPr txBox="1"/>
          <p:nvPr/>
        </p:nvSpPr>
        <p:spPr>
          <a:xfrm>
            <a:off x="1371600" y="1645920"/>
            <a:ext cx="9144000" cy="914400"/>
          </a:xfrm>
          <a:prstGeom prst="rect">
            <a:avLst/>
          </a:prstGeom>
          <a:noFill/>
        </p:spPr>
        <p:txBody>
          <a:bodyPr wrap="square" anchor="t"/>
          <a:lstStyle/>
          <a:p>
            <a:pPr algn="l">
              <a:defRPr sz="2400" b="1">
                <a:solidFill>
                  <a:srgbClr val="C0C0C0"/>
                </a:solidFill>
                <a:latin typeface="Calibri"/>
              </a:defRPr>
            </a:pPr>
            <a:r>
              <a:t>"I asked the engineering teams:</a:t>
            </a:r>
            <a:br/>
            <a:r>
              <a:t> What is your biggest bottleneck?"</a:t>
            </a:r>
          </a:p>
        </p:txBody>
      </p:sp>
      <p:sp>
        <p:nvSpPr>
          <p:cNvPr id="4" name="TextBox 3"/>
          <p:cNvSpPr txBox="1"/>
          <p:nvPr/>
        </p:nvSpPr>
        <p:spPr>
          <a:xfrm>
            <a:off x="1828800" y="2926080"/>
            <a:ext cx="7315200" cy="731520"/>
          </a:xfrm>
          <a:prstGeom prst="rect">
            <a:avLst/>
          </a:prstGeom>
          <a:noFill/>
        </p:spPr>
        <p:txBody>
          <a:bodyPr wrap="square" anchor="t"/>
          <a:lstStyle/>
          <a:p>
            <a:pPr algn="l">
              <a:defRPr sz="2800" b="1">
                <a:solidFill>
                  <a:srgbClr val="EF4444"/>
                </a:solidFill>
                <a:latin typeface="Calibri"/>
              </a:defRPr>
            </a:pPr>
            <a:r>
              <a:t>❌  Not funding</a:t>
            </a:r>
          </a:p>
        </p:txBody>
      </p:sp>
      <p:sp>
        <p:nvSpPr>
          <p:cNvPr id="5" name="TextBox 4"/>
          <p:cNvSpPr txBox="1"/>
          <p:nvPr/>
        </p:nvSpPr>
        <p:spPr>
          <a:xfrm>
            <a:off x="1828800" y="3749040"/>
            <a:ext cx="7315200" cy="731520"/>
          </a:xfrm>
          <a:prstGeom prst="rect">
            <a:avLst/>
          </a:prstGeom>
          <a:noFill/>
        </p:spPr>
        <p:txBody>
          <a:bodyPr wrap="square" anchor="t"/>
          <a:lstStyle/>
          <a:p>
            <a:pPr algn="l">
              <a:defRPr sz="2800" b="1">
                <a:solidFill>
                  <a:srgbClr val="EF4444"/>
                </a:solidFill>
                <a:latin typeface="Calibri"/>
              </a:defRPr>
            </a:pPr>
            <a:r>
              <a:t>❌  Not algorithms</a:t>
            </a:r>
          </a:p>
        </p:txBody>
      </p:sp>
      <p:sp>
        <p:nvSpPr>
          <p:cNvPr id="6" name="TextBox 5"/>
          <p:cNvSpPr txBox="1"/>
          <p:nvPr/>
        </p:nvSpPr>
        <p:spPr>
          <a:xfrm>
            <a:off x="1828800" y="4572000"/>
            <a:ext cx="7315200" cy="731520"/>
          </a:xfrm>
          <a:prstGeom prst="rect">
            <a:avLst/>
          </a:prstGeom>
          <a:noFill/>
        </p:spPr>
        <p:txBody>
          <a:bodyPr wrap="square" anchor="t"/>
          <a:lstStyle/>
          <a:p>
            <a:pPr algn="l">
              <a:defRPr sz="2800" b="1">
                <a:solidFill>
                  <a:srgbClr val="22C55E"/>
                </a:solidFill>
                <a:latin typeface="Calibri"/>
              </a:defRPr>
            </a:pPr>
            <a:r>
              <a:t>✅  On-body compute</a:t>
            </a:r>
          </a:p>
        </p:txBody>
      </p:sp>
      <p:sp>
        <p:nvSpPr>
          <p:cNvPr id="7" name="TextBox 6"/>
          <p:cNvSpPr txBox="1"/>
          <p:nvPr/>
        </p:nvSpPr>
        <p:spPr>
          <a:xfrm>
            <a:off x="1371600" y="5303520"/>
            <a:ext cx="9144000" cy="1371600"/>
          </a:xfrm>
          <a:prstGeom prst="rect">
            <a:avLst/>
          </a:prstGeom>
          <a:noFill/>
        </p:spPr>
        <p:txBody>
          <a:bodyPr wrap="square" anchor="t"/>
          <a:lstStyle/>
          <a:p>
            <a:pPr algn="l">
              <a:spcAft>
                <a:spcPts val="600"/>
              </a:spcAft>
              <a:defRPr sz="2000" b="1">
                <a:solidFill>
                  <a:srgbClr val="FFD700"/>
                </a:solidFill>
                <a:latin typeface="Calibri"/>
              </a:defRPr>
            </a:pPr>
            <a:r>
              <a:t>"The available processors simply cannot deliver</a:t>
            </a:r>
          </a:p>
          <a:p>
            <a:pPr algn="l">
              <a:spcAft>
                <a:spcPts val="600"/>
              </a:spcAft>
              <a:defRPr sz="2000" b="1">
                <a:solidFill>
                  <a:srgbClr val="FFD700"/>
                </a:solidFill>
                <a:latin typeface="Calibri"/>
              </a:defRPr>
            </a:pPr>
            <a:r>
              <a:t> what we need within our power and size constraints."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400" b="1">
                <a:solidFill>
                  <a:srgbClr val="FFFFFF"/>
                </a:solidFill>
                <a:latin typeface="Calibri"/>
              </a:defRPr>
            </a:pPr>
            <a:r>
              <a:t>Portfolio: LingShen Technology  灵生科技</a:t>
            </a:r>
          </a:p>
        </p:txBody>
      </p:sp>
      <p:sp>
        <p:nvSpPr>
          <p:cNvPr id="3" name="Rectangle 2"/>
          <p:cNvSpPr/>
          <p:nvPr/>
        </p:nvSpPr>
        <p:spPr>
          <a:xfrm>
            <a:off x="914400" y="1371600"/>
            <a:ext cx="105156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5943600" cy="4572000"/>
          </a:xfrm>
          <a:prstGeom prst="rect">
            <a:avLst/>
          </a:prstGeom>
          <a:noFill/>
        </p:spPr>
        <p:txBody>
          <a:bodyPr wrap="square" anchor="t"/>
          <a:lstStyle/>
          <a:p>
            <a:pPr algn="l">
              <a:spcAft>
                <a:spcPts val="600"/>
              </a:spcAft>
              <a:defRPr sz="1800" b="0">
                <a:solidFill>
                  <a:srgbClr val="C0C0C0"/>
                </a:solidFill>
                <a:latin typeface="Calibri"/>
              </a:defRPr>
            </a:pPr>
            <a:r>
              <a:t>•  Tsinghua University origin, founded 2023</a:t>
            </a:r>
          </a:p>
          <a:p>
            <a:pPr algn="l">
              <a:spcAft>
                <a:spcPts val="600"/>
              </a:spcAft>
              <a:defRPr sz="1800" b="0">
                <a:solidFill>
                  <a:srgbClr val="C0C0C0"/>
                </a:solidFill>
                <a:latin typeface="Calibri"/>
              </a:defRPr>
            </a:pPr>
            <a:r>
              <a:t>•  “Universal Brain” platform for humanoid robots</a:t>
            </a:r>
          </a:p>
          <a:p>
            <a:pPr algn="l">
              <a:spcAft>
                <a:spcPts val="600"/>
              </a:spcAft>
              <a:defRPr sz="1800" b="0">
                <a:solidFill>
                  <a:srgbClr val="C0C0C0"/>
                </a:solidFill>
                <a:latin typeface="Calibri"/>
              </a:defRPr>
            </a:pPr>
            <a:r>
              <a:t>•  4-in-1 embodied large model:</a:t>
            </a:r>
          </a:p>
          <a:p>
            <a:pPr algn="l">
              <a:spcAft>
                <a:spcPts val="600"/>
              </a:spcAft>
              <a:defRPr sz="1800" b="0">
                <a:solidFill>
                  <a:srgbClr val="C0C0C0"/>
                </a:solidFill>
                <a:latin typeface="Calibri"/>
              </a:defRPr>
            </a:pPr>
            <a:r>
              <a:t>     ▸  Perception + Movement + Manipulation + Planning</a:t>
            </a:r>
          </a:p>
          <a:p>
            <a:pPr algn="l">
              <a:spcAft>
                <a:spcPts val="600"/>
              </a:spcAft>
              <a:defRPr sz="1800" b="0">
                <a:solidFill>
                  <a:srgbClr val="C0C0C0"/>
                </a:solidFill>
                <a:latin typeface="Calibri"/>
              </a:defRPr>
            </a:pPr>
            <a:r>
              <a:t>•  L1 Robot: 26 DOF, 85 kg, NVIDIA Orin, 12h+ endurance</a:t>
            </a:r>
          </a:p>
          <a:p>
            <a:pPr algn="l">
              <a:spcAft>
                <a:spcPts val="600"/>
              </a:spcAft>
              <a:defRPr sz="1800" b="0">
                <a:solidFill>
                  <a:srgbClr val="C0C0C0"/>
                </a:solidFill>
                <a:latin typeface="Calibri"/>
              </a:defRPr>
            </a:pPr>
            <a:r>
              <a:t>•  &lt;300 samples for new scenario, deploy in 5 hours</a:t>
            </a:r>
          </a:p>
          <a:p>
            <a:pPr algn="l">
              <a:spcAft>
                <a:spcPts val="600"/>
              </a:spcAft>
              <a:defRPr sz="1800" b="0">
                <a:solidFill>
                  <a:srgbClr val="C0C0C0"/>
                </a:solidFill>
                <a:latin typeface="Calibri"/>
              </a:defRPr>
            </a:pPr>
            <a:r>
              <a:t>•  Deployed: smart manufacturing, hospital rounds, DC inspection</a:t>
            </a:r>
          </a:p>
          <a:p>
            <a:pPr algn="l">
              <a:spcAft>
                <a:spcPts val="600"/>
              </a:spcAft>
              <a:defRPr sz="1800" b="0">
                <a:solidFill>
                  <a:srgbClr val="C0C0C0"/>
                </a:solidFill>
                <a:latin typeface="Calibri"/>
              </a:defRPr>
            </a:pPr>
            <a:r>
              <a:t>•  Pre-A / Pre-A+ funding: &gt;100M RMB</a:t>
            </a:r>
          </a:p>
        </p:txBody>
      </p:sp>
      <p:pic>
        <p:nvPicPr>
          <p:cNvPr id="5" name="Picture 4" descr="lingshen_1.jpg"/>
          <p:cNvPicPr>
            <a:picLocks noChangeAspect="1"/>
          </p:cNvPicPr>
          <p:nvPr/>
        </p:nvPicPr>
        <p:blipFill>
          <a:blip r:embed="rId2"/>
          <a:stretch>
            <a:fillRect/>
          </a:stretch>
        </p:blipFill>
        <p:spPr>
          <a:xfrm>
            <a:off x="7498079" y="2248444"/>
            <a:ext cx="4114800" cy="290975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400" b="1">
                <a:solidFill>
                  <a:srgbClr val="FFFFFF"/>
                </a:solidFill>
                <a:latin typeface="Calibri"/>
              </a:defRPr>
            </a:pPr>
            <a:r>
              <a:t>Portfolio: TIEN Kung  天工</a:t>
            </a:r>
          </a:p>
        </p:txBody>
      </p:sp>
      <p:sp>
        <p:nvSpPr>
          <p:cNvPr id="3" name="Rectangle 2"/>
          <p:cNvSpPr/>
          <p:nvPr/>
        </p:nvSpPr>
        <p:spPr>
          <a:xfrm>
            <a:off x="914400" y="1371600"/>
            <a:ext cx="105156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5943600" cy="4114800"/>
          </a:xfrm>
          <a:prstGeom prst="rect">
            <a:avLst/>
          </a:prstGeom>
          <a:noFill/>
        </p:spPr>
        <p:txBody>
          <a:bodyPr wrap="square" anchor="t"/>
          <a:lstStyle/>
          <a:p>
            <a:pPr algn="l">
              <a:spcAft>
                <a:spcPts val="600"/>
              </a:spcAft>
              <a:defRPr sz="1800" b="0">
                <a:solidFill>
                  <a:srgbClr val="C0C0C0"/>
                </a:solidFill>
                <a:latin typeface="Calibri"/>
              </a:defRPr>
            </a:pPr>
            <a:r>
              <a:t>•  Beijing Innovation Center of Humanoid Robotics (MIIT)</a:t>
            </a:r>
          </a:p>
          <a:p>
            <a:pPr algn="l">
              <a:spcAft>
                <a:spcPts val="600"/>
              </a:spcAft>
              <a:defRPr sz="1800" b="0">
                <a:solidFill>
                  <a:srgbClr val="C0C0C0"/>
                </a:solidFill>
                <a:latin typeface="Calibri"/>
              </a:defRPr>
            </a:pPr>
            <a:r>
              <a:t>•  World’s first pure-electric full-size humanoid running at 6 km/h</a:t>
            </a:r>
          </a:p>
          <a:p>
            <a:pPr algn="l">
              <a:spcAft>
                <a:spcPts val="600"/>
              </a:spcAft>
              <a:defRPr sz="1800" b="0">
                <a:solidFill>
                  <a:srgbClr val="C0C0C0"/>
                </a:solidFill>
                <a:latin typeface="Calibri"/>
              </a:defRPr>
            </a:pPr>
            <a:r>
              <a:t>•  v2.0 Pro: 173 cm, 73 kg, 42 DOF (incl. dexterous hands)</a:t>
            </a:r>
          </a:p>
          <a:p>
            <a:pPr algn="l">
              <a:spcAft>
                <a:spcPts val="600"/>
              </a:spcAft>
              <a:defRPr sz="1800" b="0">
                <a:solidFill>
                  <a:srgbClr val="C0C0C0"/>
                </a:solidFill>
                <a:latin typeface="Calibri"/>
              </a:defRPr>
            </a:pPr>
            <a:r>
              <a:t>•  On-body compute: dual NVIDIA Orin AGX → 550 TOPS</a:t>
            </a:r>
          </a:p>
          <a:p>
            <a:pPr algn="l">
              <a:spcAft>
                <a:spcPts val="600"/>
              </a:spcAft>
              <a:defRPr sz="1800" b="0">
                <a:solidFill>
                  <a:srgbClr val="C0C0C0"/>
                </a:solidFill>
                <a:latin typeface="Calibri"/>
              </a:defRPr>
            </a:pPr>
            <a:r>
              <a:t>•  Payload: 4 kg/arm (16 kg bimanual), 3.5 h endurance</a:t>
            </a:r>
          </a:p>
          <a:p>
            <a:pPr algn="l">
              <a:spcAft>
                <a:spcPts val="600"/>
              </a:spcAft>
              <a:defRPr sz="1800" b="0">
                <a:solidFill>
                  <a:srgbClr val="C0C0C0"/>
                </a:solidFill>
                <a:latin typeface="Calibri"/>
              </a:defRPr>
            </a:pPr>
            <a:r>
              <a:t>•  Open-source universal robot mother platform</a:t>
            </a:r>
          </a:p>
        </p:txBody>
      </p:sp>
      <p:pic>
        <p:nvPicPr>
          <p:cNvPr id="5" name="Picture 4" descr="tienkung_3.jpg"/>
          <p:cNvPicPr>
            <a:picLocks noChangeAspect="1"/>
          </p:cNvPicPr>
          <p:nvPr/>
        </p:nvPicPr>
        <p:blipFill>
          <a:blip r:embed="rId2"/>
          <a:stretch>
            <a:fillRect/>
          </a:stretch>
        </p:blipFill>
        <p:spPr>
          <a:xfrm>
            <a:off x="7498079" y="2310136"/>
            <a:ext cx="4114800" cy="278636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
            <a:ext cx="10058400" cy="640080"/>
          </a:xfrm>
          <a:prstGeom prst="rect">
            <a:avLst/>
          </a:prstGeom>
          <a:noFill/>
        </p:spPr>
        <p:txBody>
          <a:bodyPr wrap="square" anchor="t"/>
          <a:lstStyle/>
          <a:p>
            <a:pPr algn="l">
              <a:defRPr sz="3400" b="1">
                <a:solidFill>
                  <a:srgbClr val="FFFFFF"/>
                </a:solidFill>
                <a:latin typeface="Calibri"/>
              </a:defRPr>
            </a:pPr>
            <a:r>
              <a:t>Where Embodied AI Is Already Working</a:t>
            </a:r>
          </a:p>
        </p:txBody>
      </p:sp>
      <p:sp>
        <p:nvSpPr>
          <p:cNvPr id="3" name="Rectangle 2"/>
          <p:cNvSpPr/>
          <p:nvPr/>
        </p:nvSpPr>
        <p:spPr>
          <a:xfrm>
            <a:off x="914400" y="1097280"/>
            <a:ext cx="105156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3474720" cy="4754880"/>
          </a:xfrm>
          <a:prstGeom prst="roundRect">
            <a:avLst/>
          </a:prstGeom>
          <a:solidFill>
            <a:srgbClr val="1A1A30"/>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3108960" cy="457200"/>
          </a:xfrm>
          <a:prstGeom prst="rect">
            <a:avLst/>
          </a:prstGeom>
          <a:noFill/>
        </p:spPr>
        <p:txBody>
          <a:bodyPr wrap="square" anchor="t"/>
          <a:lstStyle/>
          <a:p>
            <a:pPr algn="l">
              <a:defRPr sz="2000" b="1">
                <a:solidFill>
                  <a:srgbClr val="22C55E"/>
                </a:solidFill>
                <a:latin typeface="Calibri"/>
              </a:defRPr>
            </a:pPr>
            <a:r>
              <a:t>Smart Manufacturing</a:t>
            </a:r>
          </a:p>
        </p:txBody>
      </p:sp>
      <p:sp>
        <p:nvSpPr>
          <p:cNvPr id="6" name="Rectangle 5"/>
          <p:cNvSpPr/>
          <p:nvPr/>
        </p:nvSpPr>
        <p:spPr>
          <a:xfrm>
            <a:off x="914400" y="1965960"/>
            <a:ext cx="3108960" cy="36576"/>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2926080" cy="3840480"/>
          </a:xfrm>
          <a:prstGeom prst="rect">
            <a:avLst/>
          </a:prstGeom>
          <a:noFill/>
        </p:spPr>
        <p:txBody>
          <a:bodyPr wrap="square" anchor="t"/>
          <a:lstStyle/>
          <a:p>
            <a:pPr algn="l">
              <a:spcAft>
                <a:spcPts val="600"/>
              </a:spcAft>
              <a:defRPr sz="1400" b="0">
                <a:solidFill>
                  <a:srgbClr val="C0C0C0"/>
                </a:solidFill>
                <a:latin typeface="Calibri"/>
              </a:defRPr>
            </a:pPr>
            <a:r>
              <a:t>• Injection molding + stamping</a:t>
            </a:r>
          </a:p>
          <a:p>
            <a:pPr algn="l">
              <a:spcAft>
                <a:spcPts val="600"/>
              </a:spcAft>
              <a:defRPr sz="1400" b="0">
                <a:solidFill>
                  <a:srgbClr val="C0C0C0"/>
                </a:solidFill>
                <a:latin typeface="Calibri"/>
              </a:defRPr>
            </a:pPr>
            <a:r>
              <a:t>  production lines</a:t>
            </a:r>
          </a:p>
          <a:p>
            <a:pPr algn="l">
              <a:spcAft>
                <a:spcPts val="600"/>
              </a:spcAft>
              <a:defRPr sz="1400" b="0">
                <a:solidFill>
                  <a:srgbClr val="C0C0C0"/>
                </a:solidFill>
                <a:latin typeface="Calibri"/>
              </a:defRPr>
            </a:pPr>
            <a:r>
              <a:t>• Grasping, sorting, quality</a:t>
            </a:r>
          </a:p>
          <a:p>
            <a:pPr algn="l">
              <a:spcAft>
                <a:spcPts val="600"/>
              </a:spcAft>
              <a:defRPr sz="1400" b="0">
                <a:solidFill>
                  <a:srgbClr val="C0C0C0"/>
                </a:solidFill>
                <a:latin typeface="Calibri"/>
              </a:defRPr>
            </a:pPr>
            <a:r>
              <a:t>  inspection, assembly</a:t>
            </a:r>
          </a:p>
          <a:p>
            <a:pPr algn="l">
              <a:spcAft>
                <a:spcPts val="600"/>
              </a:spcAft>
              <a:defRPr sz="1400" b="0">
                <a:solidFill>
                  <a:srgbClr val="C0C0C0"/>
                </a:solidFill>
                <a:latin typeface="Calibri"/>
              </a:defRPr>
            </a:pPr>
            <a:r>
              <a:t>• ROI: replaces 2–3 manual</a:t>
            </a:r>
          </a:p>
          <a:p>
            <a:pPr algn="l">
              <a:spcAft>
                <a:spcPts val="600"/>
              </a:spcAft>
              <a:defRPr sz="1400" b="0">
                <a:solidFill>
                  <a:srgbClr val="C0C0C0"/>
                </a:solidFill>
                <a:latin typeface="Calibri"/>
              </a:defRPr>
            </a:pPr>
            <a:r>
              <a:t>  workers per robot</a:t>
            </a:r>
          </a:p>
          <a:p>
            <a:pPr algn="l">
              <a:spcAft>
                <a:spcPts val="600"/>
              </a:spcAft>
              <a:defRPr sz="1400" b="0">
                <a:solidFill>
                  <a:srgbClr val="C0C0C0"/>
                </a:solidFill>
                <a:latin typeface="Calibri"/>
              </a:defRPr>
            </a:pPr>
          </a:p>
          <a:p>
            <a:pPr algn="l">
              <a:spcAft>
                <a:spcPts val="600"/>
              </a:spcAft>
              <a:defRPr sz="1400" b="1">
                <a:solidFill>
                  <a:srgbClr val="FFD700"/>
                </a:solidFill>
                <a:latin typeface="Calibri"/>
              </a:defRPr>
            </a:pPr>
            <a:r>
              <a:t>LingShen L1 deployed</a:t>
            </a:r>
          </a:p>
        </p:txBody>
      </p:sp>
      <p:sp>
        <p:nvSpPr>
          <p:cNvPr id="8" name="Rounded Rectangle 7"/>
          <p:cNvSpPr/>
          <p:nvPr/>
        </p:nvSpPr>
        <p:spPr>
          <a:xfrm>
            <a:off x="4572000" y="1371600"/>
            <a:ext cx="3474720" cy="4754880"/>
          </a:xfrm>
          <a:prstGeom prst="roundRect">
            <a:avLst/>
          </a:prstGeom>
          <a:solidFill>
            <a:srgbClr val="1A1A30"/>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463040"/>
            <a:ext cx="3108960" cy="457200"/>
          </a:xfrm>
          <a:prstGeom prst="rect">
            <a:avLst/>
          </a:prstGeom>
          <a:noFill/>
        </p:spPr>
        <p:txBody>
          <a:bodyPr wrap="square" anchor="t"/>
          <a:lstStyle/>
          <a:p>
            <a:pPr algn="l">
              <a:defRPr sz="2000" b="1">
                <a:solidFill>
                  <a:srgbClr val="0EA5E9"/>
                </a:solidFill>
                <a:latin typeface="Calibri"/>
              </a:defRPr>
            </a:pPr>
            <a:r>
              <a:t>Hospital Ward Rounds</a:t>
            </a:r>
          </a:p>
        </p:txBody>
      </p:sp>
      <p:sp>
        <p:nvSpPr>
          <p:cNvPr id="10" name="Rectangle 9"/>
          <p:cNvSpPr/>
          <p:nvPr/>
        </p:nvSpPr>
        <p:spPr>
          <a:xfrm>
            <a:off x="4754880" y="1965960"/>
            <a:ext cx="310896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2103120"/>
            <a:ext cx="2926080" cy="3840480"/>
          </a:xfrm>
          <a:prstGeom prst="rect">
            <a:avLst/>
          </a:prstGeom>
          <a:noFill/>
        </p:spPr>
        <p:txBody>
          <a:bodyPr wrap="square" anchor="t"/>
          <a:lstStyle/>
          <a:p>
            <a:pPr algn="l">
              <a:spcAft>
                <a:spcPts val="600"/>
              </a:spcAft>
              <a:defRPr sz="1400" b="0">
                <a:solidFill>
                  <a:srgbClr val="C0C0C0"/>
                </a:solidFill>
                <a:latin typeface="Calibri"/>
              </a:defRPr>
            </a:pPr>
            <a:r>
              <a:t>• Automated vital signs</a:t>
            </a:r>
          </a:p>
          <a:p>
            <a:pPr algn="l">
              <a:spcAft>
                <a:spcPts val="600"/>
              </a:spcAft>
              <a:defRPr sz="1400" b="0">
                <a:solidFill>
                  <a:srgbClr val="C0C0C0"/>
                </a:solidFill>
                <a:latin typeface="Calibri"/>
              </a:defRPr>
            </a:pPr>
            <a:r>
              <a:t>  (BP, SpO₂, temperature)</a:t>
            </a:r>
          </a:p>
          <a:p>
            <a:pPr algn="l">
              <a:spcAft>
                <a:spcPts val="600"/>
              </a:spcAft>
              <a:defRPr sz="1400" b="0">
                <a:solidFill>
                  <a:srgbClr val="C0C0C0"/>
                </a:solidFill>
                <a:latin typeface="Calibri"/>
              </a:defRPr>
            </a:pPr>
            <a:r>
              <a:t>• 30 wards/morning, data</a:t>
            </a:r>
          </a:p>
          <a:p>
            <a:pPr algn="l">
              <a:spcAft>
                <a:spcPts val="600"/>
              </a:spcAft>
              <a:defRPr sz="1400" b="0">
                <a:solidFill>
                  <a:srgbClr val="C0C0C0"/>
                </a:solidFill>
                <a:latin typeface="Calibri"/>
              </a:defRPr>
            </a:pPr>
            <a:r>
              <a:t>  synced to HIS system</a:t>
            </a:r>
          </a:p>
          <a:p>
            <a:pPr algn="l">
              <a:spcAft>
                <a:spcPts val="600"/>
              </a:spcAft>
              <a:defRPr sz="1400" b="0">
                <a:solidFill>
                  <a:srgbClr val="C0C0C0"/>
                </a:solidFill>
                <a:latin typeface="Calibri"/>
              </a:defRPr>
            </a:pPr>
            <a:r>
              <a:t>• Medical LLM + voice</a:t>
            </a:r>
          </a:p>
          <a:p>
            <a:pPr algn="l">
              <a:spcAft>
                <a:spcPts val="600"/>
              </a:spcAft>
              <a:defRPr sz="1400" b="0">
                <a:solidFill>
                  <a:srgbClr val="C0C0C0"/>
                </a:solidFill>
                <a:latin typeface="Calibri"/>
              </a:defRPr>
            </a:pPr>
            <a:r>
              <a:t>  interaction for pre-diagnosis</a:t>
            </a:r>
          </a:p>
          <a:p>
            <a:pPr algn="l">
              <a:spcAft>
                <a:spcPts val="600"/>
              </a:spcAft>
              <a:defRPr sz="1400" b="0">
                <a:solidFill>
                  <a:srgbClr val="C0C0C0"/>
                </a:solidFill>
                <a:latin typeface="Calibri"/>
              </a:defRPr>
            </a:pPr>
          </a:p>
          <a:p>
            <a:pPr algn="l">
              <a:spcAft>
                <a:spcPts val="600"/>
              </a:spcAft>
              <a:defRPr sz="1400" b="1">
                <a:solidFill>
                  <a:srgbClr val="FFD700"/>
                </a:solidFill>
                <a:latin typeface="Calibri"/>
              </a:defRPr>
            </a:pPr>
            <a:r>
              <a:t>LingShen L1 deployed</a:t>
            </a:r>
          </a:p>
        </p:txBody>
      </p:sp>
      <p:sp>
        <p:nvSpPr>
          <p:cNvPr id="12" name="Rounded Rectangle 11"/>
          <p:cNvSpPr/>
          <p:nvPr/>
        </p:nvSpPr>
        <p:spPr>
          <a:xfrm>
            <a:off x="8412480" y="1371600"/>
            <a:ext cx="3474720" cy="4754880"/>
          </a:xfrm>
          <a:prstGeom prst="roundRect">
            <a:avLst/>
          </a:prstGeom>
          <a:solidFill>
            <a:srgbClr val="1A1A30"/>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463040"/>
            <a:ext cx="3108960" cy="457200"/>
          </a:xfrm>
          <a:prstGeom prst="rect">
            <a:avLst/>
          </a:prstGeom>
          <a:noFill/>
        </p:spPr>
        <p:txBody>
          <a:bodyPr wrap="square" anchor="t"/>
          <a:lstStyle/>
          <a:p>
            <a:pPr algn="l">
              <a:defRPr sz="2000" b="1">
                <a:solidFill>
                  <a:srgbClr val="F97316"/>
                </a:solidFill>
                <a:latin typeface="Calibri"/>
              </a:defRPr>
            </a:pPr>
            <a:r>
              <a:t>Data Center Inspection</a:t>
            </a:r>
          </a:p>
        </p:txBody>
      </p:sp>
      <p:sp>
        <p:nvSpPr>
          <p:cNvPr id="14" name="Rectangle 13"/>
          <p:cNvSpPr/>
          <p:nvPr/>
        </p:nvSpPr>
        <p:spPr>
          <a:xfrm>
            <a:off x="8595360" y="1965960"/>
            <a:ext cx="3108960" cy="36576"/>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0" y="2103120"/>
            <a:ext cx="2926080" cy="3840480"/>
          </a:xfrm>
          <a:prstGeom prst="rect">
            <a:avLst/>
          </a:prstGeom>
          <a:noFill/>
        </p:spPr>
        <p:txBody>
          <a:bodyPr wrap="square" anchor="t"/>
          <a:lstStyle/>
          <a:p>
            <a:pPr algn="l">
              <a:spcAft>
                <a:spcPts val="600"/>
              </a:spcAft>
              <a:defRPr sz="1400" b="0">
                <a:solidFill>
                  <a:srgbClr val="C0C0C0"/>
                </a:solidFill>
                <a:latin typeface="Calibri"/>
              </a:defRPr>
            </a:pPr>
            <a:r>
              <a:t>• 24/7 autonomous patrol</a:t>
            </a:r>
          </a:p>
          <a:p>
            <a:pPr algn="l">
              <a:spcAft>
                <a:spcPts val="600"/>
              </a:spcAft>
              <a:defRPr sz="1400" b="0">
                <a:solidFill>
                  <a:srgbClr val="C0C0C0"/>
                </a:solidFill>
                <a:latin typeface="Calibri"/>
              </a:defRPr>
            </a:pPr>
            <a:r>
              <a:t>  of server racks</a:t>
            </a:r>
          </a:p>
          <a:p>
            <a:pPr algn="l">
              <a:spcAft>
                <a:spcPts val="600"/>
              </a:spcAft>
              <a:defRPr sz="1400" b="0">
                <a:solidFill>
                  <a:srgbClr val="C0C0C0"/>
                </a:solidFill>
                <a:latin typeface="Calibri"/>
              </a:defRPr>
            </a:pPr>
            <a:r>
              <a:t>• Anomaly detection: power-on/</a:t>
            </a:r>
          </a:p>
          <a:p>
            <a:pPr algn="l">
              <a:spcAft>
                <a:spcPts val="600"/>
              </a:spcAft>
              <a:defRPr sz="1400" b="0">
                <a:solidFill>
                  <a:srgbClr val="C0C0C0"/>
                </a:solidFill>
                <a:latin typeface="Calibri"/>
              </a:defRPr>
            </a:pPr>
            <a:r>
              <a:t>  off, restart, LED status</a:t>
            </a:r>
          </a:p>
          <a:p>
            <a:pPr algn="l">
              <a:spcAft>
                <a:spcPts val="600"/>
              </a:spcAft>
              <a:defRPr sz="1400" b="0">
                <a:solidFill>
                  <a:srgbClr val="C0C0C0"/>
                </a:solidFill>
                <a:latin typeface="Calibri"/>
              </a:defRPr>
            </a:pPr>
            <a:r>
              <a:t>• &lt;300 samples to train</a:t>
            </a:r>
          </a:p>
          <a:p>
            <a:pPr algn="l">
              <a:spcAft>
                <a:spcPts val="600"/>
              </a:spcAft>
              <a:defRPr sz="1400" b="0">
                <a:solidFill>
                  <a:srgbClr val="C0C0C0"/>
                </a:solidFill>
                <a:latin typeface="Calibri"/>
              </a:defRPr>
            </a:pPr>
            <a:r>
              <a:t>  for new DC environment</a:t>
            </a:r>
          </a:p>
          <a:p>
            <a:pPr algn="l">
              <a:spcAft>
                <a:spcPts val="600"/>
              </a:spcAft>
              <a:defRPr sz="1400" b="0">
                <a:solidFill>
                  <a:srgbClr val="C0C0C0"/>
                </a:solidFill>
                <a:latin typeface="Calibri"/>
              </a:defRPr>
            </a:pPr>
          </a:p>
          <a:p>
            <a:pPr algn="l">
              <a:spcAft>
                <a:spcPts val="600"/>
              </a:spcAft>
              <a:defRPr sz="1400" b="1">
                <a:solidFill>
                  <a:srgbClr val="FFD700"/>
                </a:solidFill>
                <a:latin typeface="Calibri"/>
              </a:defRPr>
            </a:pPr>
            <a:r>
              <a:t>LingShen L1 deployed</a:t>
            </a:r>
          </a:p>
        </p:txBody>
      </p:sp>
      <p:sp>
        <p:nvSpPr>
          <p:cNvPr id="16" name="TextBox 15"/>
          <p:cNvSpPr txBox="1"/>
          <p:nvPr/>
        </p:nvSpPr>
        <p:spPr>
          <a:xfrm>
            <a:off x="914400" y="6309360"/>
            <a:ext cx="10058400" cy="457200"/>
          </a:xfrm>
          <a:prstGeom prst="rect">
            <a:avLst/>
          </a:prstGeom>
          <a:noFill/>
        </p:spPr>
        <p:txBody>
          <a:bodyPr wrap="square" anchor="t"/>
          <a:lstStyle/>
          <a:p>
            <a:pPr algn="ctr">
              <a:defRPr sz="1400" b="0">
                <a:solidFill>
                  <a:srgbClr val="A0A0A0"/>
                </a:solidFill>
                <a:latin typeface="Calibri"/>
              </a:defRPr>
            </a:pPr>
            <a:r>
              <a:t>TIEN Kung 2.0: open-source platform enabling logistics, elder care, hazardous environments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
            <a:ext cx="10058400" cy="731520"/>
          </a:xfrm>
          <a:prstGeom prst="rect">
            <a:avLst/>
          </a:prstGeom>
          <a:noFill/>
        </p:spPr>
        <p:txBody>
          <a:bodyPr wrap="square" anchor="t"/>
          <a:lstStyle/>
          <a:p>
            <a:pPr algn="l">
              <a:defRPr sz="3400" b="1">
                <a:solidFill>
                  <a:srgbClr val="FFFFFF"/>
                </a:solidFill>
                <a:latin typeface="Calibri"/>
              </a:defRPr>
            </a:pPr>
            <a:r>
              <a:t>Cloud Chips vs. On-Body Chips: Two Worlds</a:t>
            </a:r>
          </a:p>
        </p:txBody>
      </p:sp>
      <p:sp>
        <p:nvSpPr>
          <p:cNvPr id="3" name="Rectangle 2"/>
          <p:cNvSpPr/>
          <p:nvPr/>
        </p:nvSpPr>
        <p:spPr>
          <a:xfrm>
            <a:off x="731520" y="1280160"/>
            <a:ext cx="3200400" cy="594360"/>
          </a:xfrm>
          <a:prstGeom prst="rect">
            <a:avLst/>
          </a:prstGeom>
          <a:solidFill>
            <a:srgbClr val="151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977639" y="1280160"/>
            <a:ext cx="3840480" cy="594360"/>
          </a:xfrm>
          <a:prstGeom prst="rect">
            <a:avLst/>
          </a:prstGeom>
          <a:solidFill>
            <a:srgbClr val="151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63840" y="1280160"/>
            <a:ext cx="3840480" cy="594360"/>
          </a:xfrm>
          <a:prstGeom prst="rect">
            <a:avLst/>
          </a:prstGeom>
          <a:solidFill>
            <a:srgbClr val="151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25880"/>
            <a:ext cx="2926080" cy="502920"/>
          </a:xfrm>
          <a:prstGeom prst="rect">
            <a:avLst/>
          </a:prstGeom>
          <a:noFill/>
        </p:spPr>
        <p:txBody>
          <a:bodyPr wrap="square" anchor="t"/>
          <a:lstStyle/>
          <a:p>
            <a:pPr algn="l">
              <a:defRPr sz="1600" b="1">
                <a:solidFill>
                  <a:srgbClr val="A0A0A0"/>
                </a:solidFill>
                <a:latin typeface="Calibri"/>
              </a:defRPr>
            </a:pPr>
          </a:p>
        </p:txBody>
      </p:sp>
      <p:sp>
        <p:nvSpPr>
          <p:cNvPr id="7" name="TextBox 6"/>
          <p:cNvSpPr txBox="1"/>
          <p:nvPr/>
        </p:nvSpPr>
        <p:spPr>
          <a:xfrm>
            <a:off x="4160520" y="1325880"/>
            <a:ext cx="3474720" cy="502920"/>
          </a:xfrm>
          <a:prstGeom prst="rect">
            <a:avLst/>
          </a:prstGeom>
          <a:noFill/>
        </p:spPr>
        <p:txBody>
          <a:bodyPr wrap="square" anchor="t"/>
          <a:lstStyle/>
          <a:p>
            <a:pPr algn="ctr">
              <a:defRPr sz="1600" b="1">
                <a:solidFill>
                  <a:srgbClr val="0EA5E9"/>
                </a:solidFill>
                <a:latin typeface="Calibri"/>
              </a:defRPr>
            </a:pPr>
            <a:r>
              <a:t>Cloud</a:t>
            </a:r>
          </a:p>
        </p:txBody>
      </p:sp>
      <p:sp>
        <p:nvSpPr>
          <p:cNvPr id="8" name="TextBox 7"/>
          <p:cNvSpPr txBox="1"/>
          <p:nvPr/>
        </p:nvSpPr>
        <p:spPr>
          <a:xfrm>
            <a:off x="8046720" y="1325880"/>
            <a:ext cx="3474720" cy="502920"/>
          </a:xfrm>
          <a:prstGeom prst="rect">
            <a:avLst/>
          </a:prstGeom>
          <a:noFill/>
        </p:spPr>
        <p:txBody>
          <a:bodyPr wrap="square" anchor="t"/>
          <a:lstStyle/>
          <a:p>
            <a:pPr algn="ctr">
              <a:defRPr sz="1600" b="1">
                <a:solidFill>
                  <a:srgbClr val="22C55E"/>
                </a:solidFill>
                <a:latin typeface="Calibri"/>
              </a:defRPr>
            </a:pPr>
            <a:r>
              <a:t>On-Body</a:t>
            </a:r>
          </a:p>
        </p:txBody>
      </p:sp>
      <p:sp>
        <p:nvSpPr>
          <p:cNvPr id="9" name="Rectangle 8"/>
          <p:cNvSpPr/>
          <p:nvPr/>
        </p:nvSpPr>
        <p:spPr>
          <a:xfrm>
            <a:off x="731520" y="1920239"/>
            <a:ext cx="320040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77639" y="192023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0" y="192023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965959"/>
            <a:ext cx="2926080" cy="502920"/>
          </a:xfrm>
          <a:prstGeom prst="rect">
            <a:avLst/>
          </a:prstGeom>
          <a:noFill/>
        </p:spPr>
        <p:txBody>
          <a:bodyPr wrap="square" anchor="t"/>
          <a:lstStyle/>
          <a:p>
            <a:pPr algn="l">
              <a:defRPr sz="1800" b="0">
                <a:solidFill>
                  <a:srgbClr val="C0C0C0"/>
                </a:solidFill>
                <a:latin typeface="Calibri"/>
              </a:defRPr>
            </a:pPr>
            <a:r>
              <a:t>Compute</a:t>
            </a:r>
          </a:p>
        </p:txBody>
      </p:sp>
      <p:sp>
        <p:nvSpPr>
          <p:cNvPr id="13" name="TextBox 12"/>
          <p:cNvSpPr txBox="1"/>
          <p:nvPr/>
        </p:nvSpPr>
        <p:spPr>
          <a:xfrm>
            <a:off x="4160520" y="1965959"/>
            <a:ext cx="3474720" cy="502920"/>
          </a:xfrm>
          <a:prstGeom prst="rect">
            <a:avLst/>
          </a:prstGeom>
          <a:noFill/>
        </p:spPr>
        <p:txBody>
          <a:bodyPr wrap="square" anchor="t"/>
          <a:lstStyle/>
          <a:p>
            <a:pPr algn="ctr">
              <a:defRPr sz="1800" b="0">
                <a:solidFill>
                  <a:srgbClr val="FFFFFF"/>
                </a:solidFill>
                <a:latin typeface="Calibri"/>
              </a:defRPr>
            </a:pPr>
            <a:r>
              <a:t>PetaFLOPS</a:t>
            </a:r>
          </a:p>
        </p:txBody>
      </p:sp>
      <p:sp>
        <p:nvSpPr>
          <p:cNvPr id="14" name="TextBox 13"/>
          <p:cNvSpPr txBox="1"/>
          <p:nvPr/>
        </p:nvSpPr>
        <p:spPr>
          <a:xfrm>
            <a:off x="8046720" y="1965959"/>
            <a:ext cx="3474720" cy="502920"/>
          </a:xfrm>
          <a:prstGeom prst="rect">
            <a:avLst/>
          </a:prstGeom>
          <a:noFill/>
        </p:spPr>
        <p:txBody>
          <a:bodyPr wrap="square" anchor="t"/>
          <a:lstStyle/>
          <a:p>
            <a:pPr algn="ctr">
              <a:defRPr sz="1800" b="0">
                <a:solidFill>
                  <a:srgbClr val="FFFFFF"/>
                </a:solidFill>
                <a:latin typeface="Calibri"/>
              </a:defRPr>
            </a:pPr>
            <a:r>
              <a:t>550 TOPS (dual Orin)</a:t>
            </a:r>
          </a:p>
        </p:txBody>
      </p:sp>
      <p:sp>
        <p:nvSpPr>
          <p:cNvPr id="15" name="Rectangle 14"/>
          <p:cNvSpPr/>
          <p:nvPr/>
        </p:nvSpPr>
        <p:spPr>
          <a:xfrm>
            <a:off x="731520" y="2560320"/>
            <a:ext cx="320040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77639" y="2560320"/>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2560320"/>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606040"/>
            <a:ext cx="2926080" cy="502920"/>
          </a:xfrm>
          <a:prstGeom prst="rect">
            <a:avLst/>
          </a:prstGeom>
          <a:noFill/>
        </p:spPr>
        <p:txBody>
          <a:bodyPr wrap="square" anchor="t"/>
          <a:lstStyle/>
          <a:p>
            <a:pPr algn="l">
              <a:defRPr sz="1800" b="0">
                <a:solidFill>
                  <a:srgbClr val="C0C0C0"/>
                </a:solidFill>
                <a:latin typeface="Calibri"/>
              </a:defRPr>
            </a:pPr>
            <a:r>
              <a:t>Power</a:t>
            </a:r>
          </a:p>
        </p:txBody>
      </p:sp>
      <p:sp>
        <p:nvSpPr>
          <p:cNvPr id="19" name="TextBox 18"/>
          <p:cNvSpPr txBox="1"/>
          <p:nvPr/>
        </p:nvSpPr>
        <p:spPr>
          <a:xfrm>
            <a:off x="4160520" y="2606040"/>
            <a:ext cx="3474720" cy="502920"/>
          </a:xfrm>
          <a:prstGeom prst="rect">
            <a:avLst/>
          </a:prstGeom>
          <a:noFill/>
        </p:spPr>
        <p:txBody>
          <a:bodyPr wrap="square" anchor="t"/>
          <a:lstStyle/>
          <a:p>
            <a:pPr algn="ctr">
              <a:defRPr sz="1800" b="0">
                <a:solidFill>
                  <a:srgbClr val="FFFFFF"/>
                </a:solidFill>
                <a:latin typeface="Calibri"/>
              </a:defRPr>
            </a:pPr>
            <a:r>
              <a:t>700W (liquid cooled)</a:t>
            </a:r>
          </a:p>
        </p:txBody>
      </p:sp>
      <p:sp>
        <p:nvSpPr>
          <p:cNvPr id="20" name="TextBox 19"/>
          <p:cNvSpPr txBox="1"/>
          <p:nvPr/>
        </p:nvSpPr>
        <p:spPr>
          <a:xfrm>
            <a:off x="8046720" y="2606040"/>
            <a:ext cx="3474720" cy="502920"/>
          </a:xfrm>
          <a:prstGeom prst="rect">
            <a:avLst/>
          </a:prstGeom>
          <a:noFill/>
        </p:spPr>
        <p:txBody>
          <a:bodyPr wrap="square" anchor="t"/>
          <a:lstStyle/>
          <a:p>
            <a:pPr algn="ctr">
              <a:defRPr sz="1800" b="0">
                <a:solidFill>
                  <a:srgbClr val="FFFFFF"/>
                </a:solidFill>
                <a:latin typeface="Calibri"/>
              </a:defRPr>
            </a:pPr>
            <a:r>
              <a:t>&lt;50W (battery)</a:t>
            </a:r>
          </a:p>
        </p:txBody>
      </p:sp>
      <p:sp>
        <p:nvSpPr>
          <p:cNvPr id="21" name="Rectangle 20"/>
          <p:cNvSpPr/>
          <p:nvPr/>
        </p:nvSpPr>
        <p:spPr>
          <a:xfrm>
            <a:off x="731520" y="3200399"/>
            <a:ext cx="320040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977639" y="320039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63840" y="320039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246119"/>
            <a:ext cx="2926080" cy="502920"/>
          </a:xfrm>
          <a:prstGeom prst="rect">
            <a:avLst/>
          </a:prstGeom>
          <a:noFill/>
        </p:spPr>
        <p:txBody>
          <a:bodyPr wrap="square" anchor="t"/>
          <a:lstStyle/>
          <a:p>
            <a:pPr algn="l">
              <a:defRPr sz="1800" b="0">
                <a:solidFill>
                  <a:srgbClr val="C0C0C0"/>
                </a:solidFill>
                <a:latin typeface="Calibri"/>
              </a:defRPr>
            </a:pPr>
            <a:r>
              <a:t>Latency</a:t>
            </a:r>
          </a:p>
        </p:txBody>
      </p:sp>
      <p:sp>
        <p:nvSpPr>
          <p:cNvPr id="25" name="TextBox 24"/>
          <p:cNvSpPr txBox="1"/>
          <p:nvPr/>
        </p:nvSpPr>
        <p:spPr>
          <a:xfrm>
            <a:off x="4160520" y="3246119"/>
            <a:ext cx="3474720" cy="502920"/>
          </a:xfrm>
          <a:prstGeom prst="rect">
            <a:avLst/>
          </a:prstGeom>
          <a:noFill/>
        </p:spPr>
        <p:txBody>
          <a:bodyPr wrap="square" anchor="t"/>
          <a:lstStyle/>
          <a:p>
            <a:pPr algn="ctr">
              <a:defRPr sz="1800" b="0">
                <a:solidFill>
                  <a:srgbClr val="FFFFFF"/>
                </a:solidFill>
                <a:latin typeface="Calibri"/>
              </a:defRPr>
            </a:pPr>
            <a:r>
              <a:t>~1 second OK</a:t>
            </a:r>
          </a:p>
        </p:txBody>
      </p:sp>
      <p:sp>
        <p:nvSpPr>
          <p:cNvPr id="26" name="TextBox 25"/>
          <p:cNvSpPr txBox="1"/>
          <p:nvPr/>
        </p:nvSpPr>
        <p:spPr>
          <a:xfrm>
            <a:off x="8046720" y="3246119"/>
            <a:ext cx="3474720" cy="502920"/>
          </a:xfrm>
          <a:prstGeom prst="rect">
            <a:avLst/>
          </a:prstGeom>
          <a:noFill/>
        </p:spPr>
        <p:txBody>
          <a:bodyPr wrap="square" anchor="t"/>
          <a:lstStyle/>
          <a:p>
            <a:pPr algn="ctr">
              <a:defRPr sz="1800" b="0">
                <a:solidFill>
                  <a:srgbClr val="FFFFFF"/>
                </a:solidFill>
                <a:latin typeface="Calibri"/>
              </a:defRPr>
            </a:pPr>
            <a:r>
              <a:t>&lt;10ms required</a:t>
            </a:r>
          </a:p>
        </p:txBody>
      </p:sp>
      <p:sp>
        <p:nvSpPr>
          <p:cNvPr id="27" name="Rectangle 26"/>
          <p:cNvSpPr/>
          <p:nvPr/>
        </p:nvSpPr>
        <p:spPr>
          <a:xfrm>
            <a:off x="731520" y="3840479"/>
            <a:ext cx="320040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77639" y="3840479"/>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63840" y="3840479"/>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886199"/>
            <a:ext cx="2926080" cy="502920"/>
          </a:xfrm>
          <a:prstGeom prst="rect">
            <a:avLst/>
          </a:prstGeom>
          <a:noFill/>
        </p:spPr>
        <p:txBody>
          <a:bodyPr wrap="square" anchor="t"/>
          <a:lstStyle/>
          <a:p>
            <a:pPr algn="l">
              <a:defRPr sz="1800" b="0">
                <a:solidFill>
                  <a:srgbClr val="C0C0C0"/>
                </a:solidFill>
                <a:latin typeface="Calibri"/>
              </a:defRPr>
            </a:pPr>
            <a:r>
              <a:t>Failure mode</a:t>
            </a:r>
          </a:p>
        </p:txBody>
      </p:sp>
      <p:sp>
        <p:nvSpPr>
          <p:cNvPr id="31" name="TextBox 30"/>
          <p:cNvSpPr txBox="1"/>
          <p:nvPr/>
        </p:nvSpPr>
        <p:spPr>
          <a:xfrm>
            <a:off x="4160520" y="3886199"/>
            <a:ext cx="3474720" cy="502920"/>
          </a:xfrm>
          <a:prstGeom prst="rect">
            <a:avLst/>
          </a:prstGeom>
          <a:noFill/>
        </p:spPr>
        <p:txBody>
          <a:bodyPr wrap="square" anchor="t"/>
          <a:lstStyle/>
          <a:p>
            <a:pPr algn="ctr">
              <a:defRPr sz="1800" b="0">
                <a:solidFill>
                  <a:srgbClr val="FFFFFF"/>
                </a:solidFill>
                <a:latin typeface="Calibri"/>
              </a:defRPr>
            </a:pPr>
            <a:r>
              <a:t>Swap &amp; restart</a:t>
            </a:r>
          </a:p>
        </p:txBody>
      </p:sp>
      <p:sp>
        <p:nvSpPr>
          <p:cNvPr id="32" name="TextBox 31"/>
          <p:cNvSpPr txBox="1"/>
          <p:nvPr/>
        </p:nvSpPr>
        <p:spPr>
          <a:xfrm>
            <a:off x="8046720" y="3886199"/>
            <a:ext cx="3474720" cy="502920"/>
          </a:xfrm>
          <a:prstGeom prst="rect">
            <a:avLst/>
          </a:prstGeom>
          <a:noFill/>
        </p:spPr>
        <p:txBody>
          <a:bodyPr wrap="square" anchor="t"/>
          <a:lstStyle/>
          <a:p>
            <a:pPr algn="ctr">
              <a:defRPr sz="1800" b="0">
                <a:solidFill>
                  <a:srgbClr val="FFFFFF"/>
                </a:solidFill>
                <a:latin typeface="Calibri"/>
              </a:defRPr>
            </a:pPr>
            <a:r>
              <a:t>Cannot fail</a:t>
            </a:r>
          </a:p>
        </p:txBody>
      </p:sp>
      <p:sp>
        <p:nvSpPr>
          <p:cNvPr id="33" name="Rectangle 32"/>
          <p:cNvSpPr/>
          <p:nvPr/>
        </p:nvSpPr>
        <p:spPr>
          <a:xfrm>
            <a:off x="731520" y="4480560"/>
            <a:ext cx="320040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77639" y="4480560"/>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63840" y="4480560"/>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526280"/>
            <a:ext cx="2926080" cy="502920"/>
          </a:xfrm>
          <a:prstGeom prst="rect">
            <a:avLst/>
          </a:prstGeom>
          <a:noFill/>
        </p:spPr>
        <p:txBody>
          <a:bodyPr wrap="square" anchor="t"/>
          <a:lstStyle/>
          <a:p>
            <a:pPr algn="l">
              <a:defRPr sz="1800" b="0">
                <a:solidFill>
                  <a:srgbClr val="C0C0C0"/>
                </a:solidFill>
                <a:latin typeface="Calibri"/>
              </a:defRPr>
            </a:pPr>
            <a:r>
              <a:t>Workload</a:t>
            </a:r>
          </a:p>
        </p:txBody>
      </p:sp>
      <p:sp>
        <p:nvSpPr>
          <p:cNvPr id="37" name="TextBox 36"/>
          <p:cNvSpPr txBox="1"/>
          <p:nvPr/>
        </p:nvSpPr>
        <p:spPr>
          <a:xfrm>
            <a:off x="4160520" y="4526280"/>
            <a:ext cx="3474720" cy="502920"/>
          </a:xfrm>
          <a:prstGeom prst="rect">
            <a:avLst/>
          </a:prstGeom>
          <a:noFill/>
        </p:spPr>
        <p:txBody>
          <a:bodyPr wrap="square" anchor="t"/>
          <a:lstStyle/>
          <a:p>
            <a:pPr algn="ctr">
              <a:defRPr sz="1800" b="0">
                <a:solidFill>
                  <a:srgbClr val="FFFFFF"/>
                </a:solidFill>
                <a:latin typeface="Calibri"/>
              </a:defRPr>
            </a:pPr>
            <a:r>
              <a:t>Single model</a:t>
            </a:r>
          </a:p>
        </p:txBody>
      </p:sp>
      <p:sp>
        <p:nvSpPr>
          <p:cNvPr id="38" name="TextBox 37"/>
          <p:cNvSpPr txBox="1"/>
          <p:nvPr/>
        </p:nvSpPr>
        <p:spPr>
          <a:xfrm>
            <a:off x="8046720" y="4526280"/>
            <a:ext cx="3474720" cy="502920"/>
          </a:xfrm>
          <a:prstGeom prst="rect">
            <a:avLst/>
          </a:prstGeom>
          <a:noFill/>
        </p:spPr>
        <p:txBody>
          <a:bodyPr wrap="square" anchor="t"/>
          <a:lstStyle/>
          <a:p>
            <a:pPr algn="ctr">
              <a:defRPr sz="1800" b="0">
                <a:solidFill>
                  <a:srgbClr val="FFFFFF"/>
                </a:solidFill>
                <a:latin typeface="Calibri"/>
              </a:defRPr>
            </a:pPr>
            <a:r>
              <a:t>Vision+LLM+Motor+Tactile</a:t>
            </a:r>
          </a:p>
        </p:txBody>
      </p:sp>
      <p:sp>
        <p:nvSpPr>
          <p:cNvPr id="39" name="Rectangle 38"/>
          <p:cNvSpPr/>
          <p:nvPr/>
        </p:nvSpPr>
        <p:spPr>
          <a:xfrm>
            <a:off x="731520" y="5120640"/>
            <a:ext cx="320040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77639" y="5120640"/>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63840" y="5120640"/>
            <a:ext cx="3840480" cy="59436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166360"/>
            <a:ext cx="2926080" cy="502920"/>
          </a:xfrm>
          <a:prstGeom prst="rect">
            <a:avLst/>
          </a:prstGeom>
          <a:noFill/>
        </p:spPr>
        <p:txBody>
          <a:bodyPr wrap="square" anchor="t"/>
          <a:lstStyle/>
          <a:p>
            <a:pPr algn="l">
              <a:defRPr sz="1800" b="0">
                <a:solidFill>
                  <a:srgbClr val="C0C0C0"/>
                </a:solidFill>
                <a:latin typeface="Calibri"/>
              </a:defRPr>
            </a:pPr>
            <a:r>
              <a:t>Form factor</a:t>
            </a:r>
          </a:p>
        </p:txBody>
      </p:sp>
      <p:sp>
        <p:nvSpPr>
          <p:cNvPr id="43" name="TextBox 42"/>
          <p:cNvSpPr txBox="1"/>
          <p:nvPr/>
        </p:nvSpPr>
        <p:spPr>
          <a:xfrm>
            <a:off x="4160520" y="5166360"/>
            <a:ext cx="3474720" cy="502920"/>
          </a:xfrm>
          <a:prstGeom prst="rect">
            <a:avLst/>
          </a:prstGeom>
          <a:noFill/>
        </p:spPr>
        <p:txBody>
          <a:bodyPr wrap="square" anchor="t"/>
          <a:lstStyle/>
          <a:p>
            <a:pPr algn="ctr">
              <a:defRPr sz="1800" b="0">
                <a:solidFill>
                  <a:srgbClr val="FFFFFF"/>
                </a:solidFill>
                <a:latin typeface="Calibri"/>
              </a:defRPr>
            </a:pPr>
            <a:r>
              <a:t>Rack-mounted</a:t>
            </a:r>
          </a:p>
        </p:txBody>
      </p:sp>
      <p:sp>
        <p:nvSpPr>
          <p:cNvPr id="44" name="TextBox 43"/>
          <p:cNvSpPr txBox="1"/>
          <p:nvPr/>
        </p:nvSpPr>
        <p:spPr>
          <a:xfrm>
            <a:off x="8046720" y="5166360"/>
            <a:ext cx="3474720" cy="502920"/>
          </a:xfrm>
          <a:prstGeom prst="rect">
            <a:avLst/>
          </a:prstGeom>
          <a:noFill/>
        </p:spPr>
        <p:txBody>
          <a:bodyPr wrap="square" anchor="t"/>
          <a:lstStyle/>
          <a:p>
            <a:pPr algn="ctr">
              <a:defRPr sz="1800" b="0">
                <a:solidFill>
                  <a:srgbClr val="FFFFFF"/>
                </a:solidFill>
                <a:latin typeface="Calibri"/>
              </a:defRPr>
            </a:pPr>
            <a:r>
              <a:t>Fits in 73 kg torso</a:t>
            </a:r>
          </a:p>
        </p:txBody>
      </p:sp>
      <p:sp>
        <p:nvSpPr>
          <p:cNvPr id="45" name="Rectangle 44"/>
          <p:cNvSpPr/>
          <p:nvPr/>
        </p:nvSpPr>
        <p:spPr>
          <a:xfrm>
            <a:off x="731520" y="5760719"/>
            <a:ext cx="320040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977639" y="576071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863840" y="5760719"/>
            <a:ext cx="3840480" cy="5943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5806439"/>
            <a:ext cx="2926080" cy="502920"/>
          </a:xfrm>
          <a:prstGeom prst="rect">
            <a:avLst/>
          </a:prstGeom>
          <a:noFill/>
        </p:spPr>
        <p:txBody>
          <a:bodyPr wrap="square" anchor="t"/>
          <a:lstStyle/>
          <a:p>
            <a:pPr algn="l">
              <a:defRPr sz="1800" b="0">
                <a:solidFill>
                  <a:srgbClr val="C0C0C0"/>
                </a:solidFill>
                <a:latin typeface="Calibri"/>
              </a:defRPr>
            </a:pPr>
            <a:r>
              <a:t>Cost target</a:t>
            </a:r>
          </a:p>
        </p:txBody>
      </p:sp>
      <p:sp>
        <p:nvSpPr>
          <p:cNvPr id="49" name="TextBox 48"/>
          <p:cNvSpPr txBox="1"/>
          <p:nvPr/>
        </p:nvSpPr>
        <p:spPr>
          <a:xfrm>
            <a:off x="4160520" y="5806439"/>
            <a:ext cx="3474720" cy="502920"/>
          </a:xfrm>
          <a:prstGeom prst="rect">
            <a:avLst/>
          </a:prstGeom>
          <a:noFill/>
        </p:spPr>
        <p:txBody>
          <a:bodyPr wrap="square" anchor="t"/>
          <a:lstStyle/>
          <a:p>
            <a:pPr algn="ctr">
              <a:defRPr sz="1800" b="0">
                <a:solidFill>
                  <a:srgbClr val="FFFFFF"/>
                </a:solidFill>
                <a:latin typeface="Calibri"/>
              </a:defRPr>
            </a:pPr>
            <a:r>
              <a:t>$30,000/card</a:t>
            </a:r>
          </a:p>
        </p:txBody>
      </p:sp>
      <p:sp>
        <p:nvSpPr>
          <p:cNvPr id="50" name="TextBox 49"/>
          <p:cNvSpPr txBox="1"/>
          <p:nvPr/>
        </p:nvSpPr>
        <p:spPr>
          <a:xfrm>
            <a:off x="8046720" y="5806439"/>
            <a:ext cx="3474720" cy="502920"/>
          </a:xfrm>
          <a:prstGeom prst="rect">
            <a:avLst/>
          </a:prstGeom>
          <a:noFill/>
        </p:spPr>
        <p:txBody>
          <a:bodyPr wrap="square" anchor="t"/>
          <a:lstStyle/>
          <a:p>
            <a:pPr algn="ctr">
              <a:defRPr sz="1800" b="0">
                <a:solidFill>
                  <a:srgbClr val="FFFFFF"/>
                </a:solidFill>
                <a:latin typeface="Calibri"/>
              </a:defRPr>
            </a:pPr>
            <a:r>
              <a:t>&lt;$500/unit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1371600"/>
            <a:ext cx="9144000" cy="4572000"/>
          </a:xfrm>
          <a:prstGeom prst="rect">
            <a:avLst/>
          </a:prstGeom>
          <a:noFill/>
        </p:spPr>
        <p:txBody>
          <a:bodyPr wrap="square" anchor="ctr"/>
          <a:lstStyle/>
          <a:p>
            <a:pPr algn="ctr">
              <a:spcAft>
                <a:spcPts val="600"/>
              </a:spcAft>
              <a:defRPr sz="3000" b="1">
                <a:solidFill>
                  <a:srgbClr val="FFFFFF"/>
                </a:solidFill>
                <a:latin typeface="Calibri"/>
              </a:defRPr>
            </a:pPr>
            <a:r>
              <a:t>"Cloud computing's challenge:</a:t>
            </a:r>
          </a:p>
          <a:p>
            <a:pPr algn="ctr">
              <a:spcAft>
                <a:spcPts val="600"/>
              </a:spcAft>
              <a:defRPr sz="3000" b="1">
                <a:solidFill>
                  <a:srgbClr val="0EA5E9"/>
                </a:solidFill>
                <a:latin typeface="Calibri"/>
              </a:defRPr>
            </a:pPr>
            <a:r>
              <a:t> fitting chips into racks.</a:t>
            </a:r>
          </a:p>
          <a:p>
            <a:pPr algn="ctr">
              <a:spcAft>
                <a:spcPts val="600"/>
              </a:spcAft>
              <a:defRPr sz="2000" b="0">
                <a:solidFill>
                  <a:srgbClr val="FFFFFF"/>
                </a:solidFill>
                <a:latin typeface="Calibri"/>
              </a:defRPr>
            </a:pPr>
          </a:p>
          <a:p>
            <a:pPr algn="ctr">
              <a:spcAft>
                <a:spcPts val="600"/>
              </a:spcAft>
              <a:defRPr sz="3000" b="1">
                <a:solidFill>
                  <a:srgbClr val="FFFFFF"/>
                </a:solidFill>
                <a:latin typeface="Calibri"/>
              </a:defRPr>
            </a:pPr>
            <a:r>
              <a:t> Embodied computing's challenge:</a:t>
            </a:r>
          </a:p>
          <a:p>
            <a:pPr algn="ctr">
              <a:spcAft>
                <a:spcPts val="600"/>
              </a:spcAft>
              <a:defRPr sz="3000" b="1">
                <a:solidFill>
                  <a:srgbClr val="22C55E"/>
                </a:solidFill>
                <a:latin typeface="Calibri"/>
              </a:defRPr>
            </a:pPr>
            <a:r>
              <a:t> fitting racks into bodies."</a:t>
            </a:r>
          </a:p>
          <a:p>
            <a:pPr algn="ctr">
              <a:spcAft>
                <a:spcPts val="600"/>
              </a:spcAft>
              <a:defRPr sz="3000" b="0">
                <a:solidFill>
                  <a:srgbClr val="FFFFFF"/>
                </a:solidFill>
                <a:latin typeface="Calibri"/>
              </a:defRPr>
            </a:pPr>
          </a:p>
          <a:p>
            <a:pPr algn="ctr">
              <a:spcAft>
                <a:spcPts val="600"/>
              </a:spcAft>
              <a:defRPr sz="1800" b="0">
                <a:solidFill>
                  <a:srgbClr val="A0A0A0"/>
                </a:solidFill>
                <a:latin typeface="Calibri"/>
              </a:defRPr>
            </a:pPr>
            <a:r>
              <a:t>These require fundamentally different IC design philosophies.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972800" cy="640080"/>
          </a:xfrm>
          <a:prstGeom prst="rect">
            <a:avLst/>
          </a:prstGeom>
          <a:noFill/>
        </p:spPr>
        <p:txBody>
          <a:bodyPr wrap="square" anchor="t"/>
          <a:lstStyle/>
          <a:p>
            <a:pPr algn="l">
              <a:defRPr sz="3200" b="1">
                <a:solidFill>
                  <a:srgbClr val="FFFFFF"/>
                </a:solidFill>
                <a:latin typeface="Calibri"/>
              </a:defRPr>
            </a:pPr>
            <a:r>
              <a:t>The Three-Tier Compute Architecture for Embodied AI</a:t>
            </a:r>
          </a:p>
        </p:txBody>
      </p:sp>
      <p:sp>
        <p:nvSpPr>
          <p:cNvPr id="3" name="Rounded Rectangle 2"/>
          <p:cNvSpPr/>
          <p:nvPr/>
        </p:nvSpPr>
        <p:spPr>
          <a:xfrm>
            <a:off x="2286000" y="1097280"/>
            <a:ext cx="7772400" cy="1463040"/>
          </a:xfrm>
          <a:prstGeom prst="roundRect">
            <a:avLst/>
          </a:prstGeom>
          <a:solidFill>
            <a:srgbClr val="202038"/>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0" y="1188720"/>
            <a:ext cx="3657600" cy="457200"/>
          </a:xfrm>
          <a:prstGeom prst="rect">
            <a:avLst/>
          </a:prstGeom>
          <a:noFill/>
        </p:spPr>
        <p:txBody>
          <a:bodyPr wrap="square" anchor="t"/>
          <a:lstStyle/>
          <a:p>
            <a:pPr algn="l">
              <a:defRPr sz="2200" b="1">
                <a:solidFill>
                  <a:srgbClr val="0EA5E9"/>
                </a:solidFill>
                <a:latin typeface="Calibri"/>
              </a:defRPr>
            </a:pPr>
            <a:r>
              <a:t>☁️  CLOUD  “Big Brain”</a:t>
            </a:r>
          </a:p>
        </p:txBody>
      </p:sp>
      <p:sp>
        <p:nvSpPr>
          <p:cNvPr id="5" name="TextBox 4"/>
          <p:cNvSpPr txBox="1"/>
          <p:nvPr/>
        </p:nvSpPr>
        <p:spPr>
          <a:xfrm>
            <a:off x="2560320" y="1600200"/>
            <a:ext cx="3657600" cy="365760"/>
          </a:xfrm>
          <a:prstGeom prst="rect">
            <a:avLst/>
          </a:prstGeom>
          <a:noFill/>
        </p:spPr>
        <p:txBody>
          <a:bodyPr wrap="square" anchor="t"/>
          <a:lstStyle/>
          <a:p>
            <a:pPr algn="l">
              <a:defRPr sz="1400" b="0">
                <a:solidFill>
                  <a:srgbClr val="A0A0A0"/>
                </a:solidFill>
                <a:latin typeface="Calibri"/>
              </a:defRPr>
            </a:pPr>
            <a:r>
              <a:t>GPU Cluster  |  Heterogeneous pool  |  EFlops</a:t>
            </a:r>
          </a:p>
        </p:txBody>
      </p:sp>
      <p:sp>
        <p:nvSpPr>
          <p:cNvPr id="6" name="TextBox 5"/>
          <p:cNvSpPr txBox="1"/>
          <p:nvPr/>
        </p:nvSpPr>
        <p:spPr>
          <a:xfrm>
            <a:off x="6400800" y="1234440"/>
            <a:ext cx="3200400" cy="457200"/>
          </a:xfrm>
          <a:prstGeom prst="rect">
            <a:avLst/>
          </a:prstGeom>
          <a:noFill/>
        </p:spPr>
        <p:txBody>
          <a:bodyPr wrap="square" anchor="t"/>
          <a:lstStyle/>
          <a:p>
            <a:pPr algn="l">
              <a:defRPr sz="1400" b="0">
                <a:solidFill>
                  <a:srgbClr val="C0C0C0"/>
                </a:solidFill>
                <a:latin typeface="Calibri"/>
              </a:defRPr>
            </a:pPr>
            <a:r>
              <a:t>Model training, world model updates, data flywheel</a:t>
            </a:r>
          </a:p>
        </p:txBody>
      </p:sp>
      <p:sp>
        <p:nvSpPr>
          <p:cNvPr id="7" name="TextBox 6"/>
          <p:cNvSpPr txBox="1"/>
          <p:nvPr/>
        </p:nvSpPr>
        <p:spPr>
          <a:xfrm>
            <a:off x="6400800" y="1691640"/>
            <a:ext cx="3200400" cy="365760"/>
          </a:xfrm>
          <a:prstGeom prst="rect">
            <a:avLst/>
          </a:prstGeom>
          <a:noFill/>
        </p:spPr>
        <p:txBody>
          <a:bodyPr wrap="square" anchor="t"/>
          <a:lstStyle/>
          <a:p>
            <a:pPr algn="l">
              <a:defRPr sz="1300" b="1">
                <a:solidFill>
                  <a:srgbClr val="0EA5E9"/>
                </a:solidFill>
                <a:latin typeface="Calibri"/>
              </a:defRPr>
            </a:pPr>
            <a:r>
              <a:t>Latency: Hours / Days</a:t>
            </a:r>
          </a:p>
        </p:txBody>
      </p:sp>
      <p:sp>
        <p:nvSpPr>
          <p:cNvPr id="8" name="Rounded Rectangle 7"/>
          <p:cNvSpPr/>
          <p:nvPr/>
        </p:nvSpPr>
        <p:spPr>
          <a:xfrm>
            <a:off x="2286000" y="2926080"/>
            <a:ext cx="7772400" cy="1463040"/>
          </a:xfrm>
          <a:prstGeom prst="roundRect">
            <a:avLst/>
          </a:prstGeom>
          <a:solidFill>
            <a:srgbClr val="202038"/>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0" y="3017520"/>
            <a:ext cx="3657600" cy="457200"/>
          </a:xfrm>
          <a:prstGeom prst="rect">
            <a:avLst/>
          </a:prstGeom>
          <a:noFill/>
        </p:spPr>
        <p:txBody>
          <a:bodyPr wrap="square" anchor="t"/>
          <a:lstStyle/>
          <a:p>
            <a:pPr algn="l">
              <a:defRPr sz="2200" b="1">
                <a:solidFill>
                  <a:srgbClr val="F97316"/>
                </a:solidFill>
                <a:latin typeface="Calibri"/>
              </a:defRPr>
            </a:pPr>
            <a:r>
              <a:t>🏭  EDGE  “Mid Brain”</a:t>
            </a:r>
          </a:p>
        </p:txBody>
      </p:sp>
      <p:sp>
        <p:nvSpPr>
          <p:cNvPr id="10" name="TextBox 9"/>
          <p:cNvSpPr txBox="1"/>
          <p:nvPr/>
        </p:nvSpPr>
        <p:spPr>
          <a:xfrm>
            <a:off x="2560320" y="3429000"/>
            <a:ext cx="3657600" cy="365760"/>
          </a:xfrm>
          <a:prstGeom prst="rect">
            <a:avLst/>
          </a:prstGeom>
          <a:noFill/>
        </p:spPr>
        <p:txBody>
          <a:bodyPr wrap="square" anchor="t"/>
          <a:lstStyle/>
          <a:p>
            <a:pPr algn="l">
              <a:defRPr sz="1400" b="0">
                <a:solidFill>
                  <a:srgbClr val="A0A0A0"/>
                </a:solidFill>
                <a:latin typeface="Calibri"/>
              </a:defRPr>
            </a:pPr>
            <a:r>
              <a:t>Edge Server  |  100–300W  |  Multi-robot coordination</a:t>
            </a:r>
          </a:p>
        </p:txBody>
      </p:sp>
      <p:sp>
        <p:nvSpPr>
          <p:cNvPr id="11" name="TextBox 10"/>
          <p:cNvSpPr txBox="1"/>
          <p:nvPr/>
        </p:nvSpPr>
        <p:spPr>
          <a:xfrm>
            <a:off x="6400800" y="3063240"/>
            <a:ext cx="3200400" cy="457200"/>
          </a:xfrm>
          <a:prstGeom prst="rect">
            <a:avLst/>
          </a:prstGeom>
          <a:noFill/>
        </p:spPr>
        <p:txBody>
          <a:bodyPr wrap="square" anchor="t"/>
          <a:lstStyle/>
          <a:p>
            <a:pPr algn="l">
              <a:defRPr sz="1400" b="0">
                <a:solidFill>
                  <a:srgbClr val="C0C0C0"/>
                </a:solidFill>
                <a:latin typeface="Calibri"/>
              </a:defRPr>
            </a:pPr>
            <a:r>
              <a:t>Scene inference, swarm orchestration, 5G/6G uplink</a:t>
            </a:r>
          </a:p>
        </p:txBody>
      </p:sp>
      <p:sp>
        <p:nvSpPr>
          <p:cNvPr id="12" name="TextBox 11"/>
          <p:cNvSpPr txBox="1"/>
          <p:nvPr/>
        </p:nvSpPr>
        <p:spPr>
          <a:xfrm>
            <a:off x="6400800" y="3520440"/>
            <a:ext cx="3200400" cy="365760"/>
          </a:xfrm>
          <a:prstGeom prst="rect">
            <a:avLst/>
          </a:prstGeom>
          <a:noFill/>
        </p:spPr>
        <p:txBody>
          <a:bodyPr wrap="square" anchor="t"/>
          <a:lstStyle/>
          <a:p>
            <a:pPr algn="l">
              <a:defRPr sz="1300" b="1">
                <a:solidFill>
                  <a:srgbClr val="F97316"/>
                </a:solidFill>
                <a:latin typeface="Calibri"/>
              </a:defRPr>
            </a:pPr>
            <a:r>
              <a:t>Latency: ~100ms</a:t>
            </a:r>
          </a:p>
        </p:txBody>
      </p:sp>
      <p:sp>
        <p:nvSpPr>
          <p:cNvPr id="13" name="Rounded Rectangle 12"/>
          <p:cNvSpPr/>
          <p:nvPr/>
        </p:nvSpPr>
        <p:spPr>
          <a:xfrm>
            <a:off x="2286000" y="4754880"/>
            <a:ext cx="7772400" cy="1463040"/>
          </a:xfrm>
          <a:prstGeom prst="roundRect">
            <a:avLst/>
          </a:prstGeom>
          <a:solidFill>
            <a:srgbClr val="202038"/>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4846320"/>
            <a:ext cx="3657600" cy="457200"/>
          </a:xfrm>
          <a:prstGeom prst="rect">
            <a:avLst/>
          </a:prstGeom>
          <a:noFill/>
        </p:spPr>
        <p:txBody>
          <a:bodyPr wrap="square" anchor="t"/>
          <a:lstStyle/>
          <a:p>
            <a:pPr algn="l">
              <a:defRPr sz="2200" b="1">
                <a:solidFill>
                  <a:srgbClr val="22C55E"/>
                </a:solidFill>
                <a:latin typeface="Calibri"/>
              </a:defRPr>
            </a:pPr>
            <a:r>
              <a:t>🤖  ON-BODY  “Small Brain”</a:t>
            </a:r>
          </a:p>
        </p:txBody>
      </p:sp>
      <p:sp>
        <p:nvSpPr>
          <p:cNvPr id="15" name="TextBox 14"/>
          <p:cNvSpPr txBox="1"/>
          <p:nvPr/>
        </p:nvSpPr>
        <p:spPr>
          <a:xfrm>
            <a:off x="2560320" y="5257800"/>
            <a:ext cx="3657600" cy="365760"/>
          </a:xfrm>
          <a:prstGeom prst="rect">
            <a:avLst/>
          </a:prstGeom>
          <a:noFill/>
        </p:spPr>
        <p:txBody>
          <a:bodyPr wrap="square" anchor="t"/>
          <a:lstStyle/>
          <a:p>
            <a:pPr algn="l">
              <a:defRPr sz="1400" b="0">
                <a:solidFill>
                  <a:srgbClr val="A0A0A0"/>
                </a:solidFill>
                <a:latin typeface="Calibri"/>
              </a:defRPr>
            </a:pPr>
            <a:r>
              <a:t>SoC / NPU  |  &lt;50W  |  550 TOPS</a:t>
            </a:r>
          </a:p>
        </p:txBody>
      </p:sp>
      <p:sp>
        <p:nvSpPr>
          <p:cNvPr id="16" name="TextBox 15"/>
          <p:cNvSpPr txBox="1"/>
          <p:nvPr/>
        </p:nvSpPr>
        <p:spPr>
          <a:xfrm>
            <a:off x="6400800" y="4892040"/>
            <a:ext cx="3200400" cy="457200"/>
          </a:xfrm>
          <a:prstGeom prst="rect">
            <a:avLst/>
          </a:prstGeom>
          <a:noFill/>
        </p:spPr>
        <p:txBody>
          <a:bodyPr wrap="square" anchor="t"/>
          <a:lstStyle/>
          <a:p>
            <a:pPr algn="l">
              <a:defRPr sz="1400" b="0">
                <a:solidFill>
                  <a:srgbClr val="C0C0C0"/>
                </a:solidFill>
                <a:latin typeface="Calibri"/>
              </a:defRPr>
            </a:pPr>
            <a:r>
              <a:t>Perception, safety-critical control, autonomous action</a:t>
            </a:r>
          </a:p>
        </p:txBody>
      </p:sp>
      <p:sp>
        <p:nvSpPr>
          <p:cNvPr id="17" name="TextBox 16"/>
          <p:cNvSpPr txBox="1"/>
          <p:nvPr/>
        </p:nvSpPr>
        <p:spPr>
          <a:xfrm>
            <a:off x="6400800" y="5349240"/>
            <a:ext cx="3200400" cy="365760"/>
          </a:xfrm>
          <a:prstGeom prst="rect">
            <a:avLst/>
          </a:prstGeom>
          <a:noFill/>
        </p:spPr>
        <p:txBody>
          <a:bodyPr wrap="square" anchor="t"/>
          <a:lstStyle/>
          <a:p>
            <a:pPr algn="l">
              <a:defRPr sz="1300" b="1">
                <a:solidFill>
                  <a:srgbClr val="22C55E"/>
                </a:solidFill>
                <a:latin typeface="Calibri"/>
              </a:defRPr>
            </a:pPr>
            <a:r>
              <a:t>Latency: &lt;10ms</a:t>
            </a:r>
          </a:p>
        </p:txBody>
      </p:sp>
      <p:sp>
        <p:nvSpPr>
          <p:cNvPr id="18" name="Down Arrow 17"/>
          <p:cNvSpPr/>
          <p:nvPr/>
        </p:nvSpPr>
        <p:spPr>
          <a:xfrm>
            <a:off x="6035040" y="2560320"/>
            <a:ext cx="274320" cy="320040"/>
          </a:xfrm>
          <a:prstGeom prst="down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6035040" y="4389120"/>
            <a:ext cx="274320" cy="320040"/>
          </a:xfrm>
          <a:prstGeom prst="downArrow">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IC Demands by Compute Tier</a:t>
            </a:r>
          </a:p>
        </p:txBody>
      </p:sp>
      <p:sp>
        <p:nvSpPr>
          <p:cNvPr id="3" name="TextBox 2"/>
          <p:cNvSpPr txBox="1"/>
          <p:nvPr/>
        </p:nvSpPr>
        <p:spPr>
          <a:xfrm>
            <a:off x="731520" y="1463040"/>
            <a:ext cx="2560320" cy="457200"/>
          </a:xfrm>
          <a:prstGeom prst="rect">
            <a:avLst/>
          </a:prstGeom>
          <a:noFill/>
        </p:spPr>
        <p:txBody>
          <a:bodyPr wrap="square" anchor="t"/>
          <a:lstStyle/>
          <a:p>
            <a:pPr algn="l">
              <a:defRPr sz="1800" b="1">
                <a:solidFill>
                  <a:srgbClr val="A0A0A0"/>
                </a:solidFill>
                <a:latin typeface="Calibri"/>
              </a:defRPr>
            </a:pPr>
          </a:p>
        </p:txBody>
      </p:sp>
      <p:sp>
        <p:nvSpPr>
          <p:cNvPr id="4" name="TextBox 3"/>
          <p:cNvSpPr txBox="1"/>
          <p:nvPr/>
        </p:nvSpPr>
        <p:spPr>
          <a:xfrm>
            <a:off x="3474720" y="1463040"/>
            <a:ext cx="2377440" cy="457200"/>
          </a:xfrm>
          <a:prstGeom prst="rect">
            <a:avLst/>
          </a:prstGeom>
          <a:noFill/>
        </p:spPr>
        <p:txBody>
          <a:bodyPr wrap="square" anchor="t"/>
          <a:lstStyle/>
          <a:p>
            <a:pPr algn="ctr">
              <a:defRPr sz="1800" b="1">
                <a:solidFill>
                  <a:srgbClr val="0EA5E9"/>
                </a:solidFill>
                <a:latin typeface="Calibri"/>
              </a:defRPr>
            </a:pPr>
            <a:r>
              <a:t>Cloud</a:t>
            </a:r>
          </a:p>
        </p:txBody>
      </p:sp>
      <p:sp>
        <p:nvSpPr>
          <p:cNvPr id="5" name="TextBox 4"/>
          <p:cNvSpPr txBox="1"/>
          <p:nvPr/>
        </p:nvSpPr>
        <p:spPr>
          <a:xfrm>
            <a:off x="6035040" y="1463040"/>
            <a:ext cx="2377440" cy="457200"/>
          </a:xfrm>
          <a:prstGeom prst="rect">
            <a:avLst/>
          </a:prstGeom>
          <a:noFill/>
        </p:spPr>
        <p:txBody>
          <a:bodyPr wrap="square" anchor="t"/>
          <a:lstStyle/>
          <a:p>
            <a:pPr algn="ctr">
              <a:defRPr sz="1800" b="1">
                <a:solidFill>
                  <a:srgbClr val="F97316"/>
                </a:solidFill>
                <a:latin typeface="Calibri"/>
              </a:defRPr>
            </a:pPr>
            <a:r>
              <a:t>Edge</a:t>
            </a:r>
          </a:p>
        </p:txBody>
      </p:sp>
      <p:sp>
        <p:nvSpPr>
          <p:cNvPr id="6" name="TextBox 5"/>
          <p:cNvSpPr txBox="1"/>
          <p:nvPr/>
        </p:nvSpPr>
        <p:spPr>
          <a:xfrm>
            <a:off x="8595360" y="1463040"/>
            <a:ext cx="2926080" cy="457200"/>
          </a:xfrm>
          <a:prstGeom prst="rect">
            <a:avLst/>
          </a:prstGeom>
          <a:noFill/>
        </p:spPr>
        <p:txBody>
          <a:bodyPr wrap="square" anchor="t"/>
          <a:lstStyle/>
          <a:p>
            <a:pPr algn="ctr">
              <a:defRPr sz="1800" b="1">
                <a:solidFill>
                  <a:srgbClr val="22C55E"/>
                </a:solidFill>
                <a:latin typeface="Calibri"/>
              </a:defRPr>
            </a:pPr>
            <a:r>
              <a:t>On-Body</a:t>
            </a:r>
          </a:p>
        </p:txBody>
      </p:sp>
      <p:sp>
        <p:nvSpPr>
          <p:cNvPr id="7" name="Rectangle 6"/>
          <p:cNvSpPr/>
          <p:nvPr/>
        </p:nvSpPr>
        <p:spPr>
          <a:xfrm>
            <a:off x="548640" y="2011680"/>
            <a:ext cx="11155680" cy="868680"/>
          </a:xfrm>
          <a:prstGeom prst="rect">
            <a:avLst/>
          </a:prstGeom>
          <a:solidFill>
            <a:srgbClr val="20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57400"/>
            <a:ext cx="2560320" cy="777240"/>
          </a:xfrm>
          <a:prstGeom prst="rect">
            <a:avLst/>
          </a:prstGeom>
          <a:noFill/>
        </p:spPr>
        <p:txBody>
          <a:bodyPr wrap="square" anchor="t"/>
          <a:lstStyle/>
          <a:p>
            <a:pPr algn="l">
              <a:defRPr sz="1500" b="1">
                <a:solidFill>
                  <a:srgbClr val="A0A0A0"/>
                </a:solidFill>
                <a:latin typeface="Calibri"/>
              </a:defRPr>
            </a:pPr>
            <a:r>
              <a:t>Key IC type</a:t>
            </a:r>
          </a:p>
        </p:txBody>
      </p:sp>
      <p:sp>
        <p:nvSpPr>
          <p:cNvPr id="9" name="TextBox 8"/>
          <p:cNvSpPr txBox="1"/>
          <p:nvPr/>
        </p:nvSpPr>
        <p:spPr>
          <a:xfrm>
            <a:off x="3474720" y="2057400"/>
            <a:ext cx="2377440" cy="777240"/>
          </a:xfrm>
          <a:prstGeom prst="rect">
            <a:avLst/>
          </a:prstGeom>
          <a:noFill/>
        </p:spPr>
        <p:txBody>
          <a:bodyPr wrap="square" anchor="t"/>
          <a:lstStyle/>
          <a:p>
            <a:pPr algn="ctr">
              <a:defRPr sz="1500" b="0">
                <a:solidFill>
                  <a:srgbClr val="FFFFFF"/>
                </a:solidFill>
                <a:latin typeface="Calibri"/>
              </a:defRPr>
            </a:pPr>
            <a:r>
              <a:t>GPU / AI</a:t>
            </a:r>
            <a:br/>
            <a:r>
              <a:t>accelerator</a:t>
            </a:r>
          </a:p>
        </p:txBody>
      </p:sp>
      <p:sp>
        <p:nvSpPr>
          <p:cNvPr id="10" name="TextBox 9"/>
          <p:cNvSpPr txBox="1"/>
          <p:nvPr/>
        </p:nvSpPr>
        <p:spPr>
          <a:xfrm>
            <a:off x="6035040" y="2057400"/>
            <a:ext cx="2377440" cy="777240"/>
          </a:xfrm>
          <a:prstGeom prst="rect">
            <a:avLst/>
          </a:prstGeom>
          <a:noFill/>
        </p:spPr>
        <p:txBody>
          <a:bodyPr wrap="square" anchor="t"/>
          <a:lstStyle/>
          <a:p>
            <a:pPr algn="ctr">
              <a:defRPr sz="1500" b="0">
                <a:solidFill>
                  <a:srgbClr val="FFFFFF"/>
                </a:solidFill>
                <a:latin typeface="Calibri"/>
              </a:defRPr>
            </a:pPr>
            <a:r>
              <a:t>Inference</a:t>
            </a:r>
            <a:br/>
            <a:r>
              <a:t>accelerator</a:t>
            </a:r>
          </a:p>
        </p:txBody>
      </p:sp>
      <p:sp>
        <p:nvSpPr>
          <p:cNvPr id="11" name="TextBox 10"/>
          <p:cNvSpPr txBox="1"/>
          <p:nvPr/>
        </p:nvSpPr>
        <p:spPr>
          <a:xfrm>
            <a:off x="8595360" y="2057400"/>
            <a:ext cx="2926080" cy="777240"/>
          </a:xfrm>
          <a:prstGeom prst="rect">
            <a:avLst/>
          </a:prstGeom>
          <a:noFill/>
        </p:spPr>
        <p:txBody>
          <a:bodyPr wrap="square" anchor="t"/>
          <a:lstStyle/>
          <a:p>
            <a:pPr algn="ctr">
              <a:defRPr sz="1500" b="0">
                <a:solidFill>
                  <a:srgbClr val="FFFFFF"/>
                </a:solidFill>
                <a:latin typeface="Calibri"/>
              </a:defRPr>
            </a:pPr>
            <a:r>
              <a:t>Heterogeneous</a:t>
            </a:r>
            <a:br/>
            <a:r>
              <a:t>SoC + NPU</a:t>
            </a:r>
          </a:p>
        </p:txBody>
      </p:sp>
      <p:sp>
        <p:nvSpPr>
          <p:cNvPr id="12" name="Rectangle 11"/>
          <p:cNvSpPr/>
          <p:nvPr/>
        </p:nvSpPr>
        <p:spPr>
          <a:xfrm>
            <a:off x="548640" y="2926080"/>
            <a:ext cx="11155680"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71800"/>
            <a:ext cx="2560320" cy="777240"/>
          </a:xfrm>
          <a:prstGeom prst="rect">
            <a:avLst/>
          </a:prstGeom>
          <a:noFill/>
        </p:spPr>
        <p:txBody>
          <a:bodyPr wrap="square" anchor="t"/>
          <a:lstStyle/>
          <a:p>
            <a:pPr algn="l">
              <a:defRPr sz="1500" b="1">
                <a:solidFill>
                  <a:srgbClr val="A0A0A0"/>
                </a:solidFill>
                <a:latin typeface="Calibri"/>
              </a:defRPr>
            </a:pPr>
            <a:r>
              <a:t>Power</a:t>
            </a:r>
          </a:p>
        </p:txBody>
      </p:sp>
      <p:sp>
        <p:nvSpPr>
          <p:cNvPr id="14" name="TextBox 13"/>
          <p:cNvSpPr txBox="1"/>
          <p:nvPr/>
        </p:nvSpPr>
        <p:spPr>
          <a:xfrm>
            <a:off x="3474720" y="2971800"/>
            <a:ext cx="2377440" cy="777240"/>
          </a:xfrm>
          <a:prstGeom prst="rect">
            <a:avLst/>
          </a:prstGeom>
          <a:noFill/>
        </p:spPr>
        <p:txBody>
          <a:bodyPr wrap="square" anchor="t"/>
          <a:lstStyle/>
          <a:p>
            <a:pPr algn="ctr">
              <a:defRPr sz="1500" b="0">
                <a:solidFill>
                  <a:srgbClr val="FFFFFF"/>
                </a:solidFill>
                <a:latin typeface="Calibri"/>
              </a:defRPr>
            </a:pPr>
            <a:r>
              <a:t>400–700W</a:t>
            </a:r>
          </a:p>
        </p:txBody>
      </p:sp>
      <p:sp>
        <p:nvSpPr>
          <p:cNvPr id="15" name="TextBox 14"/>
          <p:cNvSpPr txBox="1"/>
          <p:nvPr/>
        </p:nvSpPr>
        <p:spPr>
          <a:xfrm>
            <a:off x="6035040" y="2971800"/>
            <a:ext cx="2377440" cy="777240"/>
          </a:xfrm>
          <a:prstGeom prst="rect">
            <a:avLst/>
          </a:prstGeom>
          <a:noFill/>
        </p:spPr>
        <p:txBody>
          <a:bodyPr wrap="square" anchor="t"/>
          <a:lstStyle/>
          <a:p>
            <a:pPr algn="ctr">
              <a:defRPr sz="1500" b="0">
                <a:solidFill>
                  <a:srgbClr val="FFFFFF"/>
                </a:solidFill>
                <a:latin typeface="Calibri"/>
              </a:defRPr>
            </a:pPr>
            <a:r>
              <a:t>100–300W</a:t>
            </a:r>
          </a:p>
        </p:txBody>
      </p:sp>
      <p:sp>
        <p:nvSpPr>
          <p:cNvPr id="16" name="TextBox 15"/>
          <p:cNvSpPr txBox="1"/>
          <p:nvPr/>
        </p:nvSpPr>
        <p:spPr>
          <a:xfrm>
            <a:off x="8595360" y="2971800"/>
            <a:ext cx="2926080" cy="777240"/>
          </a:xfrm>
          <a:prstGeom prst="rect">
            <a:avLst/>
          </a:prstGeom>
          <a:noFill/>
        </p:spPr>
        <p:txBody>
          <a:bodyPr wrap="square" anchor="t"/>
          <a:lstStyle/>
          <a:p>
            <a:pPr algn="ctr">
              <a:defRPr sz="1500" b="0">
                <a:solidFill>
                  <a:srgbClr val="FFFFFF"/>
                </a:solidFill>
                <a:latin typeface="Calibri"/>
              </a:defRPr>
            </a:pPr>
            <a:r>
              <a:t>&lt;50W (battery)</a:t>
            </a:r>
          </a:p>
        </p:txBody>
      </p:sp>
      <p:sp>
        <p:nvSpPr>
          <p:cNvPr id="17" name="Rectangle 16"/>
          <p:cNvSpPr/>
          <p:nvPr/>
        </p:nvSpPr>
        <p:spPr>
          <a:xfrm>
            <a:off x="548640" y="3840480"/>
            <a:ext cx="11155680" cy="868680"/>
          </a:xfrm>
          <a:prstGeom prst="rect">
            <a:avLst/>
          </a:prstGeom>
          <a:solidFill>
            <a:srgbClr val="20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86200"/>
            <a:ext cx="2560320" cy="777240"/>
          </a:xfrm>
          <a:prstGeom prst="rect">
            <a:avLst/>
          </a:prstGeom>
          <a:noFill/>
        </p:spPr>
        <p:txBody>
          <a:bodyPr wrap="square" anchor="t"/>
          <a:lstStyle/>
          <a:p>
            <a:pPr algn="l">
              <a:defRPr sz="1500" b="1">
                <a:solidFill>
                  <a:srgbClr val="A0A0A0"/>
                </a:solidFill>
                <a:latin typeface="Calibri"/>
              </a:defRPr>
            </a:pPr>
            <a:r>
              <a:t>Real example</a:t>
            </a:r>
          </a:p>
        </p:txBody>
      </p:sp>
      <p:sp>
        <p:nvSpPr>
          <p:cNvPr id="19" name="TextBox 18"/>
          <p:cNvSpPr txBox="1"/>
          <p:nvPr/>
        </p:nvSpPr>
        <p:spPr>
          <a:xfrm>
            <a:off x="3474720" y="3886200"/>
            <a:ext cx="2377440" cy="777240"/>
          </a:xfrm>
          <a:prstGeom prst="rect">
            <a:avLst/>
          </a:prstGeom>
          <a:noFill/>
        </p:spPr>
        <p:txBody>
          <a:bodyPr wrap="square" anchor="t"/>
          <a:lstStyle/>
          <a:p>
            <a:pPr algn="ctr">
              <a:defRPr sz="1500" b="0">
                <a:solidFill>
                  <a:srgbClr val="FFFFFF"/>
                </a:solidFill>
                <a:latin typeface="Calibri"/>
              </a:defRPr>
            </a:pPr>
            <a:r>
              <a:t>60K+ GPUs</a:t>
            </a:r>
            <a:br/>
            <a:r>
              <a:t>in pooled clusters</a:t>
            </a:r>
          </a:p>
        </p:txBody>
      </p:sp>
      <p:sp>
        <p:nvSpPr>
          <p:cNvPr id="20" name="TextBox 19"/>
          <p:cNvSpPr txBox="1"/>
          <p:nvPr/>
        </p:nvSpPr>
        <p:spPr>
          <a:xfrm>
            <a:off x="6035040" y="3886200"/>
            <a:ext cx="2377440" cy="777240"/>
          </a:xfrm>
          <a:prstGeom prst="rect">
            <a:avLst/>
          </a:prstGeom>
          <a:noFill/>
        </p:spPr>
        <p:txBody>
          <a:bodyPr wrap="square" anchor="t"/>
          <a:lstStyle/>
          <a:p>
            <a:pPr algn="ctr">
              <a:defRPr sz="1500" b="0">
                <a:solidFill>
                  <a:srgbClr val="FFFFFF"/>
                </a:solidFill>
                <a:latin typeface="Calibri"/>
              </a:defRPr>
            </a:pPr>
            <a:r>
              <a:t>5G/6G connected</a:t>
            </a:r>
            <a:br/>
            <a:r>
              <a:t>edge servers</a:t>
            </a:r>
          </a:p>
        </p:txBody>
      </p:sp>
      <p:sp>
        <p:nvSpPr>
          <p:cNvPr id="21" name="TextBox 20"/>
          <p:cNvSpPr txBox="1"/>
          <p:nvPr/>
        </p:nvSpPr>
        <p:spPr>
          <a:xfrm>
            <a:off x="8595360" y="3886200"/>
            <a:ext cx="2926080" cy="777240"/>
          </a:xfrm>
          <a:prstGeom prst="rect">
            <a:avLst/>
          </a:prstGeom>
          <a:noFill/>
        </p:spPr>
        <p:txBody>
          <a:bodyPr wrap="square" anchor="t"/>
          <a:lstStyle/>
          <a:p>
            <a:pPr algn="ctr">
              <a:defRPr sz="1500" b="0">
                <a:solidFill>
                  <a:srgbClr val="FFFFFF"/>
                </a:solidFill>
                <a:latin typeface="Calibri"/>
              </a:defRPr>
            </a:pPr>
            <a:r>
              <a:t>550 TOPS</a:t>
            </a:r>
            <a:br/>
            <a:r>
              <a:t>(dual Orin AGX)</a:t>
            </a:r>
          </a:p>
        </p:txBody>
      </p:sp>
      <p:sp>
        <p:nvSpPr>
          <p:cNvPr id="22" name="Rectangle 21"/>
          <p:cNvSpPr/>
          <p:nvPr/>
        </p:nvSpPr>
        <p:spPr>
          <a:xfrm>
            <a:off x="548640" y="4754880"/>
            <a:ext cx="11155680"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800600"/>
            <a:ext cx="2560320" cy="777240"/>
          </a:xfrm>
          <a:prstGeom prst="rect">
            <a:avLst/>
          </a:prstGeom>
          <a:noFill/>
        </p:spPr>
        <p:txBody>
          <a:bodyPr wrap="square" anchor="t"/>
          <a:lstStyle/>
          <a:p>
            <a:pPr algn="l">
              <a:defRPr sz="1500" b="1">
                <a:solidFill>
                  <a:srgbClr val="A0A0A0"/>
                </a:solidFill>
                <a:latin typeface="Calibri"/>
              </a:defRPr>
            </a:pPr>
            <a:r>
              <a:t>Key challenge</a:t>
            </a:r>
          </a:p>
        </p:txBody>
      </p:sp>
      <p:sp>
        <p:nvSpPr>
          <p:cNvPr id="24" name="TextBox 23"/>
          <p:cNvSpPr txBox="1"/>
          <p:nvPr/>
        </p:nvSpPr>
        <p:spPr>
          <a:xfrm>
            <a:off x="3474720" y="4800600"/>
            <a:ext cx="2377440" cy="777240"/>
          </a:xfrm>
          <a:prstGeom prst="rect">
            <a:avLst/>
          </a:prstGeom>
          <a:noFill/>
        </p:spPr>
        <p:txBody>
          <a:bodyPr wrap="square" anchor="t"/>
          <a:lstStyle/>
          <a:p>
            <a:pPr algn="ctr">
              <a:defRPr sz="1500" b="0">
                <a:solidFill>
                  <a:srgbClr val="FFFFFF"/>
                </a:solidFill>
                <a:latin typeface="Calibri"/>
              </a:defRPr>
            </a:pPr>
            <a:r>
              <a:t>Interconnect</a:t>
            </a:r>
            <a:br/>
            <a:r>
              <a:t>&amp; utilization</a:t>
            </a:r>
          </a:p>
        </p:txBody>
      </p:sp>
      <p:sp>
        <p:nvSpPr>
          <p:cNvPr id="25" name="TextBox 24"/>
          <p:cNvSpPr txBox="1"/>
          <p:nvPr/>
        </p:nvSpPr>
        <p:spPr>
          <a:xfrm>
            <a:off x="6035040" y="4800600"/>
            <a:ext cx="2377440" cy="777240"/>
          </a:xfrm>
          <a:prstGeom prst="rect">
            <a:avLst/>
          </a:prstGeom>
          <a:noFill/>
        </p:spPr>
        <p:txBody>
          <a:bodyPr wrap="square" anchor="t"/>
          <a:lstStyle/>
          <a:p>
            <a:pPr algn="ctr">
              <a:defRPr sz="1500" b="0">
                <a:solidFill>
                  <a:srgbClr val="FFFFFF"/>
                </a:solidFill>
                <a:latin typeface="Calibri"/>
              </a:defRPr>
            </a:pPr>
            <a:r>
              <a:t>Multi-model</a:t>
            </a:r>
            <a:br/>
            <a:r>
              <a:t>scheduling</a:t>
            </a:r>
          </a:p>
        </p:txBody>
      </p:sp>
      <p:sp>
        <p:nvSpPr>
          <p:cNvPr id="26" name="TextBox 25"/>
          <p:cNvSpPr txBox="1"/>
          <p:nvPr/>
        </p:nvSpPr>
        <p:spPr>
          <a:xfrm>
            <a:off x="8595360" y="4800600"/>
            <a:ext cx="2926080" cy="777240"/>
          </a:xfrm>
          <a:prstGeom prst="rect">
            <a:avLst/>
          </a:prstGeom>
          <a:noFill/>
        </p:spPr>
        <p:txBody>
          <a:bodyPr wrap="square" anchor="t"/>
          <a:lstStyle/>
          <a:p>
            <a:pPr algn="ctr">
              <a:defRPr sz="1500" b="0">
                <a:solidFill>
                  <a:srgbClr val="FFFFFF"/>
                </a:solidFill>
                <a:latin typeface="Calibri"/>
              </a:defRPr>
            </a:pPr>
            <a:r>
              <a:t>Multi-modal</a:t>
            </a:r>
            <a:br/>
            <a:r>
              <a:t>integration</a:t>
            </a:r>
          </a:p>
        </p:txBody>
      </p:sp>
      <p:sp>
        <p:nvSpPr>
          <p:cNvPr id="27" name="Rectangle 26"/>
          <p:cNvSpPr/>
          <p:nvPr/>
        </p:nvSpPr>
        <p:spPr>
          <a:xfrm>
            <a:off x="548640" y="5669280"/>
            <a:ext cx="11155680" cy="868680"/>
          </a:xfrm>
          <a:prstGeom prst="rect">
            <a:avLst/>
          </a:prstGeom>
          <a:solidFill>
            <a:srgbClr val="20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715000"/>
            <a:ext cx="2560320" cy="777240"/>
          </a:xfrm>
          <a:prstGeom prst="rect">
            <a:avLst/>
          </a:prstGeom>
          <a:noFill/>
        </p:spPr>
        <p:txBody>
          <a:bodyPr wrap="square" anchor="t"/>
          <a:lstStyle/>
          <a:p>
            <a:pPr algn="l">
              <a:defRPr sz="1500" b="1">
                <a:solidFill>
                  <a:srgbClr val="A0A0A0"/>
                </a:solidFill>
                <a:latin typeface="Calibri"/>
              </a:defRPr>
            </a:pPr>
            <a:r>
              <a:t>Market status</a:t>
            </a:r>
          </a:p>
        </p:txBody>
      </p:sp>
      <p:sp>
        <p:nvSpPr>
          <p:cNvPr id="29" name="TextBox 28"/>
          <p:cNvSpPr txBox="1"/>
          <p:nvPr/>
        </p:nvSpPr>
        <p:spPr>
          <a:xfrm>
            <a:off x="3474720" y="5715000"/>
            <a:ext cx="2377440" cy="777240"/>
          </a:xfrm>
          <a:prstGeom prst="rect">
            <a:avLst/>
          </a:prstGeom>
          <a:noFill/>
        </p:spPr>
        <p:txBody>
          <a:bodyPr wrap="square" anchor="t"/>
          <a:lstStyle/>
          <a:p>
            <a:pPr algn="ctr">
              <a:defRPr sz="1500" b="0">
                <a:solidFill>
                  <a:srgbClr val="FFFFFF"/>
                </a:solidFill>
                <a:latin typeface="Calibri"/>
              </a:defRPr>
            </a:pPr>
            <a:r>
              <a:t>Mature</a:t>
            </a:r>
          </a:p>
        </p:txBody>
      </p:sp>
      <p:sp>
        <p:nvSpPr>
          <p:cNvPr id="30" name="TextBox 29"/>
          <p:cNvSpPr txBox="1"/>
          <p:nvPr/>
        </p:nvSpPr>
        <p:spPr>
          <a:xfrm>
            <a:off x="6035040" y="5715000"/>
            <a:ext cx="2377440" cy="777240"/>
          </a:xfrm>
          <a:prstGeom prst="rect">
            <a:avLst/>
          </a:prstGeom>
          <a:noFill/>
        </p:spPr>
        <p:txBody>
          <a:bodyPr wrap="square" anchor="t"/>
          <a:lstStyle/>
          <a:p>
            <a:pPr algn="ctr">
              <a:defRPr sz="1500" b="0">
                <a:solidFill>
                  <a:srgbClr val="FFFFFF"/>
                </a:solidFill>
                <a:latin typeface="Calibri"/>
              </a:defRPr>
            </a:pPr>
            <a:r>
              <a:t>Exploding</a:t>
            </a:r>
          </a:p>
        </p:txBody>
      </p:sp>
      <p:sp>
        <p:nvSpPr>
          <p:cNvPr id="31" name="TextBox 30"/>
          <p:cNvSpPr txBox="1"/>
          <p:nvPr/>
        </p:nvSpPr>
        <p:spPr>
          <a:xfrm>
            <a:off x="8595360" y="5715000"/>
            <a:ext cx="2926080" cy="777240"/>
          </a:xfrm>
          <a:prstGeom prst="rect">
            <a:avLst/>
          </a:prstGeom>
          <a:noFill/>
        </p:spPr>
        <p:txBody>
          <a:bodyPr wrap="square" anchor="t"/>
          <a:lstStyle/>
          <a:p>
            <a:pPr algn="ctr">
              <a:defRPr sz="1500" b="1">
                <a:solidFill>
                  <a:srgbClr val="22C55E"/>
                </a:solidFill>
                <a:latin typeface="Calibri"/>
              </a:defRPr>
            </a:pPr>
            <a:r>
              <a:t>GREENFIELD</a:t>
            </a:r>
            <a:br/>
            <a:r>
              <a:t>BIGGEST OPPORTUNITY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220"/>
        </a:solidFill>
        <a:effectLst/>
      </p:bgPr>
    </p:bg>
    <p:spTree>
      <p:nvGrpSpPr>
        <p:cNvPr id="1" name=""/>
        <p:cNvGrpSpPr/>
        <p:nvPr/>
      </p:nvGrpSpPr>
      <p:grpSpPr/>
      <p:pic>
        <p:nvPicPr>
          <p:cNvPr id="2" name="Picture 1" descr="chip_wafer.jpg"/>
          <p:cNvPicPr>
            <a:picLocks noChangeAspect="1"/>
          </p:cNvPicPr>
          <p:nvPr/>
        </p:nvPicPr>
        <p:blipFill>
          <a:blip r:embed="rId2"/>
          <a:stretch>
            <a:fillRect/>
          </a:stretch>
        </p:blipFill>
        <p:spPr>
          <a:xfrm>
            <a:off x="0" y="-634898"/>
            <a:ext cx="12191695" cy="8127796"/>
          </a:xfrm>
          <a:prstGeom prst="rect">
            <a:avLst/>
          </a:prstGeom>
        </p:spPr>
      </p:pic>
      <p:sp>
        <p:nvSpPr>
          <p:cNvPr id="3" name="Rectangle 2"/>
          <p:cNvSpPr/>
          <p:nvPr/>
        </p:nvSpPr>
        <p:spPr>
          <a:xfrm>
            <a:off x="0" y="0"/>
            <a:ext cx="12191695" cy="6858000"/>
          </a:xfrm>
          <a:prstGeom prst="rect">
            <a:avLst/>
          </a:prstGeom>
          <a:solidFill>
            <a:srgbClr val="0A0A15">
              <a:alpha val="44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3657600"/>
          </a:xfrm>
          <a:prstGeom prst="rect">
            <a:avLst/>
          </a:prstGeom>
          <a:noFill/>
        </p:spPr>
        <p:txBody>
          <a:bodyPr wrap="square" anchor="ctr"/>
          <a:lstStyle/>
          <a:p>
            <a:pPr algn="l">
              <a:spcAft>
                <a:spcPts val="600"/>
              </a:spcAft>
              <a:defRPr sz="2000" b="1">
                <a:solidFill>
                  <a:srgbClr val="F97316"/>
                </a:solidFill>
                <a:latin typeface="Calibri"/>
              </a:defRPr>
            </a:pPr>
            <a:r>
              <a:t>PART III</a:t>
            </a:r>
          </a:p>
          <a:p>
            <a:pPr algn="l">
              <a:spcAft>
                <a:spcPts val="600"/>
              </a:spcAft>
              <a:defRPr sz="5200" b="1">
                <a:solidFill>
                  <a:srgbClr val="FFFFFF"/>
                </a:solidFill>
                <a:latin typeface="Calibri"/>
              </a:defRPr>
            </a:pPr>
            <a:r>
              <a:t>Recommendations</a:t>
            </a:r>
          </a:p>
          <a:p>
            <a:pPr algn="l">
              <a:spcAft>
                <a:spcPts val="600"/>
              </a:spcAft>
              <a:defRPr sz="2800" b="0">
                <a:solidFill>
                  <a:srgbClr val="C0C0C0"/>
                </a:solidFill>
                <a:latin typeface="Calibri"/>
              </a:defRPr>
            </a:pPr>
            <a:r>
              <a:t>for IC Designers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nchor="t"/>
          <a:lstStyle/>
          <a:p>
            <a:pPr algn="l">
              <a:defRPr sz="3400" b="1">
                <a:solidFill>
                  <a:srgbClr val="FFFFFF"/>
                </a:solidFill>
                <a:latin typeface="Calibri"/>
              </a:defRPr>
            </a:pPr>
            <a:r>
              <a:t>For Cloud / Data Center Chip Designers</a:t>
            </a:r>
          </a:p>
        </p:txBody>
      </p:sp>
      <p:sp>
        <p:nvSpPr>
          <p:cNvPr id="3" name="Rectangle 2"/>
          <p:cNvSpPr/>
          <p:nvPr/>
        </p:nvSpPr>
        <p:spPr>
          <a:xfrm>
            <a:off x="1097280" y="1371600"/>
            <a:ext cx="54864" cy="47548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9144000" cy="457200"/>
          </a:xfrm>
          <a:prstGeom prst="rect">
            <a:avLst/>
          </a:prstGeom>
          <a:noFill/>
        </p:spPr>
        <p:txBody>
          <a:bodyPr wrap="square" anchor="t"/>
          <a:lstStyle/>
          <a:p>
            <a:pPr algn="l">
              <a:defRPr sz="2400" b="1">
                <a:solidFill>
                  <a:srgbClr val="FFFFFF"/>
                </a:solidFill>
                <a:latin typeface="Calibri"/>
              </a:defRPr>
            </a:pPr>
            <a:r>
              <a:t>1.  Performance per watt &gt; peak performance</a:t>
            </a:r>
          </a:p>
        </p:txBody>
      </p:sp>
      <p:sp>
        <p:nvSpPr>
          <p:cNvPr id="5" name="TextBox 4"/>
          <p:cNvSpPr txBox="1"/>
          <p:nvPr/>
        </p:nvSpPr>
        <p:spPr>
          <a:xfrm>
            <a:off x="2103120" y="2057400"/>
            <a:ext cx="8229600" cy="457200"/>
          </a:xfrm>
          <a:prstGeom prst="rect">
            <a:avLst/>
          </a:prstGeom>
          <a:noFill/>
        </p:spPr>
        <p:txBody>
          <a:bodyPr wrap="square" anchor="t"/>
          <a:lstStyle/>
          <a:p>
            <a:pPr algn="l">
              <a:defRPr sz="1600" b="0">
                <a:solidFill>
                  <a:srgbClr val="A0A0A0"/>
                </a:solidFill>
                <a:latin typeface="Calibri"/>
              </a:defRPr>
            </a:pPr>
            <a:r>
              <a:t>Your customer's #1 cost is electricity</a:t>
            </a:r>
          </a:p>
        </p:txBody>
      </p:sp>
      <p:sp>
        <p:nvSpPr>
          <p:cNvPr id="6" name="TextBox 5"/>
          <p:cNvSpPr txBox="1"/>
          <p:nvPr/>
        </p:nvSpPr>
        <p:spPr>
          <a:xfrm>
            <a:off x="1645920" y="2697480"/>
            <a:ext cx="9144000" cy="457200"/>
          </a:xfrm>
          <a:prstGeom prst="rect">
            <a:avLst/>
          </a:prstGeom>
          <a:noFill/>
        </p:spPr>
        <p:txBody>
          <a:bodyPr wrap="square" anchor="t"/>
          <a:lstStyle/>
          <a:p>
            <a:pPr algn="l">
              <a:defRPr sz="2400" b="1">
                <a:solidFill>
                  <a:srgbClr val="FFFFFF"/>
                </a:solidFill>
                <a:latin typeface="Calibri"/>
              </a:defRPr>
            </a:pPr>
            <a:r>
              <a:t>2.  Standardize interconnects</a:t>
            </a:r>
          </a:p>
        </p:txBody>
      </p:sp>
      <p:sp>
        <p:nvSpPr>
          <p:cNvPr id="7" name="TextBox 6"/>
          <p:cNvSpPr txBox="1"/>
          <p:nvPr/>
        </p:nvSpPr>
        <p:spPr>
          <a:xfrm>
            <a:off x="2103120" y="3200400"/>
            <a:ext cx="8229600" cy="457200"/>
          </a:xfrm>
          <a:prstGeom prst="rect">
            <a:avLst/>
          </a:prstGeom>
          <a:noFill/>
        </p:spPr>
        <p:txBody>
          <a:bodyPr wrap="square" anchor="t"/>
          <a:lstStyle/>
          <a:p>
            <a:pPr algn="l">
              <a:defRPr sz="1600" b="0">
                <a:solidFill>
                  <a:srgbClr val="A0A0A0"/>
                </a:solidFill>
                <a:latin typeface="Calibri"/>
              </a:defRPr>
            </a:pPr>
            <a:r>
              <a:t>Proprietary = lock-in = slow adoption</a:t>
            </a:r>
          </a:p>
        </p:txBody>
      </p:sp>
      <p:sp>
        <p:nvSpPr>
          <p:cNvPr id="8" name="TextBox 7"/>
          <p:cNvSpPr txBox="1"/>
          <p:nvPr/>
        </p:nvSpPr>
        <p:spPr>
          <a:xfrm>
            <a:off x="1645920" y="3840480"/>
            <a:ext cx="9144000" cy="457200"/>
          </a:xfrm>
          <a:prstGeom prst="rect">
            <a:avLst/>
          </a:prstGeom>
          <a:noFill/>
        </p:spPr>
        <p:txBody>
          <a:bodyPr wrap="square" anchor="t"/>
          <a:lstStyle/>
          <a:p>
            <a:pPr algn="l">
              <a:defRPr sz="2400" b="1">
                <a:solidFill>
                  <a:srgbClr val="FFFFFF"/>
                </a:solidFill>
                <a:latin typeface="Calibri"/>
              </a:defRPr>
            </a:pPr>
            <a:r>
              <a:t>3.  Build diagnostics into silicon</a:t>
            </a:r>
          </a:p>
        </p:txBody>
      </p:sp>
      <p:sp>
        <p:nvSpPr>
          <p:cNvPr id="9" name="TextBox 8"/>
          <p:cNvSpPr txBox="1"/>
          <p:nvPr/>
        </p:nvSpPr>
        <p:spPr>
          <a:xfrm>
            <a:off x="2103120" y="4343400"/>
            <a:ext cx="8229600" cy="457200"/>
          </a:xfrm>
          <a:prstGeom prst="rect">
            <a:avLst/>
          </a:prstGeom>
          <a:noFill/>
        </p:spPr>
        <p:txBody>
          <a:bodyPr wrap="square" anchor="t"/>
          <a:lstStyle/>
          <a:p>
            <a:pPr algn="l">
              <a:defRPr sz="1600" b="0">
                <a:solidFill>
                  <a:srgbClr val="A0A0A0"/>
                </a:solidFill>
                <a:latin typeface="Calibri"/>
              </a:defRPr>
            </a:pPr>
            <a:r>
              <a:t>Remote monitoring is an operational necessity</a:t>
            </a:r>
          </a:p>
        </p:txBody>
      </p:sp>
      <p:sp>
        <p:nvSpPr>
          <p:cNvPr id="10" name="TextBox 9"/>
          <p:cNvSpPr txBox="1"/>
          <p:nvPr/>
        </p:nvSpPr>
        <p:spPr>
          <a:xfrm>
            <a:off x="1645920" y="4983480"/>
            <a:ext cx="9144000" cy="457200"/>
          </a:xfrm>
          <a:prstGeom prst="rect">
            <a:avLst/>
          </a:prstGeom>
          <a:noFill/>
        </p:spPr>
        <p:txBody>
          <a:bodyPr wrap="square" anchor="t"/>
          <a:lstStyle/>
          <a:p>
            <a:pPr algn="l">
              <a:defRPr sz="2400" b="1">
                <a:solidFill>
                  <a:srgbClr val="FFFFFF"/>
                </a:solidFill>
                <a:latin typeface="Calibri"/>
              </a:defRPr>
            </a:pPr>
            <a:r>
              <a:t>4.  Design for multi-tenant workloads</a:t>
            </a:r>
          </a:p>
        </p:txBody>
      </p:sp>
      <p:sp>
        <p:nvSpPr>
          <p:cNvPr id="11" name="TextBox 10"/>
          <p:cNvSpPr txBox="1"/>
          <p:nvPr/>
        </p:nvSpPr>
        <p:spPr>
          <a:xfrm>
            <a:off x="2103120" y="5486400"/>
            <a:ext cx="8229600" cy="457200"/>
          </a:xfrm>
          <a:prstGeom prst="rect">
            <a:avLst/>
          </a:prstGeom>
          <a:noFill/>
        </p:spPr>
        <p:txBody>
          <a:bodyPr wrap="square" anchor="t"/>
          <a:lstStyle/>
          <a:p>
            <a:pPr algn="l">
              <a:defRPr sz="1600" b="0">
                <a:solidFill>
                  <a:srgbClr val="A0A0A0"/>
                </a:solidFill>
                <a:latin typeface="Calibri"/>
              </a:defRPr>
            </a:pPr>
            <a:r>
              <a:t>Hardware isolation improves utilization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nchor="t"/>
          <a:lstStyle/>
          <a:p>
            <a:pPr algn="l">
              <a:defRPr sz="3400" b="1">
                <a:solidFill>
                  <a:srgbClr val="FFFFFF"/>
                </a:solidFill>
                <a:latin typeface="Calibri"/>
              </a:defRPr>
            </a:pPr>
            <a:r>
              <a:t>For Edge / Embodied Chip Designers</a:t>
            </a:r>
          </a:p>
        </p:txBody>
      </p:sp>
      <p:sp>
        <p:nvSpPr>
          <p:cNvPr id="3" name="Rectangle 2"/>
          <p:cNvSpPr/>
          <p:nvPr/>
        </p:nvSpPr>
        <p:spPr>
          <a:xfrm>
            <a:off x="1097280" y="1371600"/>
            <a:ext cx="54864" cy="50292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463040"/>
            <a:ext cx="9144000" cy="411480"/>
          </a:xfrm>
          <a:prstGeom prst="rect">
            <a:avLst/>
          </a:prstGeom>
          <a:noFill/>
        </p:spPr>
        <p:txBody>
          <a:bodyPr wrap="square" anchor="t"/>
          <a:lstStyle/>
          <a:p>
            <a:pPr algn="l">
              <a:defRPr sz="2200" b="1">
                <a:solidFill>
                  <a:srgbClr val="FFFFFF"/>
                </a:solidFill>
                <a:latin typeface="Calibri"/>
              </a:defRPr>
            </a:pPr>
            <a:r>
              <a:t>1.  Heterogeneous compute is mandatory</a:t>
            </a:r>
          </a:p>
        </p:txBody>
      </p:sp>
      <p:sp>
        <p:nvSpPr>
          <p:cNvPr id="5" name="TextBox 4"/>
          <p:cNvSpPr txBox="1"/>
          <p:nvPr/>
        </p:nvSpPr>
        <p:spPr>
          <a:xfrm>
            <a:off x="2103120" y="1874520"/>
            <a:ext cx="8229600" cy="411480"/>
          </a:xfrm>
          <a:prstGeom prst="rect">
            <a:avLst/>
          </a:prstGeom>
          <a:noFill/>
        </p:spPr>
        <p:txBody>
          <a:bodyPr wrap="square" anchor="t"/>
          <a:lstStyle/>
          <a:p>
            <a:pPr algn="l">
              <a:defRPr sz="1500" b="0">
                <a:solidFill>
                  <a:srgbClr val="A0A0A0"/>
                </a:solidFill>
                <a:latin typeface="Calibri"/>
              </a:defRPr>
            </a:pPr>
            <a:r>
              <a:t>CNN + Transformer + Control on one die</a:t>
            </a:r>
          </a:p>
        </p:txBody>
      </p:sp>
      <p:sp>
        <p:nvSpPr>
          <p:cNvPr id="6" name="TextBox 5"/>
          <p:cNvSpPr txBox="1"/>
          <p:nvPr/>
        </p:nvSpPr>
        <p:spPr>
          <a:xfrm>
            <a:off x="1645920" y="2423160"/>
            <a:ext cx="9144000" cy="411480"/>
          </a:xfrm>
          <a:prstGeom prst="rect">
            <a:avLst/>
          </a:prstGeom>
          <a:noFill/>
        </p:spPr>
        <p:txBody>
          <a:bodyPr wrap="square" anchor="t"/>
          <a:lstStyle/>
          <a:p>
            <a:pPr algn="l">
              <a:defRPr sz="2200" b="1">
                <a:solidFill>
                  <a:srgbClr val="FFFFFF"/>
                </a:solidFill>
                <a:latin typeface="Calibri"/>
              </a:defRPr>
            </a:pPr>
            <a:r>
              <a:t>2.  Power is the hard constraint</a:t>
            </a:r>
          </a:p>
        </p:txBody>
      </p:sp>
      <p:sp>
        <p:nvSpPr>
          <p:cNvPr id="7" name="TextBox 6"/>
          <p:cNvSpPr txBox="1"/>
          <p:nvPr/>
        </p:nvSpPr>
        <p:spPr>
          <a:xfrm>
            <a:off x="2103120" y="2834640"/>
            <a:ext cx="8229600" cy="411480"/>
          </a:xfrm>
          <a:prstGeom prst="rect">
            <a:avLst/>
          </a:prstGeom>
          <a:noFill/>
        </p:spPr>
        <p:txBody>
          <a:bodyPr wrap="square" anchor="t"/>
          <a:lstStyle/>
          <a:p>
            <a:pPr algn="l">
              <a:defRPr sz="1500" b="0">
                <a:solidFill>
                  <a:srgbClr val="A0A0A0"/>
                </a:solidFill>
                <a:latin typeface="Calibri"/>
              </a:defRPr>
            </a:pPr>
            <a:r>
              <a:t>Design to 50W first, then maximize compute</a:t>
            </a:r>
          </a:p>
        </p:txBody>
      </p:sp>
      <p:sp>
        <p:nvSpPr>
          <p:cNvPr id="8" name="TextBox 7"/>
          <p:cNvSpPr txBox="1"/>
          <p:nvPr/>
        </p:nvSpPr>
        <p:spPr>
          <a:xfrm>
            <a:off x="1645920" y="3383280"/>
            <a:ext cx="9144000" cy="411480"/>
          </a:xfrm>
          <a:prstGeom prst="rect">
            <a:avLst/>
          </a:prstGeom>
          <a:noFill/>
        </p:spPr>
        <p:txBody>
          <a:bodyPr wrap="square" anchor="t"/>
          <a:lstStyle/>
          <a:p>
            <a:pPr algn="l">
              <a:defRPr sz="2200" b="1">
                <a:solidFill>
                  <a:srgbClr val="FFFFFF"/>
                </a:solidFill>
                <a:latin typeface="Calibri"/>
              </a:defRPr>
            </a:pPr>
            <a:r>
              <a:t>3.  Latency &gt; throughput</a:t>
            </a:r>
          </a:p>
        </p:txBody>
      </p:sp>
      <p:sp>
        <p:nvSpPr>
          <p:cNvPr id="9" name="TextBox 8"/>
          <p:cNvSpPr txBox="1"/>
          <p:nvPr/>
        </p:nvSpPr>
        <p:spPr>
          <a:xfrm>
            <a:off x="2103120" y="3794760"/>
            <a:ext cx="8229600" cy="411480"/>
          </a:xfrm>
          <a:prstGeom prst="rect">
            <a:avLst/>
          </a:prstGeom>
          <a:noFill/>
        </p:spPr>
        <p:txBody>
          <a:bodyPr wrap="square" anchor="t"/>
          <a:lstStyle/>
          <a:p>
            <a:pPr algn="l">
              <a:defRPr sz="1500" b="0">
                <a:solidFill>
                  <a:srgbClr val="A0A0A0"/>
                </a:solidFill>
                <a:latin typeface="Calibri"/>
              </a:defRPr>
            </a:pPr>
            <a:r>
              <a:t>One result in 5ms, not 1000 results per second</a:t>
            </a:r>
          </a:p>
        </p:txBody>
      </p:sp>
      <p:sp>
        <p:nvSpPr>
          <p:cNvPr id="10" name="TextBox 9"/>
          <p:cNvSpPr txBox="1"/>
          <p:nvPr/>
        </p:nvSpPr>
        <p:spPr>
          <a:xfrm>
            <a:off x="1645920" y="4343400"/>
            <a:ext cx="9144000" cy="411480"/>
          </a:xfrm>
          <a:prstGeom prst="rect">
            <a:avLst/>
          </a:prstGeom>
          <a:noFill/>
        </p:spPr>
        <p:txBody>
          <a:bodyPr wrap="square" anchor="t"/>
          <a:lstStyle/>
          <a:p>
            <a:pPr algn="l">
              <a:defRPr sz="2200" b="1">
                <a:solidFill>
                  <a:srgbClr val="EF4444"/>
                </a:solidFill>
                <a:latin typeface="Calibri"/>
              </a:defRPr>
            </a:pPr>
            <a:r>
              <a:t>4.  Safety is non-negotiable</a:t>
            </a:r>
          </a:p>
        </p:txBody>
      </p:sp>
      <p:sp>
        <p:nvSpPr>
          <p:cNvPr id="11" name="TextBox 10"/>
          <p:cNvSpPr txBox="1"/>
          <p:nvPr/>
        </p:nvSpPr>
        <p:spPr>
          <a:xfrm>
            <a:off x="2103120" y="4754880"/>
            <a:ext cx="8229600" cy="411480"/>
          </a:xfrm>
          <a:prstGeom prst="rect">
            <a:avLst/>
          </a:prstGeom>
          <a:noFill/>
        </p:spPr>
        <p:txBody>
          <a:bodyPr wrap="square" anchor="t"/>
          <a:lstStyle/>
          <a:p>
            <a:pPr algn="l">
              <a:defRPr sz="1500" b="0">
                <a:solidFill>
                  <a:srgbClr val="A0A0A0"/>
                </a:solidFill>
                <a:latin typeface="Calibri"/>
              </a:defRPr>
            </a:pPr>
            <a:r>
              <a:t>Functional safety, error correction, graceful degradation</a:t>
            </a:r>
          </a:p>
        </p:txBody>
      </p:sp>
      <p:sp>
        <p:nvSpPr>
          <p:cNvPr id="12" name="TextBox 11"/>
          <p:cNvSpPr txBox="1"/>
          <p:nvPr/>
        </p:nvSpPr>
        <p:spPr>
          <a:xfrm>
            <a:off x="1645920" y="5303520"/>
            <a:ext cx="9144000" cy="411480"/>
          </a:xfrm>
          <a:prstGeom prst="rect">
            <a:avLst/>
          </a:prstGeom>
          <a:noFill/>
        </p:spPr>
        <p:txBody>
          <a:bodyPr wrap="square" anchor="t"/>
          <a:lstStyle/>
          <a:p>
            <a:pPr algn="l">
              <a:defRPr sz="2200" b="1">
                <a:solidFill>
                  <a:srgbClr val="FFFFFF"/>
                </a:solidFill>
                <a:latin typeface="Calibri"/>
              </a:defRPr>
            </a:pPr>
            <a:r>
              <a:t>5.  Cost at scale: &lt;$500/unit</a:t>
            </a:r>
          </a:p>
        </p:txBody>
      </p:sp>
      <p:sp>
        <p:nvSpPr>
          <p:cNvPr id="13" name="TextBox 12"/>
          <p:cNvSpPr txBox="1"/>
          <p:nvPr/>
        </p:nvSpPr>
        <p:spPr>
          <a:xfrm>
            <a:off x="2103120" y="5715000"/>
            <a:ext cx="8229600" cy="411480"/>
          </a:xfrm>
          <a:prstGeom prst="rect">
            <a:avLst/>
          </a:prstGeom>
          <a:noFill/>
        </p:spPr>
        <p:txBody>
          <a:bodyPr wrap="square" anchor="t"/>
          <a:lstStyle/>
          <a:p>
            <a:pPr algn="l">
              <a:defRPr sz="1500" b="0">
                <a:solidFill>
                  <a:srgbClr val="A0A0A0"/>
                </a:solidFill>
                <a:latin typeface="Calibri"/>
              </a:defRPr>
            </a:pPr>
            <a:r>
              <a:t>A $200K robot will never reach mass adoption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914400"/>
            <a:ext cx="9144000" cy="5029200"/>
          </a:xfrm>
          <a:prstGeom prst="rect">
            <a:avLst/>
          </a:prstGeom>
          <a:noFill/>
        </p:spPr>
        <p:txBody>
          <a:bodyPr wrap="square" anchor="ctr"/>
          <a:lstStyle/>
          <a:p>
            <a:pPr algn="ctr">
              <a:spcAft>
                <a:spcPts val="600"/>
              </a:spcAft>
              <a:defRPr sz="2800" b="1">
                <a:solidFill>
                  <a:srgbClr val="FFFFFF"/>
                </a:solidFill>
                <a:latin typeface="Calibri"/>
              </a:defRPr>
            </a:pPr>
            <a:r>
              <a:t>"The best chip is never the one</a:t>
            </a:r>
          </a:p>
          <a:p>
            <a:pPr algn="ctr">
              <a:spcAft>
                <a:spcPts val="600"/>
              </a:spcAft>
              <a:defRPr sz="2800" b="1">
                <a:solidFill>
                  <a:srgbClr val="FFFFFF"/>
                </a:solidFill>
                <a:latin typeface="Calibri"/>
              </a:defRPr>
            </a:pPr>
            <a:r>
              <a:t> with the highest benchmark score.</a:t>
            </a:r>
          </a:p>
          <a:p>
            <a:pPr algn="ctr">
              <a:spcAft>
                <a:spcPts val="600"/>
              </a:spcAft>
              <a:defRPr sz="2000" b="0">
                <a:solidFill>
                  <a:srgbClr val="FFFFFF"/>
                </a:solidFill>
                <a:latin typeface="Calibri"/>
              </a:defRPr>
            </a:pPr>
          </a:p>
          <a:p>
            <a:pPr algn="ctr">
              <a:spcAft>
                <a:spcPts val="600"/>
              </a:spcAft>
              <a:defRPr sz="2800" b="1">
                <a:solidFill>
                  <a:srgbClr val="0EA5E9"/>
                </a:solidFill>
                <a:latin typeface="Calibri"/>
              </a:defRPr>
            </a:pPr>
            <a:r>
              <a:t> It is the one that runs reliably,</a:t>
            </a:r>
          </a:p>
          <a:p>
            <a:pPr algn="ctr">
              <a:spcAft>
                <a:spcPts val="600"/>
              </a:spcAft>
              <a:defRPr sz="2800" b="1">
                <a:solidFill>
                  <a:srgbClr val="0EA5E9"/>
                </a:solidFill>
                <a:latin typeface="Calibri"/>
              </a:defRPr>
            </a:pPr>
            <a:r>
              <a:t> efficiently, and affordably</a:t>
            </a:r>
          </a:p>
          <a:p>
            <a:pPr algn="ctr">
              <a:spcAft>
                <a:spcPts val="600"/>
              </a:spcAft>
              <a:defRPr sz="2800" b="1">
                <a:solidFill>
                  <a:srgbClr val="0EA5E9"/>
                </a:solidFill>
                <a:latin typeface="Calibri"/>
              </a:defRPr>
            </a:pPr>
            <a:r>
              <a:t> in its target deployment environment."</a:t>
            </a:r>
          </a:p>
          <a:p>
            <a:pPr algn="ctr">
              <a:spcAft>
                <a:spcPts val="600"/>
              </a:spcAft>
              <a:defRPr sz="2400" b="0">
                <a:solidFill>
                  <a:srgbClr val="FFFFFF"/>
                </a:solidFill>
                <a:latin typeface="Calibri"/>
              </a:defRPr>
            </a:pPr>
          </a:p>
          <a:p>
            <a:pPr algn="ctr">
              <a:spcAft>
                <a:spcPts val="600"/>
              </a:spcAft>
              <a:defRPr sz="2000" b="0">
                <a:solidFill>
                  <a:srgbClr val="A0A0A0"/>
                </a:solidFill>
                <a:latin typeface="Calibri"/>
              </a:defRPr>
            </a:pPr>
            <a:r>
              <a:t>— From quantitative trading,</a:t>
            </a:r>
          </a:p>
          <a:p>
            <a:pPr algn="ctr">
              <a:spcAft>
                <a:spcPts val="600"/>
              </a:spcAft>
              <a:defRPr sz="2000" b="0">
                <a:solidFill>
                  <a:srgbClr val="A0A0A0"/>
                </a:solidFill>
                <a:latin typeface="Calibri"/>
              </a:defRPr>
            </a:pPr>
            <a:r>
              <a:t>  through data centers, to robots.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Looking Ahead</a:t>
            </a:r>
          </a:p>
        </p:txBody>
      </p:sp>
      <p:sp>
        <p:nvSpPr>
          <p:cNvPr id="3" name="Oval 2"/>
          <p:cNvSpPr/>
          <p:nvPr/>
        </p:nvSpPr>
        <p:spPr>
          <a:xfrm>
            <a:off x="1371600" y="1645920"/>
            <a:ext cx="1097280" cy="10972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2026</a:t>
            </a:r>
          </a:p>
        </p:txBody>
      </p:sp>
      <p:sp>
        <p:nvSpPr>
          <p:cNvPr id="4" name="Rectangle 3"/>
          <p:cNvSpPr/>
          <p:nvPr/>
        </p:nvSpPr>
        <p:spPr>
          <a:xfrm>
            <a:off x="1892807" y="2743200"/>
            <a:ext cx="54864" cy="4572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0" y="1691640"/>
            <a:ext cx="7315200" cy="548640"/>
          </a:xfrm>
          <a:prstGeom prst="rect">
            <a:avLst/>
          </a:prstGeom>
          <a:noFill/>
        </p:spPr>
        <p:txBody>
          <a:bodyPr wrap="square" anchor="t"/>
          <a:lstStyle/>
          <a:p>
            <a:pPr algn="l">
              <a:defRPr sz="2400" b="1">
                <a:solidFill>
                  <a:srgbClr val="FFFFFF"/>
                </a:solidFill>
                <a:latin typeface="Calibri"/>
              </a:defRPr>
            </a:pPr>
            <a:r>
              <a:t>"Inference Famine"</a:t>
            </a:r>
          </a:p>
        </p:txBody>
      </p:sp>
      <p:sp>
        <p:nvSpPr>
          <p:cNvPr id="6" name="TextBox 5"/>
          <p:cNvSpPr txBox="1"/>
          <p:nvPr/>
        </p:nvSpPr>
        <p:spPr>
          <a:xfrm>
            <a:off x="2926080" y="2194560"/>
            <a:ext cx="7315200" cy="457200"/>
          </a:xfrm>
          <a:prstGeom prst="rect">
            <a:avLst/>
          </a:prstGeom>
          <a:noFill/>
        </p:spPr>
        <p:txBody>
          <a:bodyPr wrap="square" anchor="t"/>
          <a:lstStyle/>
          <a:p>
            <a:pPr algn="l">
              <a:defRPr sz="1600" b="0">
                <a:solidFill>
                  <a:srgbClr val="A0A0A0"/>
                </a:solidFill>
                <a:latin typeface="Calibri"/>
              </a:defRPr>
            </a:pPr>
            <a:r>
              <a:t>Demand for inference compute outpaces supply</a:t>
            </a:r>
          </a:p>
        </p:txBody>
      </p:sp>
      <p:sp>
        <p:nvSpPr>
          <p:cNvPr id="7" name="Oval 6"/>
          <p:cNvSpPr/>
          <p:nvPr/>
        </p:nvSpPr>
        <p:spPr>
          <a:xfrm>
            <a:off x="1371600" y="3200400"/>
            <a:ext cx="1097280" cy="109728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2027</a:t>
            </a:r>
          </a:p>
        </p:txBody>
      </p:sp>
      <p:sp>
        <p:nvSpPr>
          <p:cNvPr id="8" name="Rectangle 7"/>
          <p:cNvSpPr/>
          <p:nvPr/>
        </p:nvSpPr>
        <p:spPr>
          <a:xfrm>
            <a:off x="1892807" y="4297680"/>
            <a:ext cx="54864" cy="4572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3246120"/>
            <a:ext cx="7315200" cy="548640"/>
          </a:xfrm>
          <a:prstGeom prst="rect">
            <a:avLst/>
          </a:prstGeom>
          <a:noFill/>
        </p:spPr>
        <p:txBody>
          <a:bodyPr wrap="square" anchor="t"/>
          <a:lstStyle/>
          <a:p>
            <a:pPr algn="l">
              <a:defRPr sz="2400" b="1">
                <a:solidFill>
                  <a:srgbClr val="FFFFFF"/>
                </a:solidFill>
                <a:latin typeface="Calibri"/>
              </a:defRPr>
            </a:pPr>
            <a:r>
              <a:t>First wave of mass-produced humanoid robots</a:t>
            </a:r>
          </a:p>
        </p:txBody>
      </p:sp>
      <p:sp>
        <p:nvSpPr>
          <p:cNvPr id="10" name="TextBox 9"/>
          <p:cNvSpPr txBox="1"/>
          <p:nvPr/>
        </p:nvSpPr>
        <p:spPr>
          <a:xfrm>
            <a:off x="2926080" y="3749040"/>
            <a:ext cx="7315200" cy="457200"/>
          </a:xfrm>
          <a:prstGeom prst="rect">
            <a:avLst/>
          </a:prstGeom>
          <a:noFill/>
        </p:spPr>
        <p:txBody>
          <a:bodyPr wrap="square" anchor="t"/>
          <a:lstStyle/>
          <a:p>
            <a:pPr algn="l">
              <a:defRPr sz="1600" b="0">
                <a:solidFill>
                  <a:srgbClr val="A0A0A0"/>
                </a:solidFill>
                <a:latin typeface="Calibri"/>
              </a:defRPr>
            </a:pPr>
            <a:r>
              <a:t>Logistics, manufacturing, elder care</a:t>
            </a:r>
          </a:p>
        </p:txBody>
      </p:sp>
      <p:sp>
        <p:nvSpPr>
          <p:cNvPr id="11" name="Oval 10"/>
          <p:cNvSpPr/>
          <p:nvPr/>
        </p:nvSpPr>
        <p:spPr>
          <a:xfrm>
            <a:off x="1371600" y="4754880"/>
            <a:ext cx="1097280" cy="10972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2028+</a:t>
            </a:r>
          </a:p>
        </p:txBody>
      </p:sp>
      <p:sp>
        <p:nvSpPr>
          <p:cNvPr id="12" name="TextBox 11"/>
          <p:cNvSpPr txBox="1"/>
          <p:nvPr/>
        </p:nvSpPr>
        <p:spPr>
          <a:xfrm>
            <a:off x="2926080" y="4800600"/>
            <a:ext cx="7315200" cy="548640"/>
          </a:xfrm>
          <a:prstGeom prst="rect">
            <a:avLst/>
          </a:prstGeom>
          <a:noFill/>
        </p:spPr>
        <p:txBody>
          <a:bodyPr wrap="square" anchor="t"/>
          <a:lstStyle/>
          <a:p>
            <a:pPr algn="l">
              <a:defRPr sz="2400" b="1">
                <a:solidFill>
                  <a:srgbClr val="FFFFFF"/>
                </a:solidFill>
                <a:latin typeface="Calibri"/>
              </a:defRPr>
            </a:pPr>
            <a:r>
              <a:t>On-body AI compute market</a:t>
            </a:r>
          </a:p>
        </p:txBody>
      </p:sp>
      <p:sp>
        <p:nvSpPr>
          <p:cNvPr id="13" name="TextBox 12"/>
          <p:cNvSpPr txBox="1"/>
          <p:nvPr/>
        </p:nvSpPr>
        <p:spPr>
          <a:xfrm>
            <a:off x="2926080" y="5303520"/>
            <a:ext cx="7315200" cy="457200"/>
          </a:xfrm>
          <a:prstGeom prst="rect">
            <a:avLst/>
          </a:prstGeom>
          <a:noFill/>
        </p:spPr>
        <p:txBody>
          <a:bodyPr wrap="square" anchor="t"/>
          <a:lstStyle/>
          <a:p>
            <a:pPr algn="l">
              <a:defRPr sz="1600" b="0">
                <a:solidFill>
                  <a:srgbClr val="A0A0A0"/>
                </a:solidFill>
                <a:latin typeface="Calibri"/>
              </a:defRPr>
            </a:pPr>
            <a:r>
              <a:t>Comparable in scale to smartphone SoC market</a:t>
            </a:r>
          </a:p>
        </p:txBody>
      </p:sp>
      <p:sp>
        <p:nvSpPr>
          <p:cNvPr id="14" name="TextBox 13"/>
          <p:cNvSpPr txBox="1"/>
          <p:nvPr/>
        </p:nvSpPr>
        <p:spPr>
          <a:xfrm>
            <a:off x="914400" y="5760720"/>
            <a:ext cx="10058400" cy="914400"/>
          </a:xfrm>
          <a:prstGeom prst="rect">
            <a:avLst/>
          </a:prstGeom>
          <a:noFill/>
        </p:spPr>
        <p:txBody>
          <a:bodyPr wrap="square" anchor="t"/>
          <a:lstStyle/>
          <a:p>
            <a:pPr algn="ctr">
              <a:spcAft>
                <a:spcPts val="600"/>
              </a:spcAft>
              <a:defRPr sz="1800" b="1">
                <a:solidFill>
                  <a:srgbClr val="FFD700"/>
                </a:solidFill>
                <a:latin typeface="Calibri"/>
              </a:defRPr>
            </a:pPr>
            <a:r>
              <a:t>Every robot = a mobile computing platform</a:t>
            </a:r>
          </a:p>
          <a:p>
            <a:pPr algn="ctr">
              <a:spcAft>
                <a:spcPts val="600"/>
              </a:spcAft>
              <a:defRPr sz="1800" b="1">
                <a:solidFill>
                  <a:srgbClr val="FFD700"/>
                </a:solidFill>
                <a:latin typeface="Calibri"/>
              </a:defRPr>
            </a:pPr>
            <a:r>
              <a:t>Aggregate demand = enormous new IC market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The Convergence</a:t>
            </a:r>
          </a:p>
        </p:txBody>
      </p:sp>
      <p:sp>
        <p:nvSpPr>
          <p:cNvPr id="3" name="Oval 2"/>
          <p:cNvSpPr/>
          <p:nvPr/>
        </p:nvSpPr>
        <p:spPr>
          <a:xfrm>
            <a:off x="3657600" y="1645920"/>
            <a:ext cx="3200400" cy="3200400"/>
          </a:xfrm>
          <a:prstGeom prst="ellipse">
            <a:avLst/>
          </a:prstGeom>
          <a:solidFill>
            <a:srgbClr val="04374D"/>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Cloud AI</a:t>
            </a:r>
            <a:br/>
            <a:r>
              <a:t>Training chips</a:t>
            </a:r>
            <a:br/>
            <a:r>
              <a:t>(mature)</a:t>
            </a:r>
          </a:p>
        </p:txBody>
      </p:sp>
      <p:sp>
        <p:nvSpPr>
          <p:cNvPr id="4" name="Oval 3"/>
          <p:cNvSpPr/>
          <p:nvPr/>
        </p:nvSpPr>
        <p:spPr>
          <a:xfrm>
            <a:off x="5943600" y="1645920"/>
            <a:ext cx="3200400" cy="3200400"/>
          </a:xfrm>
          <a:prstGeom prst="ellipse">
            <a:avLst/>
          </a:prstGeom>
          <a:solidFill>
            <a:srgbClr val="532607"/>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Edge AI</a:t>
            </a:r>
            <a:br/>
            <a:r>
              <a:t>Inference chips</a:t>
            </a:r>
            <a:br/>
            <a:r>
              <a:t>(growing)</a:t>
            </a:r>
          </a:p>
        </p:txBody>
      </p:sp>
      <p:sp>
        <p:nvSpPr>
          <p:cNvPr id="5" name="Oval 4"/>
          <p:cNvSpPr/>
          <p:nvPr/>
        </p:nvSpPr>
        <p:spPr>
          <a:xfrm>
            <a:off x="4800600" y="3474720"/>
            <a:ext cx="3200400" cy="3200400"/>
          </a:xfrm>
          <a:prstGeom prst="ellipse">
            <a:avLst/>
          </a:prstGeom>
          <a:solidFill>
            <a:srgbClr val="0B411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On-Body AI</a:t>
            </a:r>
            <a:br/>
            <a:r>
              <a:t>Embodied SoCs</a:t>
            </a:r>
            <a:br/>
            <a:r>
              <a:t>(emerging)</a:t>
            </a:r>
          </a:p>
        </p:txBody>
      </p:sp>
      <p:sp>
        <p:nvSpPr>
          <p:cNvPr id="6" name="Rounded Rectangle 5"/>
          <p:cNvSpPr/>
          <p:nvPr/>
        </p:nvSpPr>
        <p:spPr>
          <a:xfrm>
            <a:off x="4937760" y="3474720"/>
            <a:ext cx="2560320" cy="640080"/>
          </a:xfrm>
          <a:prstGeom prst="roundRect">
            <a:avLst/>
          </a:prstGeom>
          <a:solidFill>
            <a:srgbClr val="303050"/>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0" y="3520440"/>
            <a:ext cx="2560320" cy="548640"/>
          </a:xfrm>
          <a:prstGeom prst="rect">
            <a:avLst/>
          </a:prstGeom>
          <a:noFill/>
        </p:spPr>
        <p:txBody>
          <a:bodyPr wrap="square" anchor="t"/>
          <a:lstStyle/>
          <a:p>
            <a:pPr algn="ctr">
              <a:defRPr sz="1600" b="1">
                <a:solidFill>
                  <a:srgbClr val="FFD700"/>
                </a:solidFill>
                <a:latin typeface="Calibri"/>
              </a:defRPr>
            </a:pPr>
            <a:r>
              <a:t>The IC Opportunity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9144000" cy="731520"/>
          </a:xfrm>
          <a:prstGeom prst="rect">
            <a:avLst/>
          </a:prstGeom>
          <a:noFill/>
        </p:spPr>
        <p:txBody>
          <a:bodyPr wrap="square" anchor="t"/>
          <a:lstStyle/>
          <a:p>
            <a:pPr algn="l">
              <a:defRPr sz="3600" b="1">
                <a:solidFill>
                  <a:srgbClr val="FFFFFF"/>
                </a:solidFill>
                <a:latin typeface="Calibri"/>
              </a:defRPr>
            </a:pPr>
            <a:r>
              <a:t>For Everyone in This Room</a:t>
            </a:r>
          </a:p>
        </p:txBody>
      </p:sp>
      <p:sp>
        <p:nvSpPr>
          <p:cNvPr id="3" name="TextBox 2"/>
          <p:cNvSpPr txBox="1"/>
          <p:nvPr/>
        </p:nvSpPr>
        <p:spPr>
          <a:xfrm>
            <a:off x="1371600" y="1645920"/>
            <a:ext cx="9144000" cy="4572000"/>
          </a:xfrm>
          <a:prstGeom prst="rect">
            <a:avLst/>
          </a:prstGeom>
          <a:noFill/>
        </p:spPr>
        <p:txBody>
          <a:bodyPr wrap="square" anchor="t"/>
          <a:lstStyle/>
          <a:p>
            <a:pPr algn="l">
              <a:spcAft>
                <a:spcPts val="600"/>
              </a:spcAft>
              <a:defRPr sz="2800" b="0">
                <a:solidFill>
                  <a:srgbClr val="FFFFFF"/>
                </a:solidFill>
                <a:latin typeface="Calibri"/>
              </a:defRPr>
            </a:pPr>
            <a:r>
              <a:t>You are designing the</a:t>
            </a:r>
          </a:p>
          <a:p>
            <a:pPr algn="l">
              <a:spcAft>
                <a:spcPts val="600"/>
              </a:spcAft>
              <a:defRPr sz="3600" b="1">
                <a:solidFill>
                  <a:srgbClr val="FFD700"/>
                </a:solidFill>
                <a:latin typeface="Calibri"/>
              </a:defRPr>
            </a:pPr>
            <a:r>
              <a:t>nervous system</a:t>
            </a:r>
          </a:p>
          <a:p>
            <a:pPr algn="l">
              <a:spcAft>
                <a:spcPts val="600"/>
              </a:spcAft>
              <a:defRPr sz="2800" b="0">
                <a:solidFill>
                  <a:srgbClr val="FFFFFF"/>
                </a:solidFill>
                <a:latin typeface="Calibri"/>
              </a:defRPr>
            </a:pPr>
            <a:r>
              <a:t>of tomorrow's intelligent machines.</a:t>
            </a:r>
          </a:p>
          <a:p>
            <a:pPr algn="l">
              <a:spcAft>
                <a:spcPts val="600"/>
              </a:spcAft>
              <a:defRPr sz="2000" b="0">
                <a:solidFill>
                  <a:srgbClr val="FFFFFF"/>
                </a:solidFill>
                <a:latin typeface="Calibri"/>
              </a:defRPr>
            </a:pPr>
          </a:p>
          <a:p>
            <a:pPr algn="l">
              <a:spcAft>
                <a:spcPts val="600"/>
              </a:spcAft>
              <a:defRPr sz="2400" b="0">
                <a:solidFill>
                  <a:srgbClr val="C0C0C0"/>
                </a:solidFill>
                <a:latin typeface="Calibri"/>
              </a:defRPr>
            </a:pPr>
            <a:r>
              <a:t>Your decisions on:</a:t>
            </a:r>
          </a:p>
          <a:p>
            <a:pPr algn="l">
              <a:spcAft>
                <a:spcPts val="600"/>
              </a:spcAft>
              <a:defRPr sz="800" b="0">
                <a:solidFill>
                  <a:srgbClr val="FFFFFF"/>
                </a:solidFill>
                <a:latin typeface="Calibri"/>
              </a:defRPr>
            </a:pPr>
          </a:p>
          <a:p>
            <a:pPr algn="l">
              <a:spcAft>
                <a:spcPts val="600"/>
              </a:spcAft>
              <a:defRPr sz="2400" b="1">
                <a:solidFill>
                  <a:srgbClr val="0EA5E9"/>
                </a:solidFill>
                <a:latin typeface="Calibri"/>
              </a:defRPr>
            </a:pPr>
            <a:r>
              <a:t>    •  Architecture</a:t>
            </a:r>
          </a:p>
          <a:p>
            <a:pPr algn="l">
              <a:spcAft>
                <a:spcPts val="600"/>
              </a:spcAft>
              <a:defRPr sz="2400" b="1">
                <a:solidFill>
                  <a:srgbClr val="F97316"/>
                </a:solidFill>
                <a:latin typeface="Calibri"/>
              </a:defRPr>
            </a:pPr>
            <a:r>
              <a:t>    •  Power efficiency</a:t>
            </a:r>
          </a:p>
          <a:p>
            <a:pPr algn="l">
              <a:spcAft>
                <a:spcPts val="600"/>
              </a:spcAft>
              <a:defRPr sz="2400" b="1">
                <a:solidFill>
                  <a:srgbClr val="22C55E"/>
                </a:solidFill>
                <a:latin typeface="Calibri"/>
              </a:defRPr>
            </a:pPr>
            <a:r>
              <a:t>    •  Reliability</a:t>
            </a:r>
          </a:p>
          <a:p>
            <a:pPr algn="l">
              <a:spcAft>
                <a:spcPts val="600"/>
              </a:spcAft>
              <a:defRPr sz="1600" b="0">
                <a:solidFill>
                  <a:srgbClr val="FFFFFF"/>
                </a:solidFill>
                <a:latin typeface="Calibri"/>
              </a:defRPr>
            </a:pPr>
          </a:p>
          <a:p>
            <a:pPr algn="l">
              <a:spcAft>
                <a:spcPts val="600"/>
              </a:spcAft>
              <a:defRPr sz="2400" b="0">
                <a:solidFill>
                  <a:srgbClr val="FFFFFF"/>
                </a:solidFill>
                <a:latin typeface="Calibri"/>
              </a:defRPr>
            </a:pPr>
            <a:r>
              <a:t>will determine whether embodied AI</a:t>
            </a:r>
          </a:p>
          <a:p>
            <a:pPr algn="l">
              <a:spcAft>
                <a:spcPts val="600"/>
              </a:spcAft>
              <a:defRPr sz="2400" b="1">
                <a:solidFill>
                  <a:srgbClr val="FFFFFF"/>
                </a:solidFill>
                <a:latin typeface="Calibri"/>
              </a:defRPr>
            </a:pPr>
            <a:r>
              <a:t>becomes reality — or stays in the lab.</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914400"/>
            <a:ext cx="9144000" cy="5029200"/>
          </a:xfrm>
          <a:prstGeom prst="rect">
            <a:avLst/>
          </a:prstGeom>
          <a:noFill/>
        </p:spPr>
        <p:txBody>
          <a:bodyPr wrap="square" anchor="ctr"/>
          <a:lstStyle/>
          <a:p>
            <a:pPr algn="ctr">
              <a:spcAft>
                <a:spcPts val="600"/>
              </a:spcAft>
              <a:defRPr sz="2400" b="0">
                <a:solidFill>
                  <a:srgbClr val="FFFFFF"/>
                </a:solidFill>
                <a:latin typeface="Calibri"/>
              </a:defRPr>
            </a:pPr>
            <a:r>
              <a:t>"I started optimizing compute for financial models,</a:t>
            </a:r>
          </a:p>
          <a:p>
            <a:pPr algn="ctr">
              <a:spcAft>
                <a:spcPts val="600"/>
              </a:spcAft>
              <a:defRPr sz="2400" b="1">
                <a:solidFill>
                  <a:srgbClr val="0EA5E9"/>
                </a:solidFill>
                <a:latin typeface="Calibri"/>
              </a:defRPr>
            </a:pPr>
            <a:r>
              <a:t> where microseconds meant money.</a:t>
            </a:r>
          </a:p>
          <a:p>
            <a:pPr algn="ctr">
              <a:spcAft>
                <a:spcPts val="600"/>
              </a:spcAft>
              <a:defRPr sz="1600" b="0">
                <a:solidFill>
                  <a:srgbClr val="FFFFFF"/>
                </a:solidFill>
                <a:latin typeface="Calibri"/>
              </a:defRPr>
            </a:pPr>
          </a:p>
          <a:p>
            <a:pPr algn="ctr">
              <a:spcAft>
                <a:spcPts val="600"/>
              </a:spcAft>
              <a:defRPr sz="2400" b="0">
                <a:solidFill>
                  <a:srgbClr val="FFFFFF"/>
                </a:solidFill>
                <a:latin typeface="Calibri"/>
              </a:defRPr>
            </a:pPr>
            <a:r>
              <a:t> I then built computing centers,</a:t>
            </a:r>
          </a:p>
          <a:p>
            <a:pPr algn="ctr">
              <a:spcAft>
                <a:spcPts val="600"/>
              </a:spcAft>
              <a:defRPr sz="2400" b="1">
                <a:solidFill>
                  <a:srgbClr val="F97316"/>
                </a:solidFill>
                <a:latin typeface="Calibri"/>
              </a:defRPr>
            </a:pPr>
            <a:r>
              <a:t> where power efficiency meant survival.</a:t>
            </a:r>
          </a:p>
          <a:p>
            <a:pPr algn="ctr">
              <a:spcAft>
                <a:spcPts val="600"/>
              </a:spcAft>
              <a:defRPr sz="1600" b="0">
                <a:solidFill>
                  <a:srgbClr val="FFFFFF"/>
                </a:solidFill>
                <a:latin typeface="Calibri"/>
              </a:defRPr>
            </a:pPr>
          </a:p>
          <a:p>
            <a:pPr algn="ctr">
              <a:spcAft>
                <a:spcPts val="600"/>
              </a:spcAft>
              <a:defRPr sz="2400" b="0">
                <a:solidFill>
                  <a:srgbClr val="FFFFFF"/>
                </a:solidFill>
                <a:latin typeface="Calibri"/>
              </a:defRPr>
            </a:pPr>
            <a:r>
              <a:t> Now I invest in robots,</a:t>
            </a:r>
          </a:p>
          <a:p>
            <a:pPr algn="ctr">
              <a:spcAft>
                <a:spcPts val="600"/>
              </a:spcAft>
              <a:defRPr sz="2400" b="1">
                <a:solidFill>
                  <a:srgbClr val="22C55E"/>
                </a:solidFill>
                <a:latin typeface="Calibri"/>
              </a:defRPr>
            </a:pPr>
            <a:r>
              <a:t> where real-time inference means safety."</a:t>
            </a:r>
          </a:p>
          <a:p>
            <a:pPr algn="ctr">
              <a:spcAft>
                <a:spcPts val="600"/>
              </a:spcAft>
              <a:defRPr sz="2400" b="0">
                <a:solidFill>
                  <a:srgbClr val="FFFFFF"/>
                </a:solidFill>
                <a:latin typeface="Calibri"/>
              </a:defRPr>
            </a:pPr>
          </a:p>
          <a:p>
            <a:pPr algn="ctr">
              <a:spcAft>
                <a:spcPts val="600"/>
              </a:spcAft>
              <a:defRPr sz="2200" b="0">
                <a:solidFill>
                  <a:srgbClr val="C0C0C0"/>
                </a:solidFill>
                <a:latin typeface="Calibri"/>
              </a:defRPr>
            </a:pPr>
            <a:r>
              <a:t>Advancing IC with AI.</a:t>
            </a:r>
          </a:p>
          <a:p>
            <a:pPr algn="ctr">
              <a:spcAft>
                <a:spcPts val="600"/>
              </a:spcAft>
              <a:defRPr sz="2200" b="0">
                <a:solidFill>
                  <a:srgbClr val="C0C0C0"/>
                </a:solidFill>
                <a:latin typeface="Calibri"/>
              </a:defRPr>
            </a:pPr>
            <a:r>
              <a:t>Advancing AI with IC —</a:t>
            </a:r>
          </a:p>
          <a:p>
            <a:pPr algn="ctr">
              <a:spcAft>
                <a:spcPts val="600"/>
              </a:spcAft>
              <a:defRPr sz="2200" b="1">
                <a:solidFill>
                  <a:srgbClr val="FFD700"/>
                </a:solidFill>
                <a:latin typeface="Calibri"/>
              </a:defRPr>
            </a:pPr>
            <a:r>
              <a:t>from the cloud, through the edge, into the body.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2743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371600"/>
            <a:ext cx="8229600" cy="4572000"/>
          </a:xfrm>
          <a:prstGeom prst="rect">
            <a:avLst/>
          </a:prstGeom>
          <a:noFill/>
        </p:spPr>
        <p:txBody>
          <a:bodyPr wrap="square" anchor="ctr"/>
          <a:lstStyle/>
          <a:p>
            <a:pPr algn="ctr">
              <a:spcAft>
                <a:spcPts val="600"/>
              </a:spcAft>
              <a:defRPr sz="5600" b="1">
                <a:solidFill>
                  <a:srgbClr val="FFFFFF"/>
                </a:solidFill>
                <a:latin typeface="Calibri"/>
              </a:defRPr>
            </a:pPr>
            <a:r>
              <a:t>Thank You</a:t>
            </a:r>
          </a:p>
          <a:p>
            <a:pPr algn="ctr">
              <a:spcAft>
                <a:spcPts val="600"/>
              </a:spcAft>
              <a:defRPr sz="3600" b="0">
                <a:solidFill>
                  <a:srgbClr val="A0A0A0"/>
                </a:solidFill>
                <a:latin typeface="Calibri"/>
              </a:defRPr>
            </a:pPr>
            <a:r>
              <a:t>谢谢</a:t>
            </a:r>
          </a:p>
          <a:p>
            <a:pPr algn="ctr">
              <a:spcAft>
                <a:spcPts val="600"/>
              </a:spcAft>
              <a:defRPr sz="3000" b="0">
                <a:solidFill>
                  <a:srgbClr val="FFFFFF"/>
                </a:solidFill>
                <a:latin typeface="Calibri"/>
              </a:defRPr>
            </a:pPr>
          </a:p>
          <a:p>
            <a:pPr algn="ctr">
              <a:spcAft>
                <a:spcPts val="600"/>
              </a:spcAft>
              <a:defRPr sz="2800" b="1">
                <a:solidFill>
                  <a:srgbClr val="FFFFFF"/>
                </a:solidFill>
                <a:latin typeface="Calibri"/>
              </a:defRPr>
            </a:pPr>
            <a:r>
              <a:t>Chao Chen  陈超</a:t>
            </a:r>
          </a:p>
          <a:p>
            <a:pPr algn="ctr">
              <a:spcAft>
                <a:spcPts val="600"/>
              </a:spcAft>
              <a:defRPr sz="1000" b="0">
                <a:solidFill>
                  <a:srgbClr val="FFFFFF"/>
                </a:solidFill>
                <a:latin typeface="Calibri"/>
              </a:defRPr>
            </a:pPr>
          </a:p>
          <a:p>
            <a:pPr algn="ctr">
              <a:spcAft>
                <a:spcPts val="600"/>
              </a:spcAft>
              <a:defRPr sz="1800" b="0">
                <a:solidFill>
                  <a:srgbClr val="C0C0C0"/>
                </a:solidFill>
                <a:latin typeface="Calibri"/>
              </a:defRPr>
            </a:pPr>
            <a:r>
              <a:t>Suzhou Chuangjie Intelligent Technology Co., Ltd.</a:t>
            </a:r>
          </a:p>
          <a:p>
            <a:pPr algn="ctr">
              <a:spcAft>
                <a:spcPts val="600"/>
              </a:spcAft>
              <a:defRPr sz="1600" b="0">
                <a:solidFill>
                  <a:srgbClr val="A0A0A0"/>
                </a:solidFill>
                <a:latin typeface="Calibri"/>
              </a:defRPr>
            </a:pPr>
            <a:r>
              <a:t>苏州创界智能科技有限公司</a:t>
            </a:r>
          </a:p>
          <a:p>
            <a:pPr algn="ctr">
              <a:spcAft>
                <a:spcPts val="600"/>
              </a:spcAft>
              <a:defRPr sz="1600" b="0">
                <a:solidFill>
                  <a:srgbClr val="FFFFFF"/>
                </a:solidFill>
                <a:latin typeface="Calibri"/>
              </a:defRPr>
            </a:pPr>
          </a:p>
          <a:p>
            <a:pPr algn="ctr">
              <a:spcAft>
                <a:spcPts val="600"/>
              </a:spcAft>
              <a:defRPr sz="1800" b="0">
                <a:solidFill>
                  <a:srgbClr val="F97316"/>
                </a:solidFill>
                <a:latin typeface="Calibri"/>
              </a:defRPr>
            </a:pPr>
            <a:r>
              <a:t>IEEE ICTA 2026  |  Singapore</a:t>
            </a:r>
          </a:p>
        </p:txBody>
      </p:sp>
      <p:sp>
        <p:nvSpPr>
          <p:cNvPr id="4" name="Rectangle 3"/>
          <p:cNvSpPr/>
          <p:nvPr/>
        </p:nvSpPr>
        <p:spPr>
          <a:xfrm>
            <a:off x="0" y="6583680"/>
            <a:ext cx="12191695" cy="2743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