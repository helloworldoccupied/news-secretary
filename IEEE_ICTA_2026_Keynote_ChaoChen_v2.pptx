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Thank you to the IEEE ICTA organizing committee for the invitation. It's a privilege to be here at a conference dedicated to advancing integrated circuits with AI.</a:t>
            </a:r>
          </a:p>
          <a:p/>
          <a:p>
            <a:r>
              <a:t>My name is Chao Chen. I'm going to talk about AI computing infrastructure — but not from the chip designer's perspective. I'm going to talk about it from the other side: the perspective of someone who deploys chips at scale, who operates the data centers they go into, and who invests in the robots that will need them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a personal observation. In my career, I've lived through what I call three waves of compute demand.</a:t>
            </a:r>
          </a:p>
          <a:p/>
          <a:p>
            <a:r>
              <a:t>The first wave was quantitative trading. I started in quantitative finance, building systems where microseconds mattered and computational throughput directly translated to profit. Computing power is not an IT cost — it's the core production asset.</a:t>
            </a:r>
          </a:p>
          <a:p/>
          <a:p>
            <a:r>
              <a:t>The second wave is AI training — large-scale GPU clusters for training foundation models. The real challenges are thermal management, power delivery, network interconnection, and utilization — all system-level problems.</a:t>
            </a:r>
          </a:p>
          <a:p/>
          <a:p>
            <a:r>
              <a:t>The third wave is just beginning: embodied intelligence. I'm an investor in LingShen Technology and TIEN Kung. Through these investments, I've seen an entirely new set of computing demands.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According to Deloitte, inference workloads will account for roughly two-thirds of all AI compute in 2026 — up from one-third in 2023. The market for inference-optimized chips alone will exceed 50 billion US dollars this year. And the embodied AI market is projected to grow at a 31% compound annual growth rate.</a:t>
            </a:r>
          </a:p>
          <a:p/>
          <a:p>
            <a:r>
              <a:t>The demand for compute is not just growing — it's diversifying. Each new form of compute creates new demands on IC design.</a:t>
            </a:r>
          </a:p>
          <a:p/>
          <a:p>
            <a:r>
              <a:t>Today I want to take you on a journey from the cloud to the edge to the robot's body — and at each stop, I'll share what chip designers need to know.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slide — let the numbers speak]</a:t>
            </a:r>
          </a:p>
          <a:p/>
          <a:p>
            <a:r>
              <a:t>Two-thirds of all AI compute is inference. 50 billion dollar inference chip market. 31% CAGR for embodied AI.</a:t>
            </a:r>
          </a:p>
          <a:p/>
          <a:p>
            <a:r>
              <a:t>Source: Deloitte TMT Predictions 2026, Omdia Market Radar 2026.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data center.</a:t>
            </a:r>
          </a:p>
          <a:p/>
          <a:p>
            <a:r>
              <a:t>[Section transition — pause briefly]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China has built over 200 intelligent computing centers in the past three years. I've been directly involved in several of these. The most important lessons I've learned have nothing to do with chip specifications.</a:t>
            </a:r>
          </a:p>
          <a:p/>
          <a:p>
            <a:r>
              <a:t>When you operate thousands of GPU accelerators in a single facility, the system-level challenges dominate everything. Let me walk you through the top three.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number one: thermal management.</a:t>
            </a:r>
          </a:p>
          <a:p/>
          <a:p>
            <a:r>
              <a:t>A single high-end AI accelerator now consumes 700 watts or more. A fully loaded rack can draw 40 to 80 kilowatts. At this power density, traditional air cooling simply cannot keep up.</a:t>
            </a:r>
          </a:p>
          <a:p/>
          <a:p>
            <a:r>
              <a:t>In our facilities, we've transitioned from air cooling to liquid cooling, bringing our PUE from approximately 1.4 down to 1.15. That 0.25 reduction translates directly to millions of dollars in annual energy savings and, more importantly, to stable chip operating temperatures that extend hardware lifetime.</a:t>
            </a:r>
          </a:p>
          <a:p/>
          <a:p>
            <a:r>
              <a:t>The takeaway for IC designers: your chip's thermal design power is not just a spec on a datasheet. It directly determines what kind of cooling infrastructure is required, which determines the total cost of ownership. Reducing TDP by even 50 watts can change the economics of an entire data center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number two: power supply.</a:t>
            </a:r>
          </a:p>
          <a:p/>
          <a:p>
            <a:r>
              <a:t>One thousand GPU accelerators consume approximately one megawatt. A large center may have ten to fifty thousand cards — 10 to 50 megawatts — the electrical load of a small town.</a:t>
            </a:r>
          </a:p>
          <a:p/>
          <a:p>
            <a:r>
              <a:t>In China, this has led to a geographic redistribution of AI infrastructure. Computing centers are increasingly built in western provinces — Guizhou, Inner Mongolia, Gansu — where electricity costs one-third of what it costs in Beijing or Shanghai. Power is the new oil of the AI era.</a:t>
            </a:r>
          </a:p>
          <a:p/>
          <a:p>
            <a:r>
              <a:t>For chip designers: performance per watt is arguably more important than absolute performance. A chip that delivers 90% of the FLOPS at 70% of the power will win in large-scale deployment every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number three: utilization.</a:t>
            </a:r>
          </a:p>
          <a:p/>
          <a:p>
            <a:r>
              <a:t>This one surprised me. The average GPU utilization rate across China's intelligent computing centers is estimated at less than 30 percent. We buy enormous compute capacity, and most of it sits idle.</a:t>
            </a:r>
          </a:p>
          <a:p/>
          <a:p>
            <a:r>
              <a:t>Why? Multi-tenant scheduling is hard. Memory fragmentation between models of different sizes is a real problem. When a card fails — which happens daily at scale — recovery wastes hours of cluster time.</a:t>
            </a:r>
          </a:p>
          <a:p/>
          <a:p>
            <a:r>
              <a:t>The fundamental problem: hardware not designed for multi-tenant, fault-tolerant operation at scale creates utilization problems that no software layer can fully solve.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are the cloud-scale lessons for IC designers:</a:t>
            </a:r>
          </a:p>
          <a:p/>
          <a:p>
            <a:r>
              <a:t>First, design for system deployability, not just benchmark performance. A chip that runs hot, draws excessive power, or lacks diagnostic capabilities creates downstream costs that dwarf the chip's purchase price.</a:t>
            </a:r>
          </a:p>
          <a:p/>
          <a:p>
            <a:r>
              <a:t>Second, power efficiency is king. Performance per watt matters more than peak performance.</a:t>
            </a:r>
          </a:p>
          <a:p/>
          <a:p>
            <a:r>
              <a:t>Third, build observability into the silicon. Remote monitoring, temperature reporting, error logging — at scale, they are operational necessities.</a:t>
            </a:r>
          </a:p>
          <a:p/>
          <a:p>
            <a:r>
              <a:t>Fourth, reliability over years, not hours. We need chips that run stable at 85% load for 365 days, not chips that hit a record benchmark for 60 seconds.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want to shift gears dramatically.</a:t>
            </a:r>
          </a:p>
          <a:p/>
          <a:p>
            <a:r>
              <a:t>Everything I just described — liquid cooling, megawatt power supplies, high-speed interconnects — assumes the chip lives in a data center. But what happens when compute needs to leave the data center and walk around on two legs?</a:t>
            </a:r>
          </a:p>
          <a:p/>
          <a:p>
            <a:r>
              <a:t>[Section transition — pause for effect]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few years ago, I started asking: what comes after the data center? Where does AI compute go next? The answer is into the physical world — into robots, vehicles, and industrial equipment.</a:t>
            </a:r>
          </a:p>
          <a:p/>
          <a:p>
            <a:r>
              <a:t>When I talk to the engineering teams, I always ask: what is your biggest bottleneck?</a:t>
            </a:r>
          </a:p>
          <a:p/>
          <a:p>
            <a:r>
              <a:t>The answer is never funding. It's never algorithms. The answer is consistently: on-body compute. The available processors simply cannot deliver what we need within our power and size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LingShen Technology — founded by a Tsinghua University team in 2023. Building a "universal brain platform" for humanoid robots.</a:t>
            </a:r>
          </a:p>
          <a:p/>
          <a:p>
            <a:r>
              <a:t>They've developed their own real-world data collection platform — LDP — and an embodied world model called LWM. These enable robots to perceive, reason, and act in unstructured environments.</a:t>
            </a:r>
          </a:p>
          <a:p/>
          <a:p>
            <a:r>
              <a:t>Already deployed in smart manufacturing, unmanned retail, and healthcare. Over 100 million RMB in Pre-A financing.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TIEN Kung — developed by the Beijing Innovation Center of Humanoid Robotics, a national-level platform supported by MIIT.</a:t>
            </a:r>
          </a:p>
          <a:p/>
          <a:p>
            <a:r>
              <a:t>World's first purely electric-driven full-size humanoid robot capable of running at 6 km/h. Version 3.0 released February 2026 — first full-size humanoid with touch-interactive, high-dynamic whole-body motion control.</a:t>
            </a:r>
          </a:p>
          <a:p/>
          <a:p>
            <a:r>
              <a:t>Critically, they've chosen an open-source path, making their platform available to the broader ecosystem.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comparison between cloud AI and embodied AI requirements.</a:t>
            </a:r>
          </a:p>
          <a:p/>
          <a:p>
            <a:r>
              <a:t>Key contrasts to emphasize:</a:t>
            </a:r>
          </a:p>
          <a:p>
            <a:r>
              <a:t>- Power: 700W vs &lt;50W — that's a 15x reduction</a:t>
            </a:r>
          </a:p>
          <a:p>
            <a:r>
              <a:t>- Latency: ~1 second OK vs &lt;10ms required — if the robot hesitates for one second before catching its balance, it falls over</a:t>
            </a:r>
          </a:p>
          <a:p>
            <a:r>
              <a:t>- Failure mode: swap &amp; restart vs cannot fail — no redundancy on a robot body</a:t>
            </a:r>
          </a:p>
          <a:p>
            <a:r>
              <a:t>- Workload: single model vs multi-modal simultaneous — vision, language, tactile, motor control all on the same silicon</a:t>
            </a:r>
          </a:p>
          <a:p>
            <a:r>
              <a:t>- Cost: $30K/card vs &lt;$500/unit — a $200K robot will never reach mass adoption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 let this sink in]</a:t>
            </a:r>
          </a:p>
          <a:p/>
          <a:p>
            <a:r>
              <a:t>Cloud computing's challenge is fitting chips into racks. Embodied computing's challenge is fitting racks into bodies.</a:t>
            </a:r>
          </a:p>
          <a:p/>
          <a:p>
            <a:r>
              <a:t>These require fundamentally different IC design philosophies.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good news: robots don't have to do everything locally. The emerging architecture is three-tier.</a:t>
            </a:r>
          </a:p>
          <a:p/>
          <a:p>
            <a:r>
              <a:t>Top: the cloud — training and world model updates. Timescale of hours and days.</a:t>
            </a:r>
          </a:p>
          <a:p/>
          <a:p>
            <a:r>
              <a:t>Middle: edge servers at the factory floor. Scene-specific inference, multi-robot coordination. Hundreds of milliseconds.</a:t>
            </a:r>
          </a:p>
          <a:p/>
          <a:p>
            <a:r>
              <a:t>Bottom: on-body compute — the SoC inside the robot. Real-time perception, safety-critical control. Under 10 milliseconds.</a:t>
            </a:r>
          </a:p>
          <a:p/>
          <a:p>
            <a:r>
              <a:t>[Walk through each tier, pointing to the diagram]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tier creates different IC demands.</a:t>
            </a:r>
          </a:p>
          <a:p/>
          <a:p>
            <a:r>
              <a:t>Cloud tier — we know this well. GPU and AI accelerator market. Scale, power, interconnect.</a:t>
            </a:r>
          </a:p>
          <a:p/>
          <a:p>
            <a:r>
              <a:t>Edge tier — where the inference chip market is exploding. High-throughput inference at 100-300 watts, multiple model types, real-time scheduling.</a:t>
            </a:r>
          </a:p>
          <a:p/>
          <a:p>
            <a:r>
              <a:t>On-body tier — the wide-open frontier. Heterogeneous SoCs integrating CNN, transformer, and control processors, all under 50 watts.</a:t>
            </a:r>
          </a:p>
          <a:p/>
          <a:p>
            <a:r>
              <a:t>This third tier is the single largest greenfield opportunity for IC designers in the next decade.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transition]</a:t>
            </a:r>
          </a:p>
          <a:p/>
          <a:p>
            <a:r>
              <a:t>Let me synthesize what I've learned from operating at cloud scale and investing at the robot edge into specific recommendations.</a:t>
            </a:r>
          </a:p>
          <a:p/>
          <a:p>
            <a:r>
              <a:t>[Pause briefly]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cloud and data center chip designers:</a:t>
            </a:r>
          </a:p>
          <a:p/>
          <a:p>
            <a:r>
              <a:t>One — prioritize performance per watt. Your customers' biggest cost is electricity, not your chip.</a:t>
            </a:r>
          </a:p>
          <a:p/>
          <a:p>
            <a:r>
              <a:t>Two — standardize interconnect interfaces. Proprietary interconnects create vendor lock-in that slows adoption.</a:t>
            </a:r>
          </a:p>
          <a:p/>
          <a:p>
            <a:r>
              <a:t>Three — build diagnostics into the silicon. Remote health reporting, error counters, thermal sensors are not optional. They make large-scale operation viable.</a:t>
            </a:r>
          </a:p>
          <a:p/>
          <a:p>
            <a:r>
              <a:t>Four — design for multi-tenant workloads. Hardware-level memory isolation, secure context switching, QoS guarantees directly improve utilization rates.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edge and embodied chip designers:</a:t>
            </a:r>
          </a:p>
          <a:p/>
          <a:p>
            <a:r>
              <a:t>One — heterogeneous compute is a requirement. CNN, transformer, and real-time control on a single die.</a:t>
            </a:r>
          </a:p>
          <a:p/>
          <a:p>
            <a:r>
              <a:t>Two — power is THE hard constraint. Design to 50W first, then maximize compute. Sacrifice TOPS if needed.</a:t>
            </a:r>
          </a:p>
          <a:p/>
          <a:p>
            <a:r>
              <a:t>Three — latency over throughput. One result in 5ms, not 1000 results per second.</a:t>
            </a:r>
          </a:p>
          <a:p/>
          <a:p>
            <a:r>
              <a:t>Four — safety is non-negotiable. These chips operate inside machines alongside humans. Functional safety, error correction, graceful degradation — designed in from day one.</a:t>
            </a:r>
          </a:p>
          <a:p/>
          <a:p>
            <a:r>
              <a:t>Five — cost under $500. A $200K robot will never reach mass adoption.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 key message]</a:t>
            </a:r>
          </a:p>
          <a:p/>
          <a:p>
            <a:r>
              <a:t>The best chip is never the one with the highest benchmark score. It is the one that runs reliably, efficiently, and affordably in its target deployment environment.</a:t>
            </a:r>
          </a:p>
          <a:p/>
          <a:p>
            <a:r>
              <a:t>This connects my entire career: from trading systems, through data centers, to robots. The principle is the same.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forward:</a:t>
            </a:r>
          </a:p>
          <a:p/>
          <a:p>
            <a:r>
              <a:t>2026 — the year of "inference famine." Demand for inference compute growing faster than supply. Gap will widen as embodied AI moves from labs to factories.</a:t>
            </a:r>
          </a:p>
          <a:p/>
          <a:p>
            <a:r>
              <a:t>2027 — first wave of mass-produced humanoid robots in commercial deployment. Logistics, manufacturing, elder care.</a:t>
            </a:r>
          </a:p>
          <a:p/>
          <a:p>
            <a:r>
              <a:t>2028+ — on-body AI compute market comparable in scale to smartphone SoC market. Every robot = a mobile computing platform.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[Convergence diagram]</a:t>
            </a:r>
          </a:p>
          <a:p/>
          <a:p>
            <a:r>
              <a:t>Three markets converging: cloud training chips (mature), edge inference chips (growing), and on-body embodied SoCs (emerging).</a:t>
            </a:r>
          </a:p>
          <a:p/>
          <a:p>
            <a:r>
              <a:t>The intersection is the IC opportunity — the core message of this talk.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those of you in this room who design integrated circuits — you are designing the nervous system of tomorrow's intelligent machines.</a:t>
            </a:r>
          </a:p>
          <a:p/>
          <a:p>
            <a:r>
              <a:t>Your decisions on architecture, power efficiency, and reliability will determine whether embodied AI becomes reality — or stays in the lab.</a:t>
            </a:r>
          </a:p>
          <a:p/>
          <a:p>
            <a:r>
              <a:t>[Speak directly to the audience, make eye contact]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started optimizing compute for financial models, where microseconds meant money.</a:t>
            </a:r>
          </a:p>
          <a:p/>
          <a:p>
            <a:r>
              <a:t>I then built computing centers, where power efficiency meant survival.</a:t>
            </a:r>
          </a:p>
          <a:p/>
          <a:p>
            <a:r>
              <a:t>Now I invest in robots, where real-time inference means safety.</a:t>
            </a:r>
          </a:p>
          <a:p/>
          <a:p>
            <a:r>
              <a:t>At every stage, the lesson is the same: great chips don't just compute — they integrate into systems, they operate at scale, and they serve the real world.</a:t>
            </a:r>
          </a:p>
          <a:p/>
          <a:p>
            <a:r>
              <a:t>The theme of this conference is "Advancing IC with AI." I'd like to add: we also need to advance AI with IC — from the cloud, through the edge, into the body.</a:t>
            </a:r>
          </a:p>
          <a:p/>
          <a:p>
            <a:r>
              <a:t>[Pause for emphasis on last line]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a:t>
            </a:r>
          </a:p>
          <a:p/>
          <a:p>
            <a:r>
              <a:t>[Wait for applause, then invite questions]</a:t>
            </a:r>
          </a:p>
          <a:p/>
          <a:p>
            <a:r>
              <a:t>Q&amp;A prepared topics:</a:t>
            </a:r>
          </a:p>
          <a:p>
            <a:r>
              <a:t>- US chip export restrictions → focus on supply chain diversification driving innovation, avoid geopolitical commentary</a:t>
            </a:r>
          </a:p>
          <a:p>
            <a:r>
              <a:t>- Domestic chips deployed → speak generally about maturing ecosystem, importance of deployment feedback loops</a:t>
            </a:r>
          </a:p>
          <a:p>
            <a:r>
              <a:t>- Timeline for mass humanoid robots → 13,000 units shipped in 2025, expect 10x by 2028, bottleneck is compute not hardware</a:t>
            </a:r>
          </a:p>
          <a:p>
            <a:r>
              <a:t>- Liquid cooling ROI → yes, unambiguously, for &gt;30kW/rack, 18-24 month payback from energy savings alone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371600"/>
            <a:ext cx="9144000" cy="3200400"/>
          </a:xfrm>
          <a:prstGeom prst="rect">
            <a:avLst/>
          </a:prstGeom>
          <a:noFill/>
        </p:spPr>
        <p:txBody>
          <a:bodyPr wrap="square" anchor="t"/>
          <a:lstStyle/>
          <a:p>
            <a:pPr algn="l">
              <a:spcAft>
                <a:spcPts val="600"/>
              </a:spcAft>
              <a:defRPr sz="4400" b="1">
                <a:solidFill>
                  <a:srgbClr val="FFFFFF"/>
                </a:solidFill>
                <a:latin typeface="Calibri"/>
              </a:defRPr>
            </a:pPr>
            <a:r>
              <a:t>From Cloud to Edge</a:t>
            </a:r>
          </a:p>
          <a:p>
            <a:pPr algn="l">
              <a:spcAft>
                <a:spcPts val="600"/>
              </a:spcAft>
              <a:defRPr sz="3600" b="0">
                <a:solidFill>
                  <a:srgbClr val="0EA5E9"/>
                </a:solidFill>
                <a:latin typeface="Calibri"/>
              </a:defRPr>
            </a:pPr>
            <a:r>
              <a:t>Building AI Computing Infrastructure</a:t>
            </a:r>
          </a:p>
          <a:p>
            <a:pPr algn="l">
              <a:spcAft>
                <a:spcPts val="600"/>
              </a:spcAft>
              <a:defRPr sz="3600" b="0">
                <a:solidFill>
                  <a:srgbClr val="0EA5E9"/>
                </a:solidFill>
                <a:latin typeface="Calibri"/>
              </a:defRPr>
            </a:pPr>
            <a:r>
              <a:t>for the Age of Embodied Intelligence</a:t>
            </a:r>
          </a:p>
        </p:txBody>
      </p:sp>
      <p:sp>
        <p:nvSpPr>
          <p:cNvPr id="4" name="TextBox 3"/>
          <p:cNvSpPr txBox="1"/>
          <p:nvPr/>
        </p:nvSpPr>
        <p:spPr>
          <a:xfrm>
            <a:off x="1371600" y="4572000"/>
            <a:ext cx="7315200" cy="1828800"/>
          </a:xfrm>
          <a:prstGeom prst="rect">
            <a:avLst/>
          </a:prstGeom>
          <a:noFill/>
        </p:spPr>
        <p:txBody>
          <a:bodyPr wrap="square" anchor="t"/>
          <a:lstStyle/>
          <a:p>
            <a:pPr algn="l">
              <a:spcAft>
                <a:spcPts val="600"/>
              </a:spcAft>
              <a:defRPr sz="2200" b="1">
                <a:solidFill>
                  <a:srgbClr val="FFFFFF"/>
                </a:solidFill>
                <a:latin typeface="Calibri"/>
              </a:defRPr>
            </a:pPr>
            <a:r>
              <a:t>Chao Chen  |  陈超</a:t>
            </a:r>
          </a:p>
          <a:p>
            <a:pPr algn="l">
              <a:spcAft>
                <a:spcPts val="600"/>
              </a:spcAft>
              <a:defRPr sz="1600" b="0">
                <a:solidFill>
                  <a:srgbClr val="C0C0C0"/>
                </a:solidFill>
                <a:latin typeface="Calibri"/>
              </a:defRPr>
            </a:pPr>
            <a:r>
              <a:t>General Manager, Suzhou Chuangjie Intelligent Technology</a:t>
            </a:r>
          </a:p>
          <a:p>
            <a:pPr algn="l">
              <a:spcAft>
                <a:spcPts val="600"/>
              </a:spcAft>
              <a:defRPr sz="1400" b="0">
                <a:solidFill>
                  <a:srgbClr val="A0A0A0"/>
                </a:solidFill>
                <a:latin typeface="Calibri"/>
              </a:defRPr>
            </a:pPr>
            <a:r>
              <a:t>Vice Chair, Supercomputing &amp; Intelligent Computing Committee, CCIA</a:t>
            </a:r>
          </a:p>
          <a:p>
            <a:pPr algn="l">
              <a:spcAft>
                <a:spcPts val="600"/>
              </a:spcAft>
              <a:defRPr sz="800" b="0">
                <a:solidFill>
                  <a:srgbClr val="A0A0A0"/>
                </a:solidFill>
                <a:latin typeface="Calibri"/>
              </a:defRPr>
            </a:pPr>
          </a:p>
          <a:p>
            <a:pPr algn="l">
              <a:spcAft>
                <a:spcPts val="600"/>
              </a:spcAft>
              <a:defRPr sz="1400" b="0">
                <a:solidFill>
                  <a:srgbClr val="F97316"/>
                </a:solidFill>
                <a:latin typeface="Calibri"/>
              </a:defRPr>
            </a:pPr>
            <a:r>
              <a:t>IEEE ICTA 2026  |  Singapore  |  October 2026</a:t>
            </a:r>
          </a:p>
        </p:txBody>
      </p:sp>
      <p:pic>
        <p:nvPicPr>
          <p:cNvPr id="5" name="Picture 4" descr="circuit_abstract.jpg"/>
          <p:cNvPicPr>
            <a:picLocks noChangeAspect="1"/>
          </p:cNvPicPr>
          <p:nvPr/>
        </p:nvPicPr>
        <p:blipFill>
          <a:blip r:embed="rId2"/>
          <a:stretch>
            <a:fillRect/>
          </a:stretch>
        </p:blipFill>
        <p:spPr>
          <a:xfrm>
            <a:off x="8686800" y="2423160"/>
            <a:ext cx="3017520" cy="20116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600" b="1">
                <a:solidFill>
                  <a:srgbClr val="FFFFFF"/>
                </a:solidFill>
                <a:latin typeface="Calibri"/>
              </a:defRPr>
            </a:pPr>
            <a:r>
              <a:t>About Me</a:t>
            </a:r>
          </a:p>
        </p:txBody>
      </p:sp>
      <p:sp>
        <p:nvSpPr>
          <p:cNvPr id="3" name="Rectangle 2"/>
          <p:cNvSpPr/>
          <p:nvPr/>
        </p:nvSpPr>
        <p:spPr>
          <a:xfrm>
            <a:off x="731520" y="1828800"/>
            <a:ext cx="320040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3200400" cy="640080"/>
          </a:xfrm>
          <a:prstGeom prst="rect">
            <a:avLst/>
          </a:prstGeom>
          <a:noFill/>
        </p:spPr>
        <p:txBody>
          <a:bodyPr wrap="square" anchor="t"/>
          <a:lstStyle/>
          <a:p>
            <a:pPr algn="l">
              <a:defRPr sz="2200" b="1">
                <a:solidFill>
                  <a:srgbClr val="0EA5E9"/>
                </a:solidFill>
                <a:latin typeface="Calibri"/>
              </a:defRPr>
            </a:pPr>
            <a:r>
              <a:t>📐 Quantitative Trading</a:t>
            </a:r>
          </a:p>
        </p:txBody>
      </p:sp>
      <p:sp>
        <p:nvSpPr>
          <p:cNvPr id="5" name="TextBox 4"/>
          <p:cNvSpPr txBox="1"/>
          <p:nvPr/>
        </p:nvSpPr>
        <p:spPr>
          <a:xfrm>
            <a:off x="731520" y="2743200"/>
            <a:ext cx="3200400" cy="2743200"/>
          </a:xfrm>
          <a:prstGeom prst="rect">
            <a:avLst/>
          </a:prstGeom>
          <a:noFill/>
        </p:spPr>
        <p:txBody>
          <a:bodyPr wrap="square" anchor="t"/>
          <a:lstStyle/>
          <a:p>
            <a:pPr algn="l">
              <a:spcAft>
                <a:spcPts val="600"/>
              </a:spcAft>
              <a:defRPr sz="1600" b="0">
                <a:solidFill>
                  <a:srgbClr val="C0C0C0"/>
                </a:solidFill>
                <a:latin typeface="Calibri"/>
              </a:defRPr>
            </a:pPr>
            <a:r>
              <a:t>Applied Mathematics</a:t>
            </a:r>
          </a:p>
          <a:p>
            <a:pPr algn="l">
              <a:spcAft>
                <a:spcPts val="600"/>
              </a:spcAft>
              <a:defRPr sz="1600" b="0">
                <a:solidFill>
                  <a:srgbClr val="C0C0C0"/>
                </a:solidFill>
                <a:latin typeface="Calibri"/>
              </a:defRPr>
            </a:pPr>
            <a:r>
              <a:t>High-frequency computation</a:t>
            </a:r>
          </a:p>
          <a:p>
            <a:pPr algn="l">
              <a:spcAft>
                <a:spcPts val="600"/>
              </a:spcAft>
              <a:defRPr sz="1600" b="0">
                <a:solidFill>
                  <a:srgbClr val="A0A0A0"/>
                </a:solidFill>
                <a:latin typeface="Calibri"/>
              </a:defRPr>
            </a:pPr>
          </a:p>
          <a:p>
            <a:pPr algn="l">
              <a:spcAft>
                <a:spcPts val="600"/>
              </a:spcAft>
              <a:defRPr sz="1600" b="1">
                <a:solidFill>
                  <a:srgbClr val="A0A0A0"/>
                </a:solidFill>
                <a:latin typeface="Calibri"/>
              </a:defRPr>
            </a:pPr>
            <a:r>
              <a:t>"Compute = Profit"</a:t>
            </a:r>
          </a:p>
        </p:txBody>
      </p:sp>
      <p:sp>
        <p:nvSpPr>
          <p:cNvPr id="6" name="Rectangle 5"/>
          <p:cNvSpPr/>
          <p:nvPr/>
        </p:nvSpPr>
        <p:spPr>
          <a:xfrm>
            <a:off x="4389120" y="1828800"/>
            <a:ext cx="320040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0" y="2011680"/>
            <a:ext cx="3200400" cy="640080"/>
          </a:xfrm>
          <a:prstGeom prst="rect">
            <a:avLst/>
          </a:prstGeom>
          <a:noFill/>
        </p:spPr>
        <p:txBody>
          <a:bodyPr wrap="square" anchor="t"/>
          <a:lstStyle/>
          <a:p>
            <a:pPr algn="l">
              <a:defRPr sz="2200" b="1">
                <a:solidFill>
                  <a:srgbClr val="F97316"/>
                </a:solidFill>
                <a:latin typeface="Calibri"/>
              </a:defRPr>
            </a:pPr>
            <a:r>
              <a:t>🏗️ AI Computing Centers</a:t>
            </a:r>
          </a:p>
        </p:txBody>
      </p:sp>
      <p:sp>
        <p:nvSpPr>
          <p:cNvPr id="8" name="TextBox 7"/>
          <p:cNvSpPr txBox="1"/>
          <p:nvPr/>
        </p:nvSpPr>
        <p:spPr>
          <a:xfrm>
            <a:off x="4389120" y="2743200"/>
            <a:ext cx="3200400" cy="2743200"/>
          </a:xfrm>
          <a:prstGeom prst="rect">
            <a:avLst/>
          </a:prstGeom>
          <a:noFill/>
        </p:spPr>
        <p:txBody>
          <a:bodyPr wrap="square" anchor="t"/>
          <a:lstStyle/>
          <a:p>
            <a:pPr algn="l">
              <a:spcAft>
                <a:spcPts val="600"/>
              </a:spcAft>
              <a:defRPr sz="1600" b="0">
                <a:solidFill>
                  <a:srgbClr val="C0C0C0"/>
                </a:solidFill>
                <a:latin typeface="Calibri"/>
              </a:defRPr>
            </a:pPr>
            <a:r>
              <a:t>Operating GPU clusters</a:t>
            </a:r>
          </a:p>
          <a:p>
            <a:pPr algn="l">
              <a:spcAft>
                <a:spcPts val="600"/>
              </a:spcAft>
              <a:defRPr sz="1600" b="0">
                <a:solidFill>
                  <a:srgbClr val="C0C0C0"/>
                </a:solidFill>
                <a:latin typeface="Calibri"/>
              </a:defRPr>
            </a:pPr>
            <a:r>
              <a:t>at national scale</a:t>
            </a:r>
          </a:p>
          <a:p>
            <a:pPr algn="l">
              <a:spcAft>
                <a:spcPts val="600"/>
              </a:spcAft>
              <a:defRPr sz="1600" b="0">
                <a:solidFill>
                  <a:srgbClr val="A0A0A0"/>
                </a:solidFill>
                <a:latin typeface="Calibri"/>
              </a:defRPr>
            </a:pPr>
          </a:p>
          <a:p>
            <a:pPr algn="l">
              <a:spcAft>
                <a:spcPts val="600"/>
              </a:spcAft>
              <a:defRPr sz="1600" b="1">
                <a:solidFill>
                  <a:srgbClr val="A0A0A0"/>
                </a:solidFill>
                <a:latin typeface="Calibri"/>
              </a:defRPr>
            </a:pPr>
            <a:r>
              <a:t>"Compute = Infrastructure"</a:t>
            </a:r>
          </a:p>
        </p:txBody>
      </p:sp>
      <p:sp>
        <p:nvSpPr>
          <p:cNvPr id="9" name="Rectangle 8"/>
          <p:cNvSpPr/>
          <p:nvPr/>
        </p:nvSpPr>
        <p:spPr>
          <a:xfrm>
            <a:off x="8046720" y="1828800"/>
            <a:ext cx="320040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2011680"/>
            <a:ext cx="3200400" cy="640080"/>
          </a:xfrm>
          <a:prstGeom prst="rect">
            <a:avLst/>
          </a:prstGeom>
          <a:noFill/>
        </p:spPr>
        <p:txBody>
          <a:bodyPr wrap="square" anchor="t"/>
          <a:lstStyle/>
          <a:p>
            <a:pPr algn="l">
              <a:defRPr sz="2200" b="1">
                <a:solidFill>
                  <a:srgbClr val="22C55E"/>
                </a:solidFill>
                <a:latin typeface="Calibri"/>
              </a:defRPr>
            </a:pPr>
            <a:r>
              <a:t>🤖 Embodied Intelligence</a:t>
            </a:r>
          </a:p>
        </p:txBody>
      </p:sp>
      <p:sp>
        <p:nvSpPr>
          <p:cNvPr id="11" name="TextBox 10"/>
          <p:cNvSpPr txBox="1"/>
          <p:nvPr/>
        </p:nvSpPr>
        <p:spPr>
          <a:xfrm>
            <a:off x="8046720" y="2743200"/>
            <a:ext cx="3200400" cy="2743200"/>
          </a:xfrm>
          <a:prstGeom prst="rect">
            <a:avLst/>
          </a:prstGeom>
          <a:noFill/>
        </p:spPr>
        <p:txBody>
          <a:bodyPr wrap="square" anchor="t"/>
          <a:lstStyle/>
          <a:p>
            <a:pPr algn="l">
              <a:spcAft>
                <a:spcPts val="600"/>
              </a:spcAft>
              <a:defRPr sz="1600" b="0">
                <a:solidFill>
                  <a:srgbClr val="C0C0C0"/>
                </a:solidFill>
                <a:latin typeface="Calibri"/>
              </a:defRPr>
            </a:pPr>
            <a:r>
              <a:t>Investing in humanoid robots</a:t>
            </a:r>
          </a:p>
          <a:p>
            <a:pPr algn="l">
              <a:spcAft>
                <a:spcPts val="600"/>
              </a:spcAft>
              <a:defRPr sz="1600" b="0">
                <a:solidFill>
                  <a:srgbClr val="C0C0C0"/>
                </a:solidFill>
                <a:latin typeface="Calibri"/>
              </a:defRPr>
            </a:pPr>
            <a:r>
              <a:t>LingShen Tech | TIEN Kung</a:t>
            </a:r>
          </a:p>
          <a:p>
            <a:pPr algn="l">
              <a:spcAft>
                <a:spcPts val="600"/>
              </a:spcAft>
              <a:defRPr sz="1600" b="0">
                <a:solidFill>
                  <a:srgbClr val="A0A0A0"/>
                </a:solidFill>
                <a:latin typeface="Calibri"/>
              </a:defRPr>
            </a:pPr>
          </a:p>
          <a:p>
            <a:pPr algn="l">
              <a:spcAft>
                <a:spcPts val="600"/>
              </a:spcAft>
              <a:defRPr sz="1600" b="1">
                <a:solidFill>
                  <a:srgbClr val="A0A0A0"/>
                </a:solidFill>
                <a:latin typeface="Calibri"/>
              </a:defRPr>
            </a:pPr>
            <a:r>
              <a:t>"Compute = Autonomy"</a:t>
            </a:r>
          </a:p>
        </p:txBody>
      </p:sp>
      <p:sp>
        <p:nvSpPr>
          <p:cNvPr id="12" name="Right Arrow 11"/>
          <p:cNvSpPr/>
          <p:nvPr/>
        </p:nvSpPr>
        <p:spPr>
          <a:xfrm>
            <a:off x="3931920" y="2103120"/>
            <a:ext cx="457200" cy="274320"/>
          </a:xfrm>
          <a:prstGeom prst="rightArrow">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7589520" y="2103120"/>
            <a:ext cx="457200" cy="274320"/>
          </a:xfrm>
          <a:prstGeom prst="rightArrow">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600" b="1">
                <a:solidFill>
                  <a:srgbClr val="FFFFFF"/>
                </a:solidFill>
                <a:latin typeface="Calibri"/>
              </a:defRPr>
            </a:pPr>
            <a:r>
              <a:t>Three Waves of Compute Demand</a:t>
            </a:r>
          </a:p>
        </p:txBody>
      </p:sp>
      <p:sp>
        <p:nvSpPr>
          <p:cNvPr id="3" name="Rounded Rectangle 2"/>
          <p:cNvSpPr/>
          <p:nvPr/>
        </p:nvSpPr>
        <p:spPr>
          <a:xfrm>
            <a:off x="731520" y="1645920"/>
            <a:ext cx="3291840" cy="3657600"/>
          </a:xfrm>
          <a:prstGeom prst="roundRect">
            <a:avLst/>
          </a:prstGeom>
          <a:solidFill>
            <a:srgbClr val="202038"/>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2743200" cy="548640"/>
          </a:xfrm>
          <a:prstGeom prst="rect">
            <a:avLst/>
          </a:prstGeom>
          <a:noFill/>
        </p:spPr>
        <p:txBody>
          <a:bodyPr wrap="square" anchor="t"/>
          <a:lstStyle/>
          <a:p>
            <a:pPr algn="l">
              <a:defRPr sz="2800" b="1">
                <a:solidFill>
                  <a:srgbClr val="0EA5E9"/>
                </a:solidFill>
                <a:latin typeface="Calibri"/>
              </a:defRPr>
            </a:pPr>
            <a:r>
              <a:t>Wave 1</a:t>
            </a:r>
          </a:p>
        </p:txBody>
      </p:sp>
      <p:sp>
        <p:nvSpPr>
          <p:cNvPr id="5" name="TextBox 4"/>
          <p:cNvSpPr txBox="1"/>
          <p:nvPr/>
        </p:nvSpPr>
        <p:spPr>
          <a:xfrm>
            <a:off x="1005840" y="2377440"/>
            <a:ext cx="2743200" cy="548640"/>
          </a:xfrm>
          <a:prstGeom prst="rect">
            <a:avLst/>
          </a:prstGeom>
          <a:noFill/>
        </p:spPr>
        <p:txBody>
          <a:bodyPr wrap="square" anchor="t"/>
          <a:lstStyle/>
          <a:p>
            <a:pPr algn="l">
              <a:defRPr sz="1800" b="0">
                <a:solidFill>
                  <a:srgbClr val="FFFFFF"/>
                </a:solidFill>
                <a:latin typeface="Calibri"/>
              </a:defRPr>
            </a:pPr>
            <a:r>
              <a:t>Quantitative Finance (2010s)</a:t>
            </a:r>
          </a:p>
        </p:txBody>
      </p:sp>
      <p:sp>
        <p:nvSpPr>
          <p:cNvPr id="6" name="TextBox 5"/>
          <p:cNvSpPr txBox="1"/>
          <p:nvPr/>
        </p:nvSpPr>
        <p:spPr>
          <a:xfrm>
            <a:off x="1005840" y="3108960"/>
            <a:ext cx="2743200" cy="1828800"/>
          </a:xfrm>
          <a:prstGeom prst="rect">
            <a:avLst/>
          </a:prstGeom>
          <a:noFill/>
        </p:spPr>
        <p:txBody>
          <a:bodyPr wrap="square" anchor="t"/>
          <a:lstStyle/>
          <a:p>
            <a:pPr algn="l">
              <a:spcAft>
                <a:spcPts val="600"/>
              </a:spcAft>
              <a:defRPr sz="1600" b="0">
                <a:solidFill>
                  <a:srgbClr val="C0C0C0"/>
                </a:solidFill>
                <a:latin typeface="Calibri"/>
              </a:defRPr>
            </a:pPr>
            <a:r>
              <a:t>• Microsecond latency matters</a:t>
            </a:r>
          </a:p>
          <a:p>
            <a:pPr algn="l">
              <a:spcAft>
                <a:spcPts val="600"/>
              </a:spcAft>
              <a:defRPr sz="1600" b="0">
                <a:solidFill>
                  <a:srgbClr val="C0C0C0"/>
                </a:solidFill>
                <a:latin typeface="Calibri"/>
              </a:defRPr>
            </a:pPr>
            <a:r>
              <a:t>• Every compute cycle = money</a:t>
            </a:r>
          </a:p>
        </p:txBody>
      </p:sp>
      <p:sp>
        <p:nvSpPr>
          <p:cNvPr id="7" name="Rounded Rectangle 6"/>
          <p:cNvSpPr/>
          <p:nvPr/>
        </p:nvSpPr>
        <p:spPr>
          <a:xfrm>
            <a:off x="4389120" y="1645920"/>
            <a:ext cx="3291840" cy="3657600"/>
          </a:xfrm>
          <a:prstGeom prst="roundRect">
            <a:avLst/>
          </a:prstGeom>
          <a:solidFill>
            <a:srgbClr val="202038"/>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1828800"/>
            <a:ext cx="2743200" cy="548640"/>
          </a:xfrm>
          <a:prstGeom prst="rect">
            <a:avLst/>
          </a:prstGeom>
          <a:noFill/>
        </p:spPr>
        <p:txBody>
          <a:bodyPr wrap="square" anchor="t"/>
          <a:lstStyle/>
          <a:p>
            <a:pPr algn="l">
              <a:defRPr sz="2800" b="1">
                <a:solidFill>
                  <a:srgbClr val="F97316"/>
                </a:solidFill>
                <a:latin typeface="Calibri"/>
              </a:defRPr>
            </a:pPr>
            <a:r>
              <a:t>Wave 2</a:t>
            </a:r>
          </a:p>
        </p:txBody>
      </p:sp>
      <p:sp>
        <p:nvSpPr>
          <p:cNvPr id="9" name="TextBox 8"/>
          <p:cNvSpPr txBox="1"/>
          <p:nvPr/>
        </p:nvSpPr>
        <p:spPr>
          <a:xfrm>
            <a:off x="4663440" y="2377440"/>
            <a:ext cx="2743200" cy="548640"/>
          </a:xfrm>
          <a:prstGeom prst="rect">
            <a:avLst/>
          </a:prstGeom>
          <a:noFill/>
        </p:spPr>
        <p:txBody>
          <a:bodyPr wrap="square" anchor="t"/>
          <a:lstStyle/>
          <a:p>
            <a:pPr algn="l">
              <a:defRPr sz="1800" b="0">
                <a:solidFill>
                  <a:srgbClr val="FFFFFF"/>
                </a:solidFill>
                <a:latin typeface="Calibri"/>
              </a:defRPr>
            </a:pPr>
            <a:r>
              <a:t>AI Training (2020s)</a:t>
            </a:r>
          </a:p>
        </p:txBody>
      </p:sp>
      <p:sp>
        <p:nvSpPr>
          <p:cNvPr id="10" name="TextBox 9"/>
          <p:cNvSpPr txBox="1"/>
          <p:nvPr/>
        </p:nvSpPr>
        <p:spPr>
          <a:xfrm>
            <a:off x="4663440" y="3108960"/>
            <a:ext cx="2743200" cy="1828800"/>
          </a:xfrm>
          <a:prstGeom prst="rect">
            <a:avLst/>
          </a:prstGeom>
          <a:noFill/>
        </p:spPr>
        <p:txBody>
          <a:bodyPr wrap="square" anchor="t"/>
          <a:lstStyle/>
          <a:p>
            <a:pPr algn="l">
              <a:spcAft>
                <a:spcPts val="600"/>
              </a:spcAft>
              <a:defRPr sz="1600" b="0">
                <a:solidFill>
                  <a:srgbClr val="C0C0C0"/>
                </a:solidFill>
                <a:latin typeface="Calibri"/>
              </a:defRPr>
            </a:pPr>
            <a:r>
              <a:t>• GPU clusters at scale</a:t>
            </a:r>
          </a:p>
          <a:p>
            <a:pPr algn="l">
              <a:spcAft>
                <a:spcPts val="600"/>
              </a:spcAft>
              <a:defRPr sz="1600" b="0">
                <a:solidFill>
                  <a:srgbClr val="C0C0C0"/>
                </a:solidFill>
                <a:latin typeface="Calibri"/>
              </a:defRPr>
            </a:pPr>
            <a:r>
              <a:t>• Petaflops of throughput</a:t>
            </a:r>
          </a:p>
        </p:txBody>
      </p:sp>
      <p:sp>
        <p:nvSpPr>
          <p:cNvPr id="11" name="Rounded Rectangle 10"/>
          <p:cNvSpPr/>
          <p:nvPr/>
        </p:nvSpPr>
        <p:spPr>
          <a:xfrm>
            <a:off x="8046720" y="1645920"/>
            <a:ext cx="3291840" cy="3657600"/>
          </a:xfrm>
          <a:prstGeom prst="roundRect">
            <a:avLst/>
          </a:prstGeom>
          <a:solidFill>
            <a:srgbClr val="202038"/>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828800"/>
            <a:ext cx="2743200" cy="548640"/>
          </a:xfrm>
          <a:prstGeom prst="rect">
            <a:avLst/>
          </a:prstGeom>
          <a:noFill/>
        </p:spPr>
        <p:txBody>
          <a:bodyPr wrap="square" anchor="t"/>
          <a:lstStyle/>
          <a:p>
            <a:pPr algn="l">
              <a:defRPr sz="2800" b="1">
                <a:solidFill>
                  <a:srgbClr val="22C55E"/>
                </a:solidFill>
                <a:latin typeface="Calibri"/>
              </a:defRPr>
            </a:pPr>
            <a:r>
              <a:t>Wave 3</a:t>
            </a:r>
          </a:p>
        </p:txBody>
      </p:sp>
      <p:sp>
        <p:nvSpPr>
          <p:cNvPr id="13" name="TextBox 12"/>
          <p:cNvSpPr txBox="1"/>
          <p:nvPr/>
        </p:nvSpPr>
        <p:spPr>
          <a:xfrm>
            <a:off x="8321040" y="2377440"/>
            <a:ext cx="2743200" cy="548640"/>
          </a:xfrm>
          <a:prstGeom prst="rect">
            <a:avLst/>
          </a:prstGeom>
          <a:noFill/>
        </p:spPr>
        <p:txBody>
          <a:bodyPr wrap="square" anchor="t"/>
          <a:lstStyle/>
          <a:p>
            <a:pPr algn="l">
              <a:defRPr sz="1800" b="0">
                <a:solidFill>
                  <a:srgbClr val="FFFFFF"/>
                </a:solidFill>
                <a:latin typeface="Calibri"/>
              </a:defRPr>
            </a:pPr>
            <a:r>
              <a:t>Embodied AI (2026→)</a:t>
            </a:r>
          </a:p>
        </p:txBody>
      </p:sp>
      <p:sp>
        <p:nvSpPr>
          <p:cNvPr id="14" name="TextBox 13"/>
          <p:cNvSpPr txBox="1"/>
          <p:nvPr/>
        </p:nvSpPr>
        <p:spPr>
          <a:xfrm>
            <a:off x="8321040" y="3108960"/>
            <a:ext cx="2743200" cy="1828800"/>
          </a:xfrm>
          <a:prstGeom prst="rect">
            <a:avLst/>
          </a:prstGeom>
          <a:noFill/>
        </p:spPr>
        <p:txBody>
          <a:bodyPr wrap="square" anchor="t"/>
          <a:lstStyle/>
          <a:p>
            <a:pPr algn="l">
              <a:spcAft>
                <a:spcPts val="600"/>
              </a:spcAft>
              <a:defRPr sz="1600" b="0">
                <a:solidFill>
                  <a:srgbClr val="C0C0C0"/>
                </a:solidFill>
                <a:latin typeface="Calibri"/>
              </a:defRPr>
            </a:pPr>
            <a:r>
              <a:t>• Real-time on-body inference</a:t>
            </a:r>
          </a:p>
          <a:p>
            <a:pPr algn="l">
              <a:spcAft>
                <a:spcPts val="600"/>
              </a:spcAft>
              <a:defRPr sz="1600" b="0">
                <a:solidFill>
                  <a:srgbClr val="C0C0C0"/>
                </a:solidFill>
                <a:latin typeface="Calibri"/>
              </a:defRPr>
            </a:pPr>
            <a:r>
              <a:t>• Milliwatt-level efficiency</a:t>
            </a:r>
          </a:p>
        </p:txBody>
      </p:sp>
      <p:sp>
        <p:nvSpPr>
          <p:cNvPr id="15" name="TextBox 14"/>
          <p:cNvSpPr txBox="1"/>
          <p:nvPr/>
        </p:nvSpPr>
        <p:spPr>
          <a:xfrm>
            <a:off x="914400" y="5760720"/>
            <a:ext cx="10058400" cy="731520"/>
          </a:xfrm>
          <a:prstGeom prst="rect">
            <a:avLst/>
          </a:prstGeom>
          <a:noFill/>
        </p:spPr>
        <p:txBody>
          <a:bodyPr wrap="square" anchor="t"/>
          <a:lstStyle/>
          <a:p>
            <a:pPr algn="ctr">
              <a:defRPr sz="2000" b="1">
                <a:solidFill>
                  <a:srgbClr val="FFD700"/>
                </a:solidFill>
                <a:latin typeface="Calibri"/>
              </a:defRPr>
            </a:pPr>
            <a:r>
              <a:t>"Each wave demands fundamentally different IC design."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600" b="1">
                <a:solidFill>
                  <a:srgbClr val="FFFFFF"/>
                </a:solidFill>
                <a:latin typeface="Calibri"/>
              </a:defRPr>
            </a:pPr>
            <a:r>
              <a:t>AI Compute: The Numbers</a:t>
            </a:r>
          </a:p>
        </p:txBody>
      </p:sp>
      <p:sp>
        <p:nvSpPr>
          <p:cNvPr id="3" name="TextBox 2"/>
          <p:cNvSpPr txBox="1"/>
          <p:nvPr/>
        </p:nvSpPr>
        <p:spPr>
          <a:xfrm>
            <a:off x="914400" y="2011680"/>
            <a:ext cx="3200400" cy="1828800"/>
          </a:xfrm>
          <a:prstGeom prst="rect">
            <a:avLst/>
          </a:prstGeom>
          <a:noFill/>
        </p:spPr>
        <p:txBody>
          <a:bodyPr wrap="square" anchor="t"/>
          <a:lstStyle/>
          <a:p>
            <a:pPr algn="ctr">
              <a:defRPr sz="7200" b="1">
                <a:solidFill>
                  <a:srgbClr val="0EA5E9"/>
                </a:solidFill>
                <a:latin typeface="Calibri"/>
              </a:defRPr>
            </a:pPr>
            <a:r>
              <a:t>2/3</a:t>
            </a:r>
          </a:p>
        </p:txBody>
      </p:sp>
      <p:sp>
        <p:nvSpPr>
          <p:cNvPr id="4" name="TextBox 3"/>
          <p:cNvSpPr txBox="1"/>
          <p:nvPr/>
        </p:nvSpPr>
        <p:spPr>
          <a:xfrm>
            <a:off x="914400" y="4114800"/>
            <a:ext cx="3200400" cy="1371600"/>
          </a:xfrm>
          <a:prstGeom prst="rect">
            <a:avLst/>
          </a:prstGeom>
          <a:noFill/>
        </p:spPr>
        <p:txBody>
          <a:bodyPr wrap="square" anchor="t"/>
          <a:lstStyle/>
          <a:p>
            <a:pPr algn="ctr">
              <a:defRPr sz="1800" b="0">
                <a:solidFill>
                  <a:srgbClr val="C0C0C0"/>
                </a:solidFill>
                <a:latin typeface="Calibri"/>
              </a:defRPr>
            </a:pPr>
            <a:r>
              <a:t>of all AI compute</a:t>
            </a:r>
            <a:br/>
            <a:r>
              <a:t>is inference (2026)</a:t>
            </a:r>
          </a:p>
        </p:txBody>
      </p:sp>
      <p:sp>
        <p:nvSpPr>
          <p:cNvPr id="5" name="TextBox 4"/>
          <p:cNvSpPr txBox="1"/>
          <p:nvPr/>
        </p:nvSpPr>
        <p:spPr>
          <a:xfrm>
            <a:off x="4572000" y="2011680"/>
            <a:ext cx="3200400" cy="1828800"/>
          </a:xfrm>
          <a:prstGeom prst="rect">
            <a:avLst/>
          </a:prstGeom>
          <a:noFill/>
        </p:spPr>
        <p:txBody>
          <a:bodyPr wrap="square" anchor="t"/>
          <a:lstStyle/>
          <a:p>
            <a:pPr algn="ctr">
              <a:defRPr sz="7200" b="1">
                <a:solidFill>
                  <a:srgbClr val="F97316"/>
                </a:solidFill>
                <a:latin typeface="Calibri"/>
              </a:defRPr>
            </a:pPr>
            <a:r>
              <a:t>$50B+</a:t>
            </a:r>
          </a:p>
        </p:txBody>
      </p:sp>
      <p:sp>
        <p:nvSpPr>
          <p:cNvPr id="6" name="TextBox 5"/>
          <p:cNvSpPr txBox="1"/>
          <p:nvPr/>
        </p:nvSpPr>
        <p:spPr>
          <a:xfrm>
            <a:off x="4572000" y="4114800"/>
            <a:ext cx="3200400" cy="1371600"/>
          </a:xfrm>
          <a:prstGeom prst="rect">
            <a:avLst/>
          </a:prstGeom>
          <a:noFill/>
        </p:spPr>
        <p:txBody>
          <a:bodyPr wrap="square" anchor="t"/>
          <a:lstStyle/>
          <a:p>
            <a:pPr algn="ctr">
              <a:defRPr sz="1800" b="0">
                <a:solidFill>
                  <a:srgbClr val="C0C0C0"/>
                </a:solidFill>
                <a:latin typeface="Calibri"/>
              </a:defRPr>
            </a:pPr>
            <a:r>
              <a:t>inference chip</a:t>
            </a:r>
            <a:br/>
            <a:r>
              <a:t>market (2026)</a:t>
            </a:r>
          </a:p>
        </p:txBody>
      </p:sp>
      <p:sp>
        <p:nvSpPr>
          <p:cNvPr id="7" name="TextBox 6"/>
          <p:cNvSpPr txBox="1"/>
          <p:nvPr/>
        </p:nvSpPr>
        <p:spPr>
          <a:xfrm>
            <a:off x="8229600" y="2011680"/>
            <a:ext cx="3200400" cy="1828800"/>
          </a:xfrm>
          <a:prstGeom prst="rect">
            <a:avLst/>
          </a:prstGeom>
          <a:noFill/>
        </p:spPr>
        <p:txBody>
          <a:bodyPr wrap="square" anchor="t"/>
          <a:lstStyle/>
          <a:p>
            <a:pPr algn="ctr">
              <a:defRPr sz="7200" b="1">
                <a:solidFill>
                  <a:srgbClr val="22C55E"/>
                </a:solidFill>
                <a:latin typeface="Calibri"/>
              </a:defRPr>
            </a:pPr>
            <a:r>
              <a:t>31%</a:t>
            </a:r>
          </a:p>
        </p:txBody>
      </p:sp>
      <p:sp>
        <p:nvSpPr>
          <p:cNvPr id="8" name="TextBox 7"/>
          <p:cNvSpPr txBox="1"/>
          <p:nvPr/>
        </p:nvSpPr>
        <p:spPr>
          <a:xfrm>
            <a:off x="8229600" y="4114800"/>
            <a:ext cx="3200400" cy="1371600"/>
          </a:xfrm>
          <a:prstGeom prst="rect">
            <a:avLst/>
          </a:prstGeom>
          <a:noFill/>
        </p:spPr>
        <p:txBody>
          <a:bodyPr wrap="square" anchor="t"/>
          <a:lstStyle/>
          <a:p>
            <a:pPr algn="ctr">
              <a:defRPr sz="1800" b="0">
                <a:solidFill>
                  <a:srgbClr val="C0C0C0"/>
                </a:solidFill>
                <a:latin typeface="Calibri"/>
              </a:defRPr>
            </a:pPr>
            <a:r>
              <a:t>embodied AI</a:t>
            </a:r>
            <a:br/>
            <a:r>
              <a:t>market CAGR</a:t>
            </a:r>
          </a:p>
        </p:txBody>
      </p:sp>
      <p:sp>
        <p:nvSpPr>
          <p:cNvPr id="9" name="TextBox 8"/>
          <p:cNvSpPr txBox="1"/>
          <p:nvPr/>
        </p:nvSpPr>
        <p:spPr>
          <a:xfrm>
            <a:off x="914400" y="5943600"/>
            <a:ext cx="10058400" cy="457200"/>
          </a:xfrm>
          <a:prstGeom prst="rect">
            <a:avLst/>
          </a:prstGeom>
          <a:noFill/>
        </p:spPr>
        <p:txBody>
          <a:bodyPr wrap="square" anchor="t"/>
          <a:lstStyle/>
          <a:p>
            <a:pPr algn="ctr">
              <a:defRPr sz="1200" b="0">
                <a:solidFill>
                  <a:srgbClr val="A0A0A0"/>
                </a:solidFill>
                <a:latin typeface="Calibri"/>
              </a:defRPr>
            </a:pPr>
            <a:r>
              <a:t>Source: Deloitte TMT Predictions 2026  |  Omdia Market Radar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220"/>
        </a:solidFill>
        <a:effectLst/>
      </p:bgPr>
    </p:bg>
    <p:spTree>
      <p:nvGrpSpPr>
        <p:cNvPr id="1" name=""/>
        <p:cNvGrpSpPr/>
        <p:nvPr/>
      </p:nvGrpSpPr>
      <p:grpSpPr/>
      <p:pic>
        <p:nvPicPr>
          <p:cNvPr id="2" name="Picture 1" descr="datacenter_corridor.jpg"/>
          <p:cNvPicPr>
            <a:picLocks noChangeAspect="1"/>
          </p:cNvPicPr>
          <p:nvPr/>
        </p:nvPicPr>
        <p:blipFill>
          <a:blip r:embed="rId2"/>
          <a:stretch>
            <a:fillRect/>
          </a:stretch>
        </p:blipFill>
        <p:spPr>
          <a:xfrm>
            <a:off x="-17133" y="0"/>
            <a:ext cx="12225961" cy="6858000"/>
          </a:xfrm>
          <a:prstGeom prst="rect">
            <a:avLst/>
          </a:prstGeom>
        </p:spPr>
      </p:pic>
      <p:sp>
        <p:nvSpPr>
          <p:cNvPr id="3" name="Rectangle 2"/>
          <p:cNvSpPr/>
          <p:nvPr/>
        </p:nvSpPr>
        <p:spPr>
          <a:xfrm>
            <a:off x="0" y="0"/>
            <a:ext cx="12191695" cy="6858000"/>
          </a:xfrm>
          <a:prstGeom prst="rect">
            <a:avLst/>
          </a:prstGeom>
          <a:solidFill>
            <a:srgbClr val="0A0A15">
              <a:alpha val="44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144000" cy="3657600"/>
          </a:xfrm>
          <a:prstGeom prst="rect">
            <a:avLst/>
          </a:prstGeom>
          <a:noFill/>
        </p:spPr>
        <p:txBody>
          <a:bodyPr wrap="square" anchor="ctr"/>
          <a:lstStyle/>
          <a:p>
            <a:pPr algn="l">
              <a:spcAft>
                <a:spcPts val="600"/>
              </a:spcAft>
              <a:defRPr sz="2000" b="1">
                <a:solidFill>
                  <a:srgbClr val="0EA5E9"/>
                </a:solidFill>
                <a:latin typeface="Calibri"/>
              </a:defRPr>
            </a:pPr>
            <a:r>
              <a:t>PART I</a:t>
            </a:r>
          </a:p>
          <a:p>
            <a:pPr algn="l">
              <a:spcAft>
                <a:spcPts val="600"/>
              </a:spcAft>
              <a:defRPr sz="5600" b="1">
                <a:solidFill>
                  <a:srgbClr val="FFFFFF"/>
                </a:solidFill>
                <a:latin typeface="Calibri"/>
              </a:defRPr>
            </a:pPr>
            <a:r>
              <a:t>The Cloud</a:t>
            </a:r>
          </a:p>
          <a:p>
            <a:pPr algn="l">
              <a:spcAft>
                <a:spcPts val="600"/>
              </a:spcAft>
              <a:defRPr sz="2800" b="0">
                <a:solidFill>
                  <a:srgbClr val="C0C0C0"/>
                </a:solidFill>
                <a:latin typeface="Calibri"/>
              </a:defRPr>
            </a:pPr>
            <a:r>
              <a:t>Operating AI at Scale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600" b="1">
                <a:solidFill>
                  <a:srgbClr val="FFFFFF"/>
                </a:solidFill>
                <a:latin typeface="Calibri"/>
              </a:defRPr>
            </a:pPr>
            <a:r>
              <a:t>China's Intelligent Computing Centers</a:t>
            </a:r>
          </a:p>
        </p:txBody>
      </p:sp>
      <p:sp>
        <p:nvSpPr>
          <p:cNvPr id="3" name="TextBox 2"/>
          <p:cNvSpPr txBox="1"/>
          <p:nvPr/>
        </p:nvSpPr>
        <p:spPr>
          <a:xfrm>
            <a:off x="1371600" y="1828800"/>
            <a:ext cx="2743200" cy="914400"/>
          </a:xfrm>
          <a:prstGeom prst="rect">
            <a:avLst/>
          </a:prstGeom>
          <a:noFill/>
        </p:spPr>
        <p:txBody>
          <a:bodyPr wrap="square" anchor="t"/>
          <a:lstStyle/>
          <a:p>
            <a:pPr algn="l">
              <a:defRPr sz="5200" b="1">
                <a:solidFill>
                  <a:srgbClr val="EF4444"/>
                </a:solidFill>
                <a:latin typeface="Calibri"/>
              </a:defRPr>
            </a:pPr>
            <a:r>
              <a:t>200+</a:t>
            </a:r>
          </a:p>
        </p:txBody>
      </p:sp>
      <p:sp>
        <p:nvSpPr>
          <p:cNvPr id="4" name="TextBox 3"/>
          <p:cNvSpPr txBox="1"/>
          <p:nvPr/>
        </p:nvSpPr>
        <p:spPr>
          <a:xfrm>
            <a:off x="4572000" y="1965960"/>
            <a:ext cx="6400800" cy="731520"/>
          </a:xfrm>
          <a:prstGeom prst="rect">
            <a:avLst/>
          </a:prstGeom>
          <a:noFill/>
        </p:spPr>
        <p:txBody>
          <a:bodyPr wrap="square" anchor="t"/>
          <a:lstStyle/>
          <a:p>
            <a:pPr algn="l">
              <a:defRPr sz="2200" b="0">
                <a:solidFill>
                  <a:srgbClr val="C0C0C0"/>
                </a:solidFill>
                <a:latin typeface="Calibri"/>
              </a:defRPr>
            </a:pPr>
            <a:r>
              <a:t>intelligent computing centers built since 2023</a:t>
            </a:r>
          </a:p>
        </p:txBody>
      </p:sp>
      <p:sp>
        <p:nvSpPr>
          <p:cNvPr id="5" name="TextBox 4"/>
          <p:cNvSpPr txBox="1"/>
          <p:nvPr/>
        </p:nvSpPr>
        <p:spPr>
          <a:xfrm>
            <a:off x="1371600" y="3200400"/>
            <a:ext cx="2743200" cy="914400"/>
          </a:xfrm>
          <a:prstGeom prst="rect">
            <a:avLst/>
          </a:prstGeom>
          <a:noFill/>
        </p:spPr>
        <p:txBody>
          <a:bodyPr wrap="square" anchor="t"/>
          <a:lstStyle/>
          <a:p>
            <a:pPr algn="l">
              <a:defRPr sz="5200" b="1">
                <a:solidFill>
                  <a:srgbClr val="F97316"/>
                </a:solidFill>
                <a:latin typeface="Calibri"/>
              </a:defRPr>
            </a:pPr>
            <a:r>
              <a:t>10,000+</a:t>
            </a:r>
          </a:p>
        </p:txBody>
      </p:sp>
      <p:sp>
        <p:nvSpPr>
          <p:cNvPr id="6" name="TextBox 5"/>
          <p:cNvSpPr txBox="1"/>
          <p:nvPr/>
        </p:nvSpPr>
        <p:spPr>
          <a:xfrm>
            <a:off x="4572000" y="3337560"/>
            <a:ext cx="6400800" cy="731520"/>
          </a:xfrm>
          <a:prstGeom prst="rect">
            <a:avLst/>
          </a:prstGeom>
          <a:noFill/>
        </p:spPr>
        <p:txBody>
          <a:bodyPr wrap="square" anchor="t"/>
          <a:lstStyle/>
          <a:p>
            <a:pPr algn="l">
              <a:defRPr sz="2200" b="0">
                <a:solidFill>
                  <a:srgbClr val="C0C0C0"/>
                </a:solidFill>
                <a:latin typeface="Calibri"/>
              </a:defRPr>
            </a:pPr>
            <a:r>
              <a:t>GPU accelerators per large facility</a:t>
            </a:r>
          </a:p>
        </p:txBody>
      </p:sp>
      <p:sp>
        <p:nvSpPr>
          <p:cNvPr id="7" name="TextBox 6"/>
          <p:cNvSpPr txBox="1"/>
          <p:nvPr/>
        </p:nvSpPr>
        <p:spPr>
          <a:xfrm>
            <a:off x="1371600" y="4572000"/>
            <a:ext cx="2743200" cy="914400"/>
          </a:xfrm>
          <a:prstGeom prst="rect">
            <a:avLst/>
          </a:prstGeom>
          <a:noFill/>
        </p:spPr>
        <p:txBody>
          <a:bodyPr wrap="square" anchor="t"/>
          <a:lstStyle/>
          <a:p>
            <a:pPr algn="l">
              <a:defRPr sz="5200" b="1">
                <a:solidFill>
                  <a:srgbClr val="FFFFFF"/>
                </a:solidFill>
                <a:latin typeface="Calibri"/>
              </a:defRPr>
            </a:pPr>
            <a:r>
              <a:t>&lt;30%</a:t>
            </a:r>
          </a:p>
        </p:txBody>
      </p:sp>
      <p:sp>
        <p:nvSpPr>
          <p:cNvPr id="8" name="TextBox 7"/>
          <p:cNvSpPr txBox="1"/>
          <p:nvPr/>
        </p:nvSpPr>
        <p:spPr>
          <a:xfrm>
            <a:off x="4572000" y="4709160"/>
            <a:ext cx="6400800" cy="731520"/>
          </a:xfrm>
          <a:prstGeom prst="rect">
            <a:avLst/>
          </a:prstGeom>
          <a:noFill/>
        </p:spPr>
        <p:txBody>
          <a:bodyPr wrap="square" anchor="t"/>
          <a:lstStyle/>
          <a:p>
            <a:pPr algn="l">
              <a:defRPr sz="2200" b="0">
                <a:solidFill>
                  <a:srgbClr val="C0C0C0"/>
                </a:solidFill>
                <a:latin typeface="Calibri"/>
              </a:defRPr>
            </a:pPr>
            <a:r>
              <a:t>average GPU utilization rate</a:t>
            </a:r>
          </a:p>
        </p:txBody>
      </p:sp>
      <p:sp>
        <p:nvSpPr>
          <p:cNvPr id="9" name="TextBox 8"/>
          <p:cNvSpPr txBox="1"/>
          <p:nvPr/>
        </p:nvSpPr>
        <p:spPr>
          <a:xfrm>
            <a:off x="1371600" y="5486400"/>
            <a:ext cx="9144000" cy="731520"/>
          </a:xfrm>
          <a:prstGeom prst="rect">
            <a:avLst/>
          </a:prstGeom>
          <a:noFill/>
        </p:spPr>
        <p:txBody>
          <a:bodyPr wrap="square" anchor="t"/>
          <a:lstStyle/>
          <a:p>
            <a:pPr algn="l">
              <a:defRPr sz="2000" b="1">
                <a:solidFill>
                  <a:srgbClr val="FFD700"/>
                </a:solidFill>
                <a:latin typeface="Calibri"/>
              </a:defRPr>
            </a:pPr>
            <a:r>
              <a:t>"The system-level challenges dominate everything."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600" b="1">
                <a:solidFill>
                  <a:srgbClr val="FFFFFF"/>
                </a:solidFill>
                <a:latin typeface="Calibri"/>
              </a:defRPr>
            </a:pPr>
            <a:r>
              <a:t>Challenge #1: Thermal Management</a:t>
            </a:r>
          </a:p>
        </p:txBody>
      </p:sp>
      <p:sp>
        <p:nvSpPr>
          <p:cNvPr id="3" name="TextBox 2"/>
          <p:cNvSpPr txBox="1"/>
          <p:nvPr/>
        </p:nvSpPr>
        <p:spPr>
          <a:xfrm>
            <a:off x="914400" y="1645920"/>
            <a:ext cx="4572000" cy="2743200"/>
          </a:xfrm>
          <a:prstGeom prst="rect">
            <a:avLst/>
          </a:prstGeom>
          <a:noFill/>
        </p:spPr>
        <p:txBody>
          <a:bodyPr wrap="square" anchor="t"/>
          <a:lstStyle/>
          <a:p>
            <a:pPr algn="l">
              <a:spcAft>
                <a:spcPts val="600"/>
              </a:spcAft>
              <a:defRPr sz="1800" b="0">
                <a:solidFill>
                  <a:srgbClr val="A0A0A0"/>
                </a:solidFill>
                <a:latin typeface="Calibri"/>
              </a:defRPr>
            </a:pPr>
            <a:r>
              <a:t>Single accelerator:</a:t>
            </a:r>
          </a:p>
          <a:p>
            <a:pPr algn="l">
              <a:spcAft>
                <a:spcPts val="600"/>
              </a:spcAft>
              <a:defRPr sz="4400" b="1">
                <a:solidFill>
                  <a:srgbClr val="EF4444"/>
                </a:solidFill>
                <a:latin typeface="Calibri"/>
              </a:defRPr>
            </a:pPr>
            <a:r>
              <a:t>700W+</a:t>
            </a:r>
          </a:p>
          <a:p>
            <a:pPr algn="l">
              <a:spcAft>
                <a:spcPts val="600"/>
              </a:spcAft>
              <a:defRPr sz="1000" b="0">
                <a:solidFill>
                  <a:srgbClr val="FFFFFF"/>
                </a:solidFill>
                <a:latin typeface="Calibri"/>
              </a:defRPr>
            </a:pPr>
          </a:p>
          <a:p>
            <a:pPr algn="l">
              <a:spcAft>
                <a:spcPts val="600"/>
              </a:spcAft>
              <a:defRPr sz="1800" b="0">
                <a:solidFill>
                  <a:srgbClr val="A0A0A0"/>
                </a:solidFill>
                <a:latin typeface="Calibri"/>
              </a:defRPr>
            </a:pPr>
            <a:r>
              <a:t>Single rack:</a:t>
            </a:r>
          </a:p>
          <a:p>
            <a:pPr algn="l">
              <a:spcAft>
                <a:spcPts val="600"/>
              </a:spcAft>
              <a:defRPr sz="4400" b="1">
                <a:solidFill>
                  <a:srgbClr val="F97316"/>
                </a:solidFill>
                <a:latin typeface="Calibri"/>
              </a:defRPr>
            </a:pPr>
            <a:r>
              <a:t>40–80 kW</a:t>
            </a:r>
          </a:p>
        </p:txBody>
      </p:sp>
      <p:sp>
        <p:nvSpPr>
          <p:cNvPr id="4" name="TextBox 3"/>
          <p:cNvSpPr txBox="1"/>
          <p:nvPr/>
        </p:nvSpPr>
        <p:spPr>
          <a:xfrm>
            <a:off x="6400800" y="1645920"/>
            <a:ext cx="5029200" cy="3200400"/>
          </a:xfrm>
          <a:prstGeom prst="rect">
            <a:avLst/>
          </a:prstGeom>
          <a:noFill/>
        </p:spPr>
        <p:txBody>
          <a:bodyPr wrap="square" anchor="t"/>
          <a:lstStyle/>
          <a:p>
            <a:pPr algn="l">
              <a:spcAft>
                <a:spcPts val="600"/>
              </a:spcAft>
              <a:defRPr sz="2400" b="1">
                <a:solidFill>
                  <a:srgbClr val="0EA5E9"/>
                </a:solidFill>
                <a:latin typeface="Calibri"/>
              </a:defRPr>
            </a:pPr>
            <a:r>
              <a:t>Air Cooling → Liquid Cooling</a:t>
            </a:r>
          </a:p>
          <a:p>
            <a:pPr algn="l">
              <a:spcAft>
                <a:spcPts val="600"/>
              </a:spcAft>
              <a:defRPr sz="1000" b="0">
                <a:solidFill>
                  <a:srgbClr val="FFFFFF"/>
                </a:solidFill>
                <a:latin typeface="Calibri"/>
              </a:defRPr>
            </a:pPr>
          </a:p>
          <a:p>
            <a:pPr algn="l">
              <a:spcAft>
                <a:spcPts val="600"/>
              </a:spcAft>
              <a:defRPr sz="2800" b="1">
                <a:solidFill>
                  <a:srgbClr val="22C55E"/>
                </a:solidFill>
                <a:latin typeface="Calibri"/>
              </a:defRPr>
            </a:pPr>
            <a:r>
              <a:t>PUE: 1.4 → 1.15</a:t>
            </a:r>
          </a:p>
          <a:p>
            <a:pPr algn="l">
              <a:spcAft>
                <a:spcPts val="600"/>
              </a:spcAft>
              <a:defRPr sz="1800" b="0">
                <a:solidFill>
                  <a:srgbClr val="C0C0C0"/>
                </a:solidFill>
                <a:latin typeface="Calibri"/>
              </a:defRPr>
            </a:pPr>
            <a:r>
              <a:t>= millions saved per year</a:t>
            </a:r>
          </a:p>
        </p:txBody>
      </p:sp>
      <p:pic>
        <p:nvPicPr>
          <p:cNvPr id="5" name="Picture 4" descr="server_rack.jpg"/>
          <p:cNvPicPr>
            <a:picLocks noChangeAspect="1"/>
          </p:cNvPicPr>
          <p:nvPr/>
        </p:nvPicPr>
        <p:blipFill>
          <a:blip r:embed="rId2"/>
          <a:stretch>
            <a:fillRect/>
          </a:stretch>
        </p:blipFill>
        <p:spPr>
          <a:xfrm>
            <a:off x="6972300" y="3840480"/>
            <a:ext cx="3429000" cy="2286000"/>
          </a:xfrm>
          <a:prstGeom prst="rect">
            <a:avLst/>
          </a:prstGeom>
        </p:spPr>
      </p:pic>
      <p:sp>
        <p:nvSpPr>
          <p:cNvPr id="6" name="TextBox 5"/>
          <p:cNvSpPr txBox="1"/>
          <p:nvPr/>
        </p:nvSpPr>
        <p:spPr>
          <a:xfrm>
            <a:off x="914400" y="5760720"/>
            <a:ext cx="10058400" cy="731520"/>
          </a:xfrm>
          <a:prstGeom prst="rect">
            <a:avLst/>
          </a:prstGeom>
          <a:noFill/>
        </p:spPr>
        <p:txBody>
          <a:bodyPr wrap="square" anchor="t"/>
          <a:lstStyle/>
          <a:p>
            <a:pPr algn="l">
              <a:defRPr sz="2000" b="1">
                <a:solidFill>
                  <a:srgbClr val="FFD700"/>
                </a:solidFill>
                <a:latin typeface="Calibri"/>
              </a:defRPr>
            </a:pPr>
            <a:r>
              <a:t>"Your chip's TDP is not a spec — it's a cost multiplier."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600" b="1">
                <a:solidFill>
                  <a:srgbClr val="FFFFFF"/>
                </a:solidFill>
                <a:latin typeface="Calibri"/>
              </a:defRPr>
            </a:pPr>
            <a:r>
              <a:t>Challenge #2: Power Supply</a:t>
            </a:r>
          </a:p>
        </p:txBody>
      </p:sp>
      <p:sp>
        <p:nvSpPr>
          <p:cNvPr id="3" name="TextBox 2"/>
          <p:cNvSpPr txBox="1"/>
          <p:nvPr/>
        </p:nvSpPr>
        <p:spPr>
          <a:xfrm>
            <a:off x="914400" y="1645920"/>
            <a:ext cx="5029200" cy="2286000"/>
          </a:xfrm>
          <a:prstGeom prst="rect">
            <a:avLst/>
          </a:prstGeom>
          <a:noFill/>
        </p:spPr>
        <p:txBody>
          <a:bodyPr wrap="square" anchor="t"/>
          <a:lstStyle/>
          <a:p>
            <a:pPr algn="l">
              <a:spcAft>
                <a:spcPts val="600"/>
              </a:spcAft>
              <a:defRPr sz="2800" b="1">
                <a:solidFill>
                  <a:srgbClr val="F97316"/>
                </a:solidFill>
                <a:latin typeface="Calibri"/>
              </a:defRPr>
            </a:pPr>
            <a:r>
              <a:t>1,000 GPUs = 1 MW</a:t>
            </a:r>
          </a:p>
          <a:p>
            <a:pPr algn="l">
              <a:spcAft>
                <a:spcPts val="600"/>
              </a:spcAft>
              <a:defRPr sz="2800" b="1">
                <a:solidFill>
                  <a:srgbClr val="EF4444"/>
                </a:solidFill>
                <a:latin typeface="Calibri"/>
              </a:defRPr>
            </a:pPr>
            <a:r>
              <a:t>10,000 GPUs = 10 MW</a:t>
            </a:r>
          </a:p>
          <a:p>
            <a:pPr algn="l">
              <a:spcAft>
                <a:spcPts val="600"/>
              </a:spcAft>
              <a:defRPr sz="1800" b="0">
                <a:solidFill>
                  <a:srgbClr val="A0A0A0"/>
                </a:solidFill>
                <a:latin typeface="Calibri"/>
              </a:defRPr>
            </a:pPr>
            <a:r>
              <a:t>= a small town's power consumption</a:t>
            </a:r>
          </a:p>
        </p:txBody>
      </p:sp>
      <p:sp>
        <p:nvSpPr>
          <p:cNvPr id="4" name="Rounded Rectangle 3"/>
          <p:cNvSpPr/>
          <p:nvPr/>
        </p:nvSpPr>
        <p:spPr>
          <a:xfrm>
            <a:off x="914400" y="3657600"/>
            <a:ext cx="4572000" cy="1097280"/>
          </a:xfrm>
          <a:prstGeom prst="roundRect">
            <a:avLst/>
          </a:prstGeom>
          <a:solidFill>
            <a:srgbClr val="202038"/>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749039"/>
            <a:ext cx="4114800" cy="914400"/>
          </a:xfrm>
          <a:prstGeom prst="rect">
            <a:avLst/>
          </a:prstGeom>
          <a:noFill/>
        </p:spPr>
        <p:txBody>
          <a:bodyPr wrap="square" anchor="t"/>
          <a:lstStyle/>
          <a:p>
            <a:pPr algn="l">
              <a:defRPr sz="2000" b="1">
                <a:solidFill>
                  <a:srgbClr val="EF4444"/>
                </a:solidFill>
                <a:latin typeface="Calibri"/>
              </a:defRPr>
            </a:pPr>
            <a:r>
              <a:t>East China:  ¥0.8/kWh  →  Expensive</a:t>
            </a:r>
          </a:p>
        </p:txBody>
      </p:sp>
      <p:sp>
        <p:nvSpPr>
          <p:cNvPr id="6" name="Rounded Rectangle 5"/>
          <p:cNvSpPr/>
          <p:nvPr/>
        </p:nvSpPr>
        <p:spPr>
          <a:xfrm>
            <a:off x="914400" y="4937760"/>
            <a:ext cx="4572000" cy="1097280"/>
          </a:xfrm>
          <a:prstGeom prst="roundRect">
            <a:avLst/>
          </a:prstGeom>
          <a:solidFill>
            <a:srgbClr val="202038"/>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5029200"/>
            <a:ext cx="4114800" cy="914400"/>
          </a:xfrm>
          <a:prstGeom prst="rect">
            <a:avLst/>
          </a:prstGeom>
          <a:noFill/>
        </p:spPr>
        <p:txBody>
          <a:bodyPr wrap="square" anchor="t"/>
          <a:lstStyle/>
          <a:p>
            <a:pPr algn="l">
              <a:defRPr sz="2000" b="1">
                <a:solidFill>
                  <a:srgbClr val="22C55E"/>
                </a:solidFill>
                <a:latin typeface="Calibri"/>
              </a:defRPr>
            </a:pPr>
            <a:r>
              <a:t>West China:  ¥0.3/kWh  →  AI moves west</a:t>
            </a:r>
          </a:p>
        </p:txBody>
      </p:sp>
      <p:sp>
        <p:nvSpPr>
          <p:cNvPr id="8" name="Rounded Rectangle 7"/>
          <p:cNvSpPr/>
          <p:nvPr/>
        </p:nvSpPr>
        <p:spPr>
          <a:xfrm>
            <a:off x="6400800" y="1645920"/>
            <a:ext cx="5029200" cy="4389120"/>
          </a:xfrm>
          <a:prstGeom prst="roundRect">
            <a:avLst/>
          </a:prstGeom>
          <a:solidFill>
            <a:srgbClr val="181830"/>
          </a:solidFill>
          <a:ln w="25400">
            <a:solidFill>
              <a:srgbClr val="30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737360"/>
            <a:ext cx="4572000" cy="457200"/>
          </a:xfrm>
          <a:prstGeom prst="rect">
            <a:avLst/>
          </a:prstGeom>
          <a:noFill/>
        </p:spPr>
        <p:txBody>
          <a:bodyPr wrap="square" anchor="t"/>
          <a:lstStyle/>
          <a:p>
            <a:pPr algn="ctr">
              <a:defRPr sz="1800" b="1">
                <a:solidFill>
                  <a:srgbClr val="FFD700"/>
                </a:solidFill>
                <a:latin typeface="Calibri"/>
              </a:defRPr>
            </a:pPr>
            <a:r>
              <a:t>“Eastern Data, Western Computing”</a:t>
            </a:r>
          </a:p>
        </p:txBody>
      </p:sp>
      <p:sp>
        <p:nvSpPr>
          <p:cNvPr id="10" name="Rounded Rectangle 9"/>
          <p:cNvSpPr/>
          <p:nvPr/>
        </p:nvSpPr>
        <p:spPr>
          <a:xfrm>
            <a:off x="6675120" y="2377440"/>
            <a:ext cx="2103120" cy="3200400"/>
          </a:xfrm>
          <a:prstGeom prst="roundRect">
            <a:avLst/>
          </a:prstGeom>
          <a:solidFill>
            <a:srgbClr val="153020"/>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2468880"/>
            <a:ext cx="1920240" cy="3017520"/>
          </a:xfrm>
          <a:prstGeom prst="rect">
            <a:avLst/>
          </a:prstGeom>
          <a:noFill/>
        </p:spPr>
        <p:txBody>
          <a:bodyPr wrap="square" anchor="t"/>
          <a:lstStyle/>
          <a:p>
            <a:pPr algn="ctr">
              <a:spcAft>
                <a:spcPts val="600"/>
              </a:spcAft>
              <a:defRPr sz="1600" b="1">
                <a:solidFill>
                  <a:srgbClr val="22C55E"/>
                </a:solidFill>
                <a:latin typeface="Calibri"/>
              </a:defRPr>
            </a:pPr>
            <a:r>
              <a:t>WEST</a:t>
            </a:r>
          </a:p>
          <a:p>
            <a:pPr algn="ctr">
              <a:spcAft>
                <a:spcPts val="600"/>
              </a:spcAft>
              <a:defRPr sz="600" b="0">
                <a:solidFill>
                  <a:srgbClr val="FFFFFF"/>
                </a:solidFill>
                <a:latin typeface="Calibri"/>
              </a:defRPr>
            </a:pPr>
          </a:p>
          <a:p>
            <a:pPr algn="ctr">
              <a:spcAft>
                <a:spcPts val="600"/>
              </a:spcAft>
              <a:defRPr sz="1400" b="0">
                <a:solidFill>
                  <a:srgbClr val="C0C0C0"/>
                </a:solidFill>
                <a:latin typeface="Calibri"/>
              </a:defRPr>
            </a:pPr>
            <a:r>
              <a:t>Guizhou</a:t>
            </a:r>
          </a:p>
          <a:p>
            <a:pPr algn="ctr">
              <a:spcAft>
                <a:spcPts val="600"/>
              </a:spcAft>
              <a:defRPr sz="1400" b="0">
                <a:solidFill>
                  <a:srgbClr val="C0C0C0"/>
                </a:solidFill>
                <a:latin typeface="Calibri"/>
              </a:defRPr>
            </a:pPr>
            <a:r>
              <a:t>Inner Mongolia</a:t>
            </a:r>
          </a:p>
          <a:p>
            <a:pPr algn="ctr">
              <a:spcAft>
                <a:spcPts val="600"/>
              </a:spcAft>
              <a:defRPr sz="1400" b="0">
                <a:solidFill>
                  <a:srgbClr val="C0C0C0"/>
                </a:solidFill>
                <a:latin typeface="Calibri"/>
              </a:defRPr>
            </a:pPr>
            <a:r>
              <a:t>Gansu</a:t>
            </a:r>
          </a:p>
          <a:p>
            <a:pPr algn="ctr">
              <a:spcAft>
                <a:spcPts val="600"/>
              </a:spcAft>
              <a:defRPr sz="800" b="0">
                <a:solidFill>
                  <a:srgbClr val="FFFFFF"/>
                </a:solidFill>
                <a:latin typeface="Calibri"/>
              </a:defRPr>
            </a:pPr>
          </a:p>
          <a:p>
            <a:pPr algn="ctr">
              <a:spcAft>
                <a:spcPts val="600"/>
              </a:spcAft>
              <a:defRPr sz="2400" b="1">
                <a:solidFill>
                  <a:srgbClr val="22C55E"/>
                </a:solidFill>
                <a:latin typeface="Calibri"/>
              </a:defRPr>
            </a:pPr>
            <a:r>
              <a:t>¥0.3/kWh</a:t>
            </a:r>
          </a:p>
          <a:p>
            <a:pPr algn="ctr">
              <a:spcAft>
                <a:spcPts val="600"/>
              </a:spcAft>
              <a:defRPr sz="1200" b="0">
                <a:solidFill>
                  <a:srgbClr val="A0A0A0"/>
                </a:solidFill>
                <a:latin typeface="Calibri"/>
              </a:defRPr>
            </a:pPr>
            <a:r>
              <a:t>Abundant land</a:t>
            </a:r>
          </a:p>
          <a:p>
            <a:pPr algn="ctr">
              <a:spcAft>
                <a:spcPts val="600"/>
              </a:spcAft>
              <a:defRPr sz="1200" b="0">
                <a:solidFill>
                  <a:srgbClr val="A0A0A0"/>
                </a:solidFill>
                <a:latin typeface="Calibri"/>
              </a:defRPr>
            </a:pPr>
            <a:r>
              <a:t>Clean energy</a:t>
            </a:r>
          </a:p>
        </p:txBody>
      </p:sp>
      <p:sp>
        <p:nvSpPr>
          <p:cNvPr id="12" name="Left Arrow 11"/>
          <p:cNvSpPr/>
          <p:nvPr/>
        </p:nvSpPr>
        <p:spPr>
          <a:xfrm>
            <a:off x="8869680" y="3474720"/>
            <a:ext cx="731520" cy="457200"/>
          </a:xfrm>
          <a:prstGeom prst="leftArrow">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692640" y="2377440"/>
            <a:ext cx="1554480" cy="3200400"/>
          </a:xfrm>
          <a:prstGeom prst="roundRect">
            <a:avLst/>
          </a:prstGeom>
          <a:solidFill>
            <a:srgbClr val="301515"/>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0" y="2468880"/>
            <a:ext cx="1371600" cy="3017520"/>
          </a:xfrm>
          <a:prstGeom prst="rect">
            <a:avLst/>
          </a:prstGeom>
          <a:noFill/>
        </p:spPr>
        <p:txBody>
          <a:bodyPr wrap="square" anchor="t"/>
          <a:lstStyle/>
          <a:p>
            <a:pPr algn="ctr">
              <a:spcAft>
                <a:spcPts val="600"/>
              </a:spcAft>
              <a:defRPr sz="1600" b="1">
                <a:solidFill>
                  <a:srgbClr val="EF4444"/>
                </a:solidFill>
                <a:latin typeface="Calibri"/>
              </a:defRPr>
            </a:pPr>
            <a:r>
              <a:t>EAST</a:t>
            </a:r>
          </a:p>
          <a:p>
            <a:pPr algn="ctr">
              <a:spcAft>
                <a:spcPts val="600"/>
              </a:spcAft>
              <a:defRPr sz="600" b="0">
                <a:solidFill>
                  <a:srgbClr val="FFFFFF"/>
                </a:solidFill>
                <a:latin typeface="Calibri"/>
              </a:defRPr>
            </a:pPr>
          </a:p>
          <a:p>
            <a:pPr algn="ctr">
              <a:spcAft>
                <a:spcPts val="600"/>
              </a:spcAft>
              <a:defRPr sz="1400" b="0">
                <a:solidFill>
                  <a:srgbClr val="C0C0C0"/>
                </a:solidFill>
                <a:latin typeface="Calibri"/>
              </a:defRPr>
            </a:pPr>
            <a:r>
              <a:t>Beijing</a:t>
            </a:r>
          </a:p>
          <a:p>
            <a:pPr algn="ctr">
              <a:spcAft>
                <a:spcPts val="600"/>
              </a:spcAft>
              <a:defRPr sz="1400" b="0">
                <a:solidFill>
                  <a:srgbClr val="C0C0C0"/>
                </a:solidFill>
                <a:latin typeface="Calibri"/>
              </a:defRPr>
            </a:pPr>
            <a:r>
              <a:t>Shanghai</a:t>
            </a:r>
          </a:p>
          <a:p>
            <a:pPr algn="ctr">
              <a:spcAft>
                <a:spcPts val="600"/>
              </a:spcAft>
              <a:defRPr sz="1400" b="0">
                <a:solidFill>
                  <a:srgbClr val="C0C0C0"/>
                </a:solidFill>
                <a:latin typeface="Calibri"/>
              </a:defRPr>
            </a:pPr>
            <a:r>
              <a:t>Shenzhen</a:t>
            </a:r>
          </a:p>
          <a:p>
            <a:pPr algn="ctr">
              <a:spcAft>
                <a:spcPts val="600"/>
              </a:spcAft>
              <a:defRPr sz="800" b="0">
                <a:solidFill>
                  <a:srgbClr val="FFFFFF"/>
                </a:solidFill>
                <a:latin typeface="Calibri"/>
              </a:defRPr>
            </a:pPr>
          </a:p>
          <a:p>
            <a:pPr algn="ctr">
              <a:spcAft>
                <a:spcPts val="600"/>
              </a:spcAft>
              <a:defRPr sz="2400" b="1">
                <a:solidFill>
                  <a:srgbClr val="EF4444"/>
                </a:solidFill>
                <a:latin typeface="Calibri"/>
              </a:defRPr>
            </a:pPr>
            <a:r>
              <a:t>¥0.8/kWh</a:t>
            </a:r>
          </a:p>
          <a:p>
            <a:pPr algn="ctr">
              <a:spcAft>
                <a:spcPts val="600"/>
              </a:spcAft>
              <a:defRPr sz="1200" b="0">
                <a:solidFill>
                  <a:srgbClr val="A0A0A0"/>
                </a:solidFill>
                <a:latin typeface="Calibri"/>
              </a:defRPr>
            </a:pPr>
            <a:r>
              <a:t>Limited land</a:t>
            </a:r>
          </a:p>
          <a:p>
            <a:pPr algn="ctr">
              <a:spcAft>
                <a:spcPts val="600"/>
              </a:spcAft>
              <a:defRPr sz="1200" b="0">
                <a:solidFill>
                  <a:srgbClr val="A0A0A0"/>
                </a:solidFill>
                <a:latin typeface="Calibri"/>
              </a:defRPr>
            </a:pPr>
            <a:r>
              <a:t>High demand</a:t>
            </a:r>
          </a:p>
        </p:txBody>
      </p:sp>
      <p:sp>
        <p:nvSpPr>
          <p:cNvPr id="15" name="TextBox 14"/>
          <p:cNvSpPr txBox="1"/>
          <p:nvPr/>
        </p:nvSpPr>
        <p:spPr>
          <a:xfrm>
            <a:off x="914400" y="6217920"/>
            <a:ext cx="10058400" cy="457200"/>
          </a:xfrm>
          <a:prstGeom prst="rect">
            <a:avLst/>
          </a:prstGeom>
          <a:noFill/>
        </p:spPr>
        <p:txBody>
          <a:bodyPr wrap="square" anchor="t"/>
          <a:lstStyle/>
          <a:p>
            <a:pPr algn="l">
              <a:defRPr sz="2000" b="1">
                <a:solidFill>
                  <a:srgbClr val="FFD700"/>
                </a:solidFill>
                <a:latin typeface="Calibri"/>
              </a:defRPr>
            </a:pPr>
            <a:r>
              <a:t>"Power is the new oil of the AI era."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600" b="1">
                <a:solidFill>
                  <a:srgbClr val="FFFFFF"/>
                </a:solidFill>
                <a:latin typeface="Calibri"/>
              </a:defRPr>
            </a:pPr>
            <a:r>
              <a:t>Challenge #3: GPU Utilization</a:t>
            </a:r>
          </a:p>
        </p:txBody>
      </p:sp>
      <p:sp>
        <p:nvSpPr>
          <p:cNvPr id="3" name="TextBox 2"/>
          <p:cNvSpPr txBox="1"/>
          <p:nvPr/>
        </p:nvSpPr>
        <p:spPr>
          <a:xfrm>
            <a:off x="914400" y="1645920"/>
            <a:ext cx="4572000" cy="1371600"/>
          </a:xfrm>
          <a:prstGeom prst="rect">
            <a:avLst/>
          </a:prstGeom>
          <a:noFill/>
        </p:spPr>
        <p:txBody>
          <a:bodyPr wrap="square" anchor="t"/>
          <a:lstStyle/>
          <a:p>
            <a:pPr algn="ctr">
              <a:defRPr sz="8000" b="1">
                <a:solidFill>
                  <a:srgbClr val="EF4444"/>
                </a:solidFill>
                <a:latin typeface="Calibri"/>
              </a:defRPr>
            </a:pPr>
            <a:r>
              <a:t>&lt;30%</a:t>
            </a:r>
          </a:p>
        </p:txBody>
      </p:sp>
      <p:sp>
        <p:nvSpPr>
          <p:cNvPr id="4" name="TextBox 3"/>
          <p:cNvSpPr txBox="1"/>
          <p:nvPr/>
        </p:nvSpPr>
        <p:spPr>
          <a:xfrm>
            <a:off x="914400" y="3200400"/>
            <a:ext cx="4572000" cy="548640"/>
          </a:xfrm>
          <a:prstGeom prst="rect">
            <a:avLst/>
          </a:prstGeom>
          <a:noFill/>
        </p:spPr>
        <p:txBody>
          <a:bodyPr wrap="square" anchor="t"/>
          <a:lstStyle/>
          <a:p>
            <a:pPr algn="ctr">
              <a:defRPr sz="2200" b="0">
                <a:solidFill>
                  <a:srgbClr val="C0C0C0"/>
                </a:solidFill>
                <a:latin typeface="Calibri"/>
              </a:defRPr>
            </a:pPr>
            <a:r>
              <a:t>Average GPU Utilization</a:t>
            </a:r>
          </a:p>
        </p:txBody>
      </p:sp>
      <p:sp>
        <p:nvSpPr>
          <p:cNvPr id="5" name="TextBox 4"/>
          <p:cNvSpPr txBox="1"/>
          <p:nvPr/>
        </p:nvSpPr>
        <p:spPr>
          <a:xfrm>
            <a:off x="6400800" y="1645920"/>
            <a:ext cx="4572000" cy="548640"/>
          </a:xfrm>
          <a:prstGeom prst="rect">
            <a:avLst/>
          </a:prstGeom>
          <a:noFill/>
        </p:spPr>
        <p:txBody>
          <a:bodyPr wrap="square" anchor="t"/>
          <a:lstStyle/>
          <a:p>
            <a:pPr algn="l">
              <a:defRPr sz="2800" b="1">
                <a:solidFill>
                  <a:srgbClr val="F97316"/>
                </a:solidFill>
                <a:latin typeface="Calibri"/>
              </a:defRPr>
            </a:pPr>
            <a:r>
              <a:t>Why?</a:t>
            </a:r>
          </a:p>
        </p:txBody>
      </p:sp>
      <p:sp>
        <p:nvSpPr>
          <p:cNvPr id="6" name="TextBox 5"/>
          <p:cNvSpPr txBox="1"/>
          <p:nvPr/>
        </p:nvSpPr>
        <p:spPr>
          <a:xfrm>
            <a:off x="6400800" y="2377440"/>
            <a:ext cx="5029200" cy="3200400"/>
          </a:xfrm>
          <a:prstGeom prst="rect">
            <a:avLst/>
          </a:prstGeom>
          <a:noFill/>
        </p:spPr>
        <p:txBody>
          <a:bodyPr wrap="square" anchor="t"/>
          <a:lstStyle/>
          <a:p>
            <a:pPr algn="l">
              <a:spcAft>
                <a:spcPts val="600"/>
              </a:spcAft>
              <a:defRPr sz="1800" b="0">
                <a:solidFill>
                  <a:srgbClr val="C0C0C0"/>
                </a:solidFill>
                <a:latin typeface="Calibri"/>
              </a:defRPr>
            </a:pPr>
            <a:r>
              <a:t>• Multi-tenant scheduling is hard</a:t>
            </a:r>
          </a:p>
          <a:p>
            <a:pPr algn="l">
              <a:spcAft>
                <a:spcPts val="600"/>
              </a:spcAft>
              <a:defRPr sz="1800" b="0">
                <a:solidFill>
                  <a:srgbClr val="C0C0C0"/>
                </a:solidFill>
                <a:latin typeface="Calibri"/>
              </a:defRPr>
            </a:pPr>
            <a:r>
              <a:t>• Memory fragmentation between model sizes</a:t>
            </a:r>
          </a:p>
          <a:p>
            <a:pPr algn="l">
              <a:spcAft>
                <a:spcPts val="600"/>
              </a:spcAft>
              <a:defRPr sz="1800" b="0">
                <a:solidFill>
                  <a:srgbClr val="C0C0C0"/>
                </a:solidFill>
                <a:latin typeface="Calibri"/>
              </a:defRPr>
            </a:pPr>
            <a:r>
              <a:t>• Daily hardware failures at scale</a:t>
            </a:r>
          </a:p>
          <a:p>
            <a:pPr algn="l">
              <a:spcAft>
                <a:spcPts val="600"/>
              </a:spcAft>
              <a:defRPr sz="1800" b="0">
                <a:solidFill>
                  <a:srgbClr val="C0C0C0"/>
                </a:solidFill>
                <a:latin typeface="Calibri"/>
              </a:defRPr>
            </a:pPr>
            <a:r>
              <a:t>• Recovery and job migration overhead</a:t>
            </a:r>
          </a:p>
        </p:txBody>
      </p:sp>
      <p:sp>
        <p:nvSpPr>
          <p:cNvPr id="7" name="TextBox 6"/>
          <p:cNvSpPr txBox="1"/>
          <p:nvPr/>
        </p:nvSpPr>
        <p:spPr>
          <a:xfrm>
            <a:off x="914400" y="5760720"/>
            <a:ext cx="10058400" cy="731520"/>
          </a:xfrm>
          <a:prstGeom prst="rect">
            <a:avLst/>
          </a:prstGeom>
          <a:noFill/>
        </p:spPr>
        <p:txBody>
          <a:bodyPr wrap="square" anchor="t"/>
          <a:lstStyle/>
          <a:p>
            <a:pPr algn="l">
              <a:defRPr sz="2000" b="1">
                <a:solidFill>
                  <a:srgbClr val="FFD700"/>
                </a:solidFill>
                <a:latin typeface="Calibri"/>
              </a:defRPr>
            </a:pPr>
            <a:r>
              <a:t>"Utilization rate matters more than total capacity."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10058400" cy="731520"/>
          </a:xfrm>
          <a:prstGeom prst="rect">
            <a:avLst/>
          </a:prstGeom>
          <a:noFill/>
        </p:spPr>
        <p:txBody>
          <a:bodyPr wrap="square" anchor="t"/>
          <a:lstStyle/>
          <a:p>
            <a:pPr algn="l">
              <a:defRPr sz="3600" b="1">
                <a:solidFill>
                  <a:srgbClr val="FFFFFF"/>
                </a:solidFill>
                <a:latin typeface="Calibri"/>
              </a:defRPr>
            </a:pPr>
            <a:r>
              <a:t>What Cloud Operations Teach IC Designers</a:t>
            </a:r>
          </a:p>
        </p:txBody>
      </p:sp>
      <p:sp>
        <p:nvSpPr>
          <p:cNvPr id="3" name="Rectangle 2"/>
          <p:cNvSpPr/>
          <p:nvPr/>
        </p:nvSpPr>
        <p:spPr>
          <a:xfrm>
            <a:off x="1188720" y="1645920"/>
            <a:ext cx="73152" cy="7315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54480" y="1645920"/>
            <a:ext cx="914400" cy="731520"/>
          </a:xfrm>
          <a:prstGeom prst="rect">
            <a:avLst/>
          </a:prstGeom>
          <a:noFill/>
        </p:spPr>
        <p:txBody>
          <a:bodyPr wrap="square" anchor="t"/>
          <a:lstStyle/>
          <a:p>
            <a:pPr algn="l">
              <a:defRPr sz="2400" b="1">
                <a:solidFill>
                  <a:srgbClr val="22C55E"/>
                </a:solidFill>
                <a:latin typeface="Calibri"/>
              </a:defRPr>
            </a:pPr>
            <a:r>
              <a:t>✅</a:t>
            </a:r>
          </a:p>
        </p:txBody>
      </p:sp>
      <p:sp>
        <p:nvSpPr>
          <p:cNvPr id="5" name="TextBox 4"/>
          <p:cNvSpPr txBox="1"/>
          <p:nvPr/>
        </p:nvSpPr>
        <p:spPr>
          <a:xfrm>
            <a:off x="2103120" y="1737360"/>
            <a:ext cx="8229600" cy="640080"/>
          </a:xfrm>
          <a:prstGeom prst="rect">
            <a:avLst/>
          </a:prstGeom>
          <a:noFill/>
        </p:spPr>
        <p:txBody>
          <a:bodyPr wrap="square" anchor="t"/>
          <a:lstStyle/>
          <a:p>
            <a:pPr algn="l">
              <a:defRPr sz="2400" b="0">
                <a:solidFill>
                  <a:srgbClr val="FFFFFF"/>
                </a:solidFill>
                <a:latin typeface="Calibri"/>
              </a:defRPr>
            </a:pPr>
            <a:r>
              <a:t>1. Design for system deployability, not benchmarks</a:t>
            </a:r>
          </a:p>
        </p:txBody>
      </p:sp>
      <p:sp>
        <p:nvSpPr>
          <p:cNvPr id="6" name="Rectangle 5"/>
          <p:cNvSpPr/>
          <p:nvPr/>
        </p:nvSpPr>
        <p:spPr>
          <a:xfrm>
            <a:off x="1188720" y="2743200"/>
            <a:ext cx="73152" cy="7315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54480" y="2743200"/>
            <a:ext cx="914400" cy="731520"/>
          </a:xfrm>
          <a:prstGeom prst="rect">
            <a:avLst/>
          </a:prstGeom>
          <a:noFill/>
        </p:spPr>
        <p:txBody>
          <a:bodyPr wrap="square" anchor="t"/>
          <a:lstStyle/>
          <a:p>
            <a:pPr algn="l">
              <a:defRPr sz="2400" b="1">
                <a:solidFill>
                  <a:srgbClr val="22C55E"/>
                </a:solidFill>
                <a:latin typeface="Calibri"/>
              </a:defRPr>
            </a:pPr>
            <a:r>
              <a:t>✅</a:t>
            </a:r>
          </a:p>
        </p:txBody>
      </p:sp>
      <p:sp>
        <p:nvSpPr>
          <p:cNvPr id="8" name="TextBox 7"/>
          <p:cNvSpPr txBox="1"/>
          <p:nvPr/>
        </p:nvSpPr>
        <p:spPr>
          <a:xfrm>
            <a:off x="2103120" y="2834640"/>
            <a:ext cx="8229600" cy="640080"/>
          </a:xfrm>
          <a:prstGeom prst="rect">
            <a:avLst/>
          </a:prstGeom>
          <a:noFill/>
        </p:spPr>
        <p:txBody>
          <a:bodyPr wrap="square" anchor="t"/>
          <a:lstStyle/>
          <a:p>
            <a:pPr algn="l">
              <a:defRPr sz="2400" b="0">
                <a:solidFill>
                  <a:srgbClr val="FFFFFF"/>
                </a:solidFill>
                <a:latin typeface="Calibri"/>
              </a:defRPr>
            </a:pPr>
            <a:r>
              <a:t>2. Performance per watt &gt; peak performance</a:t>
            </a:r>
          </a:p>
        </p:txBody>
      </p:sp>
      <p:sp>
        <p:nvSpPr>
          <p:cNvPr id="9" name="Rectangle 8"/>
          <p:cNvSpPr/>
          <p:nvPr/>
        </p:nvSpPr>
        <p:spPr>
          <a:xfrm>
            <a:off x="1188720" y="3840480"/>
            <a:ext cx="73152" cy="7315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54480" y="3840480"/>
            <a:ext cx="914400" cy="731520"/>
          </a:xfrm>
          <a:prstGeom prst="rect">
            <a:avLst/>
          </a:prstGeom>
          <a:noFill/>
        </p:spPr>
        <p:txBody>
          <a:bodyPr wrap="square" anchor="t"/>
          <a:lstStyle/>
          <a:p>
            <a:pPr algn="l">
              <a:defRPr sz="2400" b="1">
                <a:solidFill>
                  <a:srgbClr val="22C55E"/>
                </a:solidFill>
                <a:latin typeface="Calibri"/>
              </a:defRPr>
            </a:pPr>
            <a:r>
              <a:t>✅</a:t>
            </a:r>
          </a:p>
        </p:txBody>
      </p:sp>
      <p:sp>
        <p:nvSpPr>
          <p:cNvPr id="11" name="TextBox 10"/>
          <p:cNvSpPr txBox="1"/>
          <p:nvPr/>
        </p:nvSpPr>
        <p:spPr>
          <a:xfrm>
            <a:off x="2103120" y="3931920"/>
            <a:ext cx="8229600" cy="640080"/>
          </a:xfrm>
          <a:prstGeom prst="rect">
            <a:avLst/>
          </a:prstGeom>
          <a:noFill/>
        </p:spPr>
        <p:txBody>
          <a:bodyPr wrap="square" anchor="t"/>
          <a:lstStyle/>
          <a:p>
            <a:pPr algn="l">
              <a:defRPr sz="2400" b="0">
                <a:solidFill>
                  <a:srgbClr val="FFFFFF"/>
                </a:solidFill>
                <a:latin typeface="Calibri"/>
              </a:defRPr>
            </a:pPr>
            <a:r>
              <a:t>3. Build diagnostics into the silicon</a:t>
            </a:r>
          </a:p>
        </p:txBody>
      </p:sp>
      <p:sp>
        <p:nvSpPr>
          <p:cNvPr id="12" name="Rectangle 11"/>
          <p:cNvSpPr/>
          <p:nvPr/>
        </p:nvSpPr>
        <p:spPr>
          <a:xfrm>
            <a:off x="1188720" y="4937759"/>
            <a:ext cx="73152" cy="7315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54480" y="4937759"/>
            <a:ext cx="914400" cy="731520"/>
          </a:xfrm>
          <a:prstGeom prst="rect">
            <a:avLst/>
          </a:prstGeom>
          <a:noFill/>
        </p:spPr>
        <p:txBody>
          <a:bodyPr wrap="square" anchor="t"/>
          <a:lstStyle/>
          <a:p>
            <a:pPr algn="l">
              <a:defRPr sz="2400" b="1">
                <a:solidFill>
                  <a:srgbClr val="22C55E"/>
                </a:solidFill>
                <a:latin typeface="Calibri"/>
              </a:defRPr>
            </a:pPr>
            <a:r>
              <a:t>✅</a:t>
            </a:r>
          </a:p>
        </p:txBody>
      </p:sp>
      <p:sp>
        <p:nvSpPr>
          <p:cNvPr id="14" name="TextBox 13"/>
          <p:cNvSpPr txBox="1"/>
          <p:nvPr/>
        </p:nvSpPr>
        <p:spPr>
          <a:xfrm>
            <a:off x="2103120" y="5029199"/>
            <a:ext cx="8229600" cy="640080"/>
          </a:xfrm>
          <a:prstGeom prst="rect">
            <a:avLst/>
          </a:prstGeom>
          <a:noFill/>
        </p:spPr>
        <p:txBody>
          <a:bodyPr wrap="square" anchor="t"/>
          <a:lstStyle/>
          <a:p>
            <a:pPr algn="l">
              <a:defRPr sz="2400" b="0">
                <a:solidFill>
                  <a:srgbClr val="FFFFFF"/>
                </a:solidFill>
                <a:latin typeface="Calibri"/>
              </a:defRPr>
            </a:pPr>
            <a:r>
              <a:t>4. Reliability over years, not hours</a:t>
            </a:r>
          </a:p>
        </p:txBody>
      </p:sp>
      <p:sp>
        <p:nvSpPr>
          <p:cNvPr id="15" name="TextBox 14"/>
          <p:cNvSpPr txBox="1"/>
          <p:nvPr/>
        </p:nvSpPr>
        <p:spPr>
          <a:xfrm>
            <a:off x="914400" y="5760720"/>
            <a:ext cx="10058400" cy="731520"/>
          </a:xfrm>
          <a:prstGeom prst="rect">
            <a:avLst/>
          </a:prstGeom>
          <a:noFill/>
        </p:spPr>
        <p:txBody>
          <a:bodyPr wrap="square" anchor="t"/>
          <a:lstStyle/>
          <a:p>
            <a:pPr algn="l">
              <a:defRPr sz="1800" b="1">
                <a:solidFill>
                  <a:srgbClr val="FFD700"/>
                </a:solidFill>
                <a:latin typeface="Calibri"/>
              </a:defRPr>
            </a:pPr>
            <a:r>
              <a:t>"The best chip is the one that runs stable at 85% load for 365 days."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220"/>
        </a:solidFill>
        <a:effectLst/>
      </p:bgPr>
    </p:bg>
    <p:spTree>
      <p:nvGrpSpPr>
        <p:cNvPr id="1" name=""/>
        <p:cNvGrpSpPr/>
        <p:nvPr/>
      </p:nvGrpSpPr>
      <p:grpSpPr/>
      <p:pic>
        <p:nvPicPr>
          <p:cNvPr id="2" name="Picture 1" descr="humanoid_robot.jpg"/>
          <p:cNvPicPr>
            <a:picLocks noChangeAspect="1"/>
          </p:cNvPicPr>
          <p:nvPr/>
        </p:nvPicPr>
        <p:blipFill>
          <a:blip r:embed="rId2"/>
          <a:stretch>
            <a:fillRect/>
          </a:stretch>
        </p:blipFill>
        <p:spPr>
          <a:xfrm>
            <a:off x="0" y="-634898"/>
            <a:ext cx="12191695" cy="8127796"/>
          </a:xfrm>
          <a:prstGeom prst="rect">
            <a:avLst/>
          </a:prstGeom>
        </p:spPr>
      </p:pic>
      <p:sp>
        <p:nvSpPr>
          <p:cNvPr id="3" name="Rectangle 2"/>
          <p:cNvSpPr/>
          <p:nvPr/>
        </p:nvSpPr>
        <p:spPr>
          <a:xfrm>
            <a:off x="0" y="0"/>
            <a:ext cx="12191695" cy="6858000"/>
          </a:xfrm>
          <a:prstGeom prst="rect">
            <a:avLst/>
          </a:prstGeom>
          <a:solidFill>
            <a:srgbClr val="0A0A15">
              <a:alpha val="44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144000" cy="3657600"/>
          </a:xfrm>
          <a:prstGeom prst="rect">
            <a:avLst/>
          </a:prstGeom>
          <a:noFill/>
        </p:spPr>
        <p:txBody>
          <a:bodyPr wrap="square" anchor="ctr"/>
          <a:lstStyle/>
          <a:p>
            <a:pPr algn="l">
              <a:spcAft>
                <a:spcPts val="600"/>
              </a:spcAft>
              <a:defRPr sz="2000" b="1">
                <a:solidFill>
                  <a:srgbClr val="22C55E"/>
                </a:solidFill>
                <a:latin typeface="Calibri"/>
              </a:defRPr>
            </a:pPr>
            <a:r>
              <a:t>PART II</a:t>
            </a:r>
          </a:p>
          <a:p>
            <a:pPr algn="l">
              <a:spcAft>
                <a:spcPts val="600"/>
              </a:spcAft>
              <a:defRPr sz="5200" b="1">
                <a:solidFill>
                  <a:srgbClr val="FFFFFF"/>
                </a:solidFill>
                <a:latin typeface="Calibri"/>
              </a:defRPr>
            </a:pPr>
            <a:r>
              <a:t>From Racks to Bodies</a:t>
            </a:r>
          </a:p>
          <a:p>
            <a:pPr algn="l">
              <a:spcAft>
                <a:spcPts val="600"/>
              </a:spcAft>
              <a:defRPr sz="2400" b="0">
                <a:solidFill>
                  <a:srgbClr val="C0C0C0"/>
                </a:solidFill>
                <a:latin typeface="Calibri"/>
              </a:defRPr>
            </a:pPr>
            <a:r>
              <a:t>When Compute Walks Out of the Data Center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600" b="1">
                <a:solidFill>
                  <a:srgbClr val="FFFFFF"/>
                </a:solidFill>
                <a:latin typeface="Calibri"/>
              </a:defRPr>
            </a:pPr>
            <a:r>
              <a:t>Why I Invest in Embodied AI</a:t>
            </a:r>
          </a:p>
        </p:txBody>
      </p:sp>
      <p:sp>
        <p:nvSpPr>
          <p:cNvPr id="3" name="TextBox 2"/>
          <p:cNvSpPr txBox="1"/>
          <p:nvPr/>
        </p:nvSpPr>
        <p:spPr>
          <a:xfrm>
            <a:off x="1371600" y="1645920"/>
            <a:ext cx="9144000" cy="914400"/>
          </a:xfrm>
          <a:prstGeom prst="rect">
            <a:avLst/>
          </a:prstGeom>
          <a:noFill/>
        </p:spPr>
        <p:txBody>
          <a:bodyPr wrap="square" anchor="t"/>
          <a:lstStyle/>
          <a:p>
            <a:pPr algn="l">
              <a:defRPr sz="2400" b="1">
                <a:solidFill>
                  <a:srgbClr val="C0C0C0"/>
                </a:solidFill>
                <a:latin typeface="Calibri"/>
              </a:defRPr>
            </a:pPr>
            <a:r>
              <a:t>"I asked the engineering teams:</a:t>
            </a:r>
            <a:br/>
            <a:r>
              <a:t> What is your biggest bottleneck?"</a:t>
            </a:r>
          </a:p>
        </p:txBody>
      </p:sp>
      <p:sp>
        <p:nvSpPr>
          <p:cNvPr id="4" name="TextBox 3"/>
          <p:cNvSpPr txBox="1"/>
          <p:nvPr/>
        </p:nvSpPr>
        <p:spPr>
          <a:xfrm>
            <a:off x="1828800" y="2926080"/>
            <a:ext cx="7315200" cy="731520"/>
          </a:xfrm>
          <a:prstGeom prst="rect">
            <a:avLst/>
          </a:prstGeom>
          <a:noFill/>
        </p:spPr>
        <p:txBody>
          <a:bodyPr wrap="square" anchor="t"/>
          <a:lstStyle/>
          <a:p>
            <a:pPr algn="l">
              <a:defRPr sz="2800" b="1">
                <a:solidFill>
                  <a:srgbClr val="EF4444"/>
                </a:solidFill>
                <a:latin typeface="Calibri"/>
              </a:defRPr>
            </a:pPr>
            <a:r>
              <a:t>❌  Not funding</a:t>
            </a:r>
          </a:p>
        </p:txBody>
      </p:sp>
      <p:sp>
        <p:nvSpPr>
          <p:cNvPr id="5" name="TextBox 4"/>
          <p:cNvSpPr txBox="1"/>
          <p:nvPr/>
        </p:nvSpPr>
        <p:spPr>
          <a:xfrm>
            <a:off x="1828800" y="3749040"/>
            <a:ext cx="7315200" cy="731520"/>
          </a:xfrm>
          <a:prstGeom prst="rect">
            <a:avLst/>
          </a:prstGeom>
          <a:noFill/>
        </p:spPr>
        <p:txBody>
          <a:bodyPr wrap="square" anchor="t"/>
          <a:lstStyle/>
          <a:p>
            <a:pPr algn="l">
              <a:defRPr sz="2800" b="1">
                <a:solidFill>
                  <a:srgbClr val="EF4444"/>
                </a:solidFill>
                <a:latin typeface="Calibri"/>
              </a:defRPr>
            </a:pPr>
            <a:r>
              <a:t>❌  Not algorithms</a:t>
            </a:r>
          </a:p>
        </p:txBody>
      </p:sp>
      <p:sp>
        <p:nvSpPr>
          <p:cNvPr id="6" name="TextBox 5"/>
          <p:cNvSpPr txBox="1"/>
          <p:nvPr/>
        </p:nvSpPr>
        <p:spPr>
          <a:xfrm>
            <a:off x="1828800" y="4572000"/>
            <a:ext cx="7315200" cy="731520"/>
          </a:xfrm>
          <a:prstGeom prst="rect">
            <a:avLst/>
          </a:prstGeom>
          <a:noFill/>
        </p:spPr>
        <p:txBody>
          <a:bodyPr wrap="square" anchor="t"/>
          <a:lstStyle/>
          <a:p>
            <a:pPr algn="l">
              <a:defRPr sz="2800" b="1">
                <a:solidFill>
                  <a:srgbClr val="22C55E"/>
                </a:solidFill>
                <a:latin typeface="Calibri"/>
              </a:defRPr>
            </a:pPr>
            <a:r>
              <a:t>✅  On-body compute</a:t>
            </a:r>
          </a:p>
        </p:txBody>
      </p:sp>
      <p:sp>
        <p:nvSpPr>
          <p:cNvPr id="7" name="TextBox 6"/>
          <p:cNvSpPr txBox="1"/>
          <p:nvPr/>
        </p:nvSpPr>
        <p:spPr>
          <a:xfrm>
            <a:off x="1371600" y="5303520"/>
            <a:ext cx="9144000" cy="1371600"/>
          </a:xfrm>
          <a:prstGeom prst="rect">
            <a:avLst/>
          </a:prstGeom>
          <a:noFill/>
        </p:spPr>
        <p:txBody>
          <a:bodyPr wrap="square" anchor="t"/>
          <a:lstStyle/>
          <a:p>
            <a:pPr algn="l">
              <a:spcAft>
                <a:spcPts val="600"/>
              </a:spcAft>
              <a:defRPr sz="2000" b="1">
                <a:solidFill>
                  <a:srgbClr val="FFD700"/>
                </a:solidFill>
                <a:latin typeface="Calibri"/>
              </a:defRPr>
            </a:pPr>
            <a:r>
              <a:t>"The available processors simply cannot deliver</a:t>
            </a:r>
          </a:p>
          <a:p>
            <a:pPr algn="l">
              <a:spcAft>
                <a:spcPts val="600"/>
              </a:spcAft>
              <a:defRPr sz="2000" b="1">
                <a:solidFill>
                  <a:srgbClr val="FFD700"/>
                </a:solidFill>
                <a:latin typeface="Calibri"/>
              </a:defRPr>
            </a:pPr>
            <a:r>
              <a:t> what we need within our power and size constraints."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400" b="1">
                <a:solidFill>
                  <a:srgbClr val="FFFFFF"/>
                </a:solidFill>
                <a:latin typeface="Calibri"/>
              </a:defRPr>
            </a:pPr>
            <a:r>
              <a:t>Portfolio: LingShen Technology  灵生科技</a:t>
            </a:r>
          </a:p>
        </p:txBody>
      </p:sp>
      <p:sp>
        <p:nvSpPr>
          <p:cNvPr id="3" name="Rectangle 2"/>
          <p:cNvSpPr/>
          <p:nvPr/>
        </p:nvSpPr>
        <p:spPr>
          <a:xfrm>
            <a:off x="914400" y="1371600"/>
            <a:ext cx="1051560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5943600" cy="4572000"/>
          </a:xfrm>
          <a:prstGeom prst="rect">
            <a:avLst/>
          </a:prstGeom>
          <a:noFill/>
        </p:spPr>
        <p:txBody>
          <a:bodyPr wrap="square" anchor="t"/>
          <a:lstStyle/>
          <a:p>
            <a:pPr algn="l">
              <a:spcAft>
                <a:spcPts val="600"/>
              </a:spcAft>
              <a:defRPr sz="2000" b="0">
                <a:solidFill>
                  <a:srgbClr val="C0C0C0"/>
                </a:solidFill>
                <a:latin typeface="Calibri"/>
              </a:defRPr>
            </a:pPr>
            <a:r>
              <a:t>•  Tsinghua University origin, founded 2023</a:t>
            </a:r>
          </a:p>
          <a:p>
            <a:pPr algn="l">
              <a:spcAft>
                <a:spcPts val="600"/>
              </a:spcAft>
              <a:defRPr sz="2000" b="0">
                <a:solidFill>
                  <a:srgbClr val="C0C0C0"/>
                </a:solidFill>
                <a:latin typeface="Calibri"/>
              </a:defRPr>
            </a:pPr>
            <a:r>
              <a:t>•  Universal brain platform for humanoid robots</a:t>
            </a:r>
          </a:p>
          <a:p>
            <a:pPr algn="l">
              <a:spcAft>
                <a:spcPts val="600"/>
              </a:spcAft>
              <a:defRPr sz="2000" b="0">
                <a:solidFill>
                  <a:srgbClr val="C0C0C0"/>
                </a:solidFill>
                <a:latin typeface="Calibri"/>
              </a:defRPr>
            </a:pPr>
            <a:r>
              <a:t>•  Self-developed:</a:t>
            </a:r>
          </a:p>
          <a:p>
            <a:pPr algn="l">
              <a:spcAft>
                <a:spcPts val="600"/>
              </a:spcAft>
              <a:defRPr sz="2000" b="0">
                <a:solidFill>
                  <a:srgbClr val="C0C0C0"/>
                </a:solidFill>
                <a:latin typeface="Calibri"/>
              </a:defRPr>
            </a:pPr>
            <a:r>
              <a:t>     ▸  LDP: Real-world Data Collection Platform</a:t>
            </a:r>
          </a:p>
          <a:p>
            <a:pPr algn="l">
              <a:spcAft>
                <a:spcPts val="600"/>
              </a:spcAft>
              <a:defRPr sz="2000" b="0">
                <a:solidFill>
                  <a:srgbClr val="C0C0C0"/>
                </a:solidFill>
                <a:latin typeface="Calibri"/>
              </a:defRPr>
            </a:pPr>
            <a:r>
              <a:t>     ▸  LWM: Embodied World Model</a:t>
            </a:r>
          </a:p>
          <a:p>
            <a:pPr algn="l">
              <a:spcAft>
                <a:spcPts val="600"/>
              </a:spcAft>
              <a:defRPr sz="2000" b="0">
                <a:solidFill>
                  <a:srgbClr val="C0C0C0"/>
                </a:solidFill>
                <a:latin typeface="Calibri"/>
              </a:defRPr>
            </a:pPr>
            <a:r>
              <a:t>•  Deployed: smart manufacturing, retail, healthcare</a:t>
            </a:r>
          </a:p>
          <a:p>
            <a:pPr algn="l">
              <a:spcAft>
                <a:spcPts val="600"/>
              </a:spcAft>
              <a:defRPr sz="2000" b="0">
                <a:solidFill>
                  <a:srgbClr val="C0C0C0"/>
                </a:solidFill>
                <a:latin typeface="Calibri"/>
              </a:defRPr>
            </a:pPr>
            <a:r>
              <a:t>•  Pre-A / Pre-A+ funding: &gt;100M RMB</a:t>
            </a:r>
          </a:p>
        </p:txBody>
      </p:sp>
      <p:pic>
        <p:nvPicPr>
          <p:cNvPr id="5" name="Picture 4" descr="lingshen_1.jpg"/>
          <p:cNvPicPr>
            <a:picLocks noChangeAspect="1"/>
          </p:cNvPicPr>
          <p:nvPr/>
        </p:nvPicPr>
        <p:blipFill>
          <a:blip r:embed="rId2"/>
          <a:stretch>
            <a:fillRect/>
          </a:stretch>
        </p:blipFill>
        <p:spPr>
          <a:xfrm>
            <a:off x="7498079" y="2248444"/>
            <a:ext cx="4114800" cy="2909751"/>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400" b="1">
                <a:solidFill>
                  <a:srgbClr val="FFFFFF"/>
                </a:solidFill>
                <a:latin typeface="Calibri"/>
              </a:defRPr>
            </a:pPr>
            <a:r>
              <a:t>Portfolio: TIEN Kung  天工</a:t>
            </a:r>
          </a:p>
        </p:txBody>
      </p:sp>
      <p:sp>
        <p:nvSpPr>
          <p:cNvPr id="3" name="Rectangle 2"/>
          <p:cNvSpPr/>
          <p:nvPr/>
        </p:nvSpPr>
        <p:spPr>
          <a:xfrm>
            <a:off x="914400" y="1371600"/>
            <a:ext cx="10515600" cy="5486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5943600" cy="4114800"/>
          </a:xfrm>
          <a:prstGeom prst="rect">
            <a:avLst/>
          </a:prstGeom>
          <a:noFill/>
        </p:spPr>
        <p:txBody>
          <a:bodyPr wrap="square" anchor="t"/>
          <a:lstStyle/>
          <a:p>
            <a:pPr algn="l">
              <a:spcAft>
                <a:spcPts val="600"/>
              </a:spcAft>
              <a:defRPr sz="2000" b="0">
                <a:solidFill>
                  <a:srgbClr val="C0C0C0"/>
                </a:solidFill>
                <a:latin typeface="Calibri"/>
              </a:defRPr>
            </a:pPr>
            <a:r>
              <a:t>•  Beijing Innovation Center of Humanoid Robotics</a:t>
            </a:r>
          </a:p>
          <a:p>
            <a:pPr algn="l">
              <a:spcAft>
                <a:spcPts val="600"/>
              </a:spcAft>
              <a:defRPr sz="2000" b="0">
                <a:solidFill>
                  <a:srgbClr val="C0C0C0"/>
                </a:solidFill>
                <a:latin typeface="Calibri"/>
              </a:defRPr>
            </a:pPr>
            <a:r>
              <a:t>•  Supported by MIIT + Beijing Municipality</a:t>
            </a:r>
          </a:p>
          <a:p>
            <a:pPr algn="l">
              <a:spcAft>
                <a:spcPts val="600"/>
              </a:spcAft>
              <a:defRPr sz="2000" b="0">
                <a:solidFill>
                  <a:srgbClr val="C0C0C0"/>
                </a:solidFill>
                <a:latin typeface="Calibri"/>
              </a:defRPr>
            </a:pPr>
            <a:r>
              <a:t>•  World's first pure-electric full-size humanoid running at 6 km/h</a:t>
            </a:r>
          </a:p>
          <a:p>
            <a:pPr algn="l">
              <a:spcAft>
                <a:spcPts val="600"/>
              </a:spcAft>
              <a:defRPr sz="2000" b="0">
                <a:solidFill>
                  <a:srgbClr val="C0C0C0"/>
                </a:solidFill>
                <a:latin typeface="Calibri"/>
              </a:defRPr>
            </a:pPr>
            <a:r>
              <a:t>•  v3.0 (Feb 2026): touch-interactive, high-dynamic whole-body control</a:t>
            </a:r>
          </a:p>
          <a:p>
            <a:pPr algn="l">
              <a:spcAft>
                <a:spcPts val="600"/>
              </a:spcAft>
              <a:defRPr sz="2000" b="0">
                <a:solidFill>
                  <a:srgbClr val="C0C0C0"/>
                </a:solidFill>
                <a:latin typeface="Calibri"/>
              </a:defRPr>
            </a:pPr>
            <a:r>
              <a:t>•  Open-source platform strategy</a:t>
            </a:r>
          </a:p>
        </p:txBody>
      </p:sp>
      <p:pic>
        <p:nvPicPr>
          <p:cNvPr id="5" name="Picture 4" descr="tienkung_3.jpg"/>
          <p:cNvPicPr>
            <a:picLocks noChangeAspect="1"/>
          </p:cNvPicPr>
          <p:nvPr/>
        </p:nvPicPr>
        <p:blipFill>
          <a:blip r:embed="rId2"/>
          <a:stretch>
            <a:fillRect/>
          </a:stretch>
        </p:blipFill>
        <p:spPr>
          <a:xfrm>
            <a:off x="7498079" y="2310136"/>
            <a:ext cx="4114800" cy="2786367"/>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274320"/>
            <a:ext cx="10058400" cy="731520"/>
          </a:xfrm>
          <a:prstGeom prst="rect">
            <a:avLst/>
          </a:prstGeom>
          <a:noFill/>
        </p:spPr>
        <p:txBody>
          <a:bodyPr wrap="square" anchor="t"/>
          <a:lstStyle/>
          <a:p>
            <a:pPr algn="l">
              <a:defRPr sz="3400" b="1">
                <a:solidFill>
                  <a:srgbClr val="FFFFFF"/>
                </a:solidFill>
                <a:latin typeface="Calibri"/>
              </a:defRPr>
            </a:pPr>
            <a:r>
              <a:t>Cloud Chips vs. On-Body Chips: Two Worlds</a:t>
            </a:r>
          </a:p>
        </p:txBody>
      </p:sp>
      <p:sp>
        <p:nvSpPr>
          <p:cNvPr id="3" name="Rectangle 2"/>
          <p:cNvSpPr/>
          <p:nvPr/>
        </p:nvSpPr>
        <p:spPr>
          <a:xfrm>
            <a:off x="731520" y="1280160"/>
            <a:ext cx="3200400" cy="594360"/>
          </a:xfrm>
          <a:prstGeom prst="rect">
            <a:avLst/>
          </a:prstGeom>
          <a:solidFill>
            <a:srgbClr val="151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977639" y="1280160"/>
            <a:ext cx="3840480" cy="594360"/>
          </a:xfrm>
          <a:prstGeom prst="rect">
            <a:avLst/>
          </a:prstGeom>
          <a:solidFill>
            <a:srgbClr val="151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63840" y="1280160"/>
            <a:ext cx="3840480" cy="594360"/>
          </a:xfrm>
          <a:prstGeom prst="rect">
            <a:avLst/>
          </a:prstGeom>
          <a:solidFill>
            <a:srgbClr val="151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25880"/>
            <a:ext cx="2926080" cy="502920"/>
          </a:xfrm>
          <a:prstGeom prst="rect">
            <a:avLst/>
          </a:prstGeom>
          <a:noFill/>
        </p:spPr>
        <p:txBody>
          <a:bodyPr wrap="square" anchor="t"/>
          <a:lstStyle/>
          <a:p>
            <a:pPr algn="l">
              <a:defRPr sz="1600" b="1">
                <a:solidFill>
                  <a:srgbClr val="A0A0A0"/>
                </a:solidFill>
                <a:latin typeface="Calibri"/>
              </a:defRPr>
            </a:pPr>
          </a:p>
        </p:txBody>
      </p:sp>
      <p:sp>
        <p:nvSpPr>
          <p:cNvPr id="7" name="TextBox 6"/>
          <p:cNvSpPr txBox="1"/>
          <p:nvPr/>
        </p:nvSpPr>
        <p:spPr>
          <a:xfrm>
            <a:off x="4160520" y="1325880"/>
            <a:ext cx="3474720" cy="502920"/>
          </a:xfrm>
          <a:prstGeom prst="rect">
            <a:avLst/>
          </a:prstGeom>
          <a:noFill/>
        </p:spPr>
        <p:txBody>
          <a:bodyPr wrap="square" anchor="t"/>
          <a:lstStyle/>
          <a:p>
            <a:pPr algn="ctr">
              <a:defRPr sz="1600" b="1">
                <a:solidFill>
                  <a:srgbClr val="0EA5E9"/>
                </a:solidFill>
                <a:latin typeface="Calibri"/>
              </a:defRPr>
            </a:pPr>
            <a:r>
              <a:t>Cloud</a:t>
            </a:r>
          </a:p>
        </p:txBody>
      </p:sp>
      <p:sp>
        <p:nvSpPr>
          <p:cNvPr id="8" name="TextBox 7"/>
          <p:cNvSpPr txBox="1"/>
          <p:nvPr/>
        </p:nvSpPr>
        <p:spPr>
          <a:xfrm>
            <a:off x="8046720" y="1325880"/>
            <a:ext cx="3474720" cy="502920"/>
          </a:xfrm>
          <a:prstGeom prst="rect">
            <a:avLst/>
          </a:prstGeom>
          <a:noFill/>
        </p:spPr>
        <p:txBody>
          <a:bodyPr wrap="square" anchor="t"/>
          <a:lstStyle/>
          <a:p>
            <a:pPr algn="ctr">
              <a:defRPr sz="1600" b="1">
                <a:solidFill>
                  <a:srgbClr val="22C55E"/>
                </a:solidFill>
                <a:latin typeface="Calibri"/>
              </a:defRPr>
            </a:pPr>
            <a:r>
              <a:t>On-Body</a:t>
            </a:r>
          </a:p>
        </p:txBody>
      </p:sp>
      <p:sp>
        <p:nvSpPr>
          <p:cNvPr id="9" name="Rectangle 8"/>
          <p:cNvSpPr/>
          <p:nvPr/>
        </p:nvSpPr>
        <p:spPr>
          <a:xfrm>
            <a:off x="731520" y="1920239"/>
            <a:ext cx="320040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977639" y="1920239"/>
            <a:ext cx="384048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63840" y="1920239"/>
            <a:ext cx="384048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965959"/>
            <a:ext cx="2926080" cy="502920"/>
          </a:xfrm>
          <a:prstGeom prst="rect">
            <a:avLst/>
          </a:prstGeom>
          <a:noFill/>
        </p:spPr>
        <p:txBody>
          <a:bodyPr wrap="square" anchor="t"/>
          <a:lstStyle/>
          <a:p>
            <a:pPr algn="l">
              <a:defRPr sz="1800" b="0">
                <a:solidFill>
                  <a:srgbClr val="C0C0C0"/>
                </a:solidFill>
                <a:latin typeface="Calibri"/>
              </a:defRPr>
            </a:pPr>
            <a:r>
              <a:t>Compute</a:t>
            </a:r>
          </a:p>
        </p:txBody>
      </p:sp>
      <p:sp>
        <p:nvSpPr>
          <p:cNvPr id="13" name="TextBox 12"/>
          <p:cNvSpPr txBox="1"/>
          <p:nvPr/>
        </p:nvSpPr>
        <p:spPr>
          <a:xfrm>
            <a:off x="4160520" y="1965959"/>
            <a:ext cx="3474720" cy="502920"/>
          </a:xfrm>
          <a:prstGeom prst="rect">
            <a:avLst/>
          </a:prstGeom>
          <a:noFill/>
        </p:spPr>
        <p:txBody>
          <a:bodyPr wrap="square" anchor="t"/>
          <a:lstStyle/>
          <a:p>
            <a:pPr algn="ctr">
              <a:defRPr sz="1800" b="0">
                <a:solidFill>
                  <a:srgbClr val="FFFFFF"/>
                </a:solidFill>
                <a:latin typeface="Calibri"/>
              </a:defRPr>
            </a:pPr>
            <a:r>
              <a:t>PetaFLOPS</a:t>
            </a:r>
          </a:p>
        </p:txBody>
      </p:sp>
      <p:sp>
        <p:nvSpPr>
          <p:cNvPr id="14" name="TextBox 13"/>
          <p:cNvSpPr txBox="1"/>
          <p:nvPr/>
        </p:nvSpPr>
        <p:spPr>
          <a:xfrm>
            <a:off x="8046720" y="1965959"/>
            <a:ext cx="3474720" cy="502920"/>
          </a:xfrm>
          <a:prstGeom prst="rect">
            <a:avLst/>
          </a:prstGeom>
          <a:noFill/>
        </p:spPr>
        <p:txBody>
          <a:bodyPr wrap="square" anchor="t"/>
          <a:lstStyle/>
          <a:p>
            <a:pPr algn="ctr">
              <a:defRPr sz="1800" b="0">
                <a:solidFill>
                  <a:srgbClr val="FFFFFF"/>
                </a:solidFill>
                <a:latin typeface="Calibri"/>
              </a:defRPr>
            </a:pPr>
            <a:r>
              <a:t>TeraOPS</a:t>
            </a:r>
          </a:p>
        </p:txBody>
      </p:sp>
      <p:sp>
        <p:nvSpPr>
          <p:cNvPr id="15" name="Rectangle 14"/>
          <p:cNvSpPr/>
          <p:nvPr/>
        </p:nvSpPr>
        <p:spPr>
          <a:xfrm>
            <a:off x="731520" y="2560320"/>
            <a:ext cx="3200400" cy="59436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77639" y="2560320"/>
            <a:ext cx="3840480" cy="59436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63840" y="2560320"/>
            <a:ext cx="3840480" cy="59436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2606040"/>
            <a:ext cx="2926080" cy="502920"/>
          </a:xfrm>
          <a:prstGeom prst="rect">
            <a:avLst/>
          </a:prstGeom>
          <a:noFill/>
        </p:spPr>
        <p:txBody>
          <a:bodyPr wrap="square" anchor="t"/>
          <a:lstStyle/>
          <a:p>
            <a:pPr algn="l">
              <a:defRPr sz="1800" b="0">
                <a:solidFill>
                  <a:srgbClr val="C0C0C0"/>
                </a:solidFill>
                <a:latin typeface="Calibri"/>
              </a:defRPr>
            </a:pPr>
            <a:r>
              <a:t>Power</a:t>
            </a:r>
          </a:p>
        </p:txBody>
      </p:sp>
      <p:sp>
        <p:nvSpPr>
          <p:cNvPr id="19" name="TextBox 18"/>
          <p:cNvSpPr txBox="1"/>
          <p:nvPr/>
        </p:nvSpPr>
        <p:spPr>
          <a:xfrm>
            <a:off x="4160520" y="2606040"/>
            <a:ext cx="3474720" cy="502920"/>
          </a:xfrm>
          <a:prstGeom prst="rect">
            <a:avLst/>
          </a:prstGeom>
          <a:noFill/>
        </p:spPr>
        <p:txBody>
          <a:bodyPr wrap="square" anchor="t"/>
          <a:lstStyle/>
          <a:p>
            <a:pPr algn="ctr">
              <a:defRPr sz="1800" b="0">
                <a:solidFill>
                  <a:srgbClr val="FFFFFF"/>
                </a:solidFill>
                <a:latin typeface="Calibri"/>
              </a:defRPr>
            </a:pPr>
            <a:r>
              <a:t>700W (rack cooled)</a:t>
            </a:r>
          </a:p>
        </p:txBody>
      </p:sp>
      <p:sp>
        <p:nvSpPr>
          <p:cNvPr id="20" name="TextBox 19"/>
          <p:cNvSpPr txBox="1"/>
          <p:nvPr/>
        </p:nvSpPr>
        <p:spPr>
          <a:xfrm>
            <a:off x="8046720" y="2606040"/>
            <a:ext cx="3474720" cy="502920"/>
          </a:xfrm>
          <a:prstGeom prst="rect">
            <a:avLst/>
          </a:prstGeom>
          <a:noFill/>
        </p:spPr>
        <p:txBody>
          <a:bodyPr wrap="square" anchor="t"/>
          <a:lstStyle/>
          <a:p>
            <a:pPr algn="ctr">
              <a:defRPr sz="1800" b="0">
                <a:solidFill>
                  <a:srgbClr val="FFFFFF"/>
                </a:solidFill>
                <a:latin typeface="Calibri"/>
              </a:defRPr>
            </a:pPr>
            <a:r>
              <a:t>&lt;50W (battery)</a:t>
            </a:r>
          </a:p>
        </p:txBody>
      </p:sp>
      <p:sp>
        <p:nvSpPr>
          <p:cNvPr id="21" name="Rectangle 20"/>
          <p:cNvSpPr/>
          <p:nvPr/>
        </p:nvSpPr>
        <p:spPr>
          <a:xfrm>
            <a:off x="731520" y="3200399"/>
            <a:ext cx="320040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977639" y="3200399"/>
            <a:ext cx="384048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63840" y="3200399"/>
            <a:ext cx="384048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246119"/>
            <a:ext cx="2926080" cy="502920"/>
          </a:xfrm>
          <a:prstGeom prst="rect">
            <a:avLst/>
          </a:prstGeom>
          <a:noFill/>
        </p:spPr>
        <p:txBody>
          <a:bodyPr wrap="square" anchor="t"/>
          <a:lstStyle/>
          <a:p>
            <a:pPr algn="l">
              <a:defRPr sz="1800" b="0">
                <a:solidFill>
                  <a:srgbClr val="C0C0C0"/>
                </a:solidFill>
                <a:latin typeface="Calibri"/>
              </a:defRPr>
            </a:pPr>
            <a:r>
              <a:t>Latency</a:t>
            </a:r>
          </a:p>
        </p:txBody>
      </p:sp>
      <p:sp>
        <p:nvSpPr>
          <p:cNvPr id="25" name="TextBox 24"/>
          <p:cNvSpPr txBox="1"/>
          <p:nvPr/>
        </p:nvSpPr>
        <p:spPr>
          <a:xfrm>
            <a:off x="4160520" y="3246119"/>
            <a:ext cx="3474720" cy="502920"/>
          </a:xfrm>
          <a:prstGeom prst="rect">
            <a:avLst/>
          </a:prstGeom>
          <a:noFill/>
        </p:spPr>
        <p:txBody>
          <a:bodyPr wrap="square" anchor="t"/>
          <a:lstStyle/>
          <a:p>
            <a:pPr algn="ctr">
              <a:defRPr sz="1800" b="0">
                <a:solidFill>
                  <a:srgbClr val="FFFFFF"/>
                </a:solidFill>
                <a:latin typeface="Calibri"/>
              </a:defRPr>
            </a:pPr>
            <a:r>
              <a:t>~1 second OK</a:t>
            </a:r>
          </a:p>
        </p:txBody>
      </p:sp>
      <p:sp>
        <p:nvSpPr>
          <p:cNvPr id="26" name="TextBox 25"/>
          <p:cNvSpPr txBox="1"/>
          <p:nvPr/>
        </p:nvSpPr>
        <p:spPr>
          <a:xfrm>
            <a:off x="8046720" y="3246119"/>
            <a:ext cx="3474720" cy="502920"/>
          </a:xfrm>
          <a:prstGeom prst="rect">
            <a:avLst/>
          </a:prstGeom>
          <a:noFill/>
        </p:spPr>
        <p:txBody>
          <a:bodyPr wrap="square" anchor="t"/>
          <a:lstStyle/>
          <a:p>
            <a:pPr algn="ctr">
              <a:defRPr sz="1800" b="0">
                <a:solidFill>
                  <a:srgbClr val="FFFFFF"/>
                </a:solidFill>
                <a:latin typeface="Calibri"/>
              </a:defRPr>
            </a:pPr>
            <a:r>
              <a:t>&lt;10ms required</a:t>
            </a:r>
          </a:p>
        </p:txBody>
      </p:sp>
      <p:sp>
        <p:nvSpPr>
          <p:cNvPr id="27" name="Rectangle 26"/>
          <p:cNvSpPr/>
          <p:nvPr/>
        </p:nvSpPr>
        <p:spPr>
          <a:xfrm>
            <a:off x="731520" y="3840479"/>
            <a:ext cx="3200400" cy="59436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977639" y="3840479"/>
            <a:ext cx="3840480" cy="59436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63840" y="3840479"/>
            <a:ext cx="3840480" cy="59436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3886199"/>
            <a:ext cx="2926080" cy="502920"/>
          </a:xfrm>
          <a:prstGeom prst="rect">
            <a:avLst/>
          </a:prstGeom>
          <a:noFill/>
        </p:spPr>
        <p:txBody>
          <a:bodyPr wrap="square" anchor="t"/>
          <a:lstStyle/>
          <a:p>
            <a:pPr algn="l">
              <a:defRPr sz="1800" b="0">
                <a:solidFill>
                  <a:srgbClr val="C0C0C0"/>
                </a:solidFill>
                <a:latin typeface="Calibri"/>
              </a:defRPr>
            </a:pPr>
            <a:r>
              <a:t>Failure mode</a:t>
            </a:r>
          </a:p>
        </p:txBody>
      </p:sp>
      <p:sp>
        <p:nvSpPr>
          <p:cNvPr id="31" name="TextBox 30"/>
          <p:cNvSpPr txBox="1"/>
          <p:nvPr/>
        </p:nvSpPr>
        <p:spPr>
          <a:xfrm>
            <a:off x="4160520" y="3886199"/>
            <a:ext cx="3474720" cy="502920"/>
          </a:xfrm>
          <a:prstGeom prst="rect">
            <a:avLst/>
          </a:prstGeom>
          <a:noFill/>
        </p:spPr>
        <p:txBody>
          <a:bodyPr wrap="square" anchor="t"/>
          <a:lstStyle/>
          <a:p>
            <a:pPr algn="ctr">
              <a:defRPr sz="1800" b="0">
                <a:solidFill>
                  <a:srgbClr val="FFFFFF"/>
                </a:solidFill>
                <a:latin typeface="Calibri"/>
              </a:defRPr>
            </a:pPr>
            <a:r>
              <a:t>Swap &amp; restart</a:t>
            </a:r>
          </a:p>
        </p:txBody>
      </p:sp>
      <p:sp>
        <p:nvSpPr>
          <p:cNvPr id="32" name="TextBox 31"/>
          <p:cNvSpPr txBox="1"/>
          <p:nvPr/>
        </p:nvSpPr>
        <p:spPr>
          <a:xfrm>
            <a:off x="8046720" y="3886199"/>
            <a:ext cx="3474720" cy="502920"/>
          </a:xfrm>
          <a:prstGeom prst="rect">
            <a:avLst/>
          </a:prstGeom>
          <a:noFill/>
        </p:spPr>
        <p:txBody>
          <a:bodyPr wrap="square" anchor="t"/>
          <a:lstStyle/>
          <a:p>
            <a:pPr algn="ctr">
              <a:defRPr sz="1800" b="0">
                <a:solidFill>
                  <a:srgbClr val="FFFFFF"/>
                </a:solidFill>
                <a:latin typeface="Calibri"/>
              </a:defRPr>
            </a:pPr>
            <a:r>
              <a:t>Cannot fail</a:t>
            </a:r>
          </a:p>
        </p:txBody>
      </p:sp>
      <p:sp>
        <p:nvSpPr>
          <p:cNvPr id="33" name="Rectangle 32"/>
          <p:cNvSpPr/>
          <p:nvPr/>
        </p:nvSpPr>
        <p:spPr>
          <a:xfrm>
            <a:off x="731520" y="4480560"/>
            <a:ext cx="320040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977639" y="4480560"/>
            <a:ext cx="384048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863840" y="4480560"/>
            <a:ext cx="384048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4526280"/>
            <a:ext cx="2926080" cy="502920"/>
          </a:xfrm>
          <a:prstGeom prst="rect">
            <a:avLst/>
          </a:prstGeom>
          <a:noFill/>
        </p:spPr>
        <p:txBody>
          <a:bodyPr wrap="square" anchor="t"/>
          <a:lstStyle/>
          <a:p>
            <a:pPr algn="l">
              <a:defRPr sz="1800" b="0">
                <a:solidFill>
                  <a:srgbClr val="C0C0C0"/>
                </a:solidFill>
                <a:latin typeface="Calibri"/>
              </a:defRPr>
            </a:pPr>
            <a:r>
              <a:t>Workload</a:t>
            </a:r>
          </a:p>
        </p:txBody>
      </p:sp>
      <p:sp>
        <p:nvSpPr>
          <p:cNvPr id="37" name="TextBox 36"/>
          <p:cNvSpPr txBox="1"/>
          <p:nvPr/>
        </p:nvSpPr>
        <p:spPr>
          <a:xfrm>
            <a:off x="4160520" y="4526280"/>
            <a:ext cx="3474720" cy="502920"/>
          </a:xfrm>
          <a:prstGeom prst="rect">
            <a:avLst/>
          </a:prstGeom>
          <a:noFill/>
        </p:spPr>
        <p:txBody>
          <a:bodyPr wrap="square" anchor="t"/>
          <a:lstStyle/>
          <a:p>
            <a:pPr algn="ctr">
              <a:defRPr sz="1800" b="0">
                <a:solidFill>
                  <a:srgbClr val="FFFFFF"/>
                </a:solidFill>
                <a:latin typeface="Calibri"/>
              </a:defRPr>
            </a:pPr>
            <a:r>
              <a:t>Single model</a:t>
            </a:r>
          </a:p>
        </p:txBody>
      </p:sp>
      <p:sp>
        <p:nvSpPr>
          <p:cNvPr id="38" name="TextBox 37"/>
          <p:cNvSpPr txBox="1"/>
          <p:nvPr/>
        </p:nvSpPr>
        <p:spPr>
          <a:xfrm>
            <a:off x="8046720" y="4526280"/>
            <a:ext cx="3474720" cy="502920"/>
          </a:xfrm>
          <a:prstGeom prst="rect">
            <a:avLst/>
          </a:prstGeom>
          <a:noFill/>
        </p:spPr>
        <p:txBody>
          <a:bodyPr wrap="square" anchor="t"/>
          <a:lstStyle/>
          <a:p>
            <a:pPr algn="ctr">
              <a:defRPr sz="1800" b="0">
                <a:solidFill>
                  <a:srgbClr val="FFFFFF"/>
                </a:solidFill>
                <a:latin typeface="Calibri"/>
              </a:defRPr>
            </a:pPr>
            <a:r>
              <a:t>Multi-modal simultaneous</a:t>
            </a:r>
          </a:p>
        </p:txBody>
      </p:sp>
      <p:sp>
        <p:nvSpPr>
          <p:cNvPr id="39" name="Rectangle 38"/>
          <p:cNvSpPr/>
          <p:nvPr/>
        </p:nvSpPr>
        <p:spPr>
          <a:xfrm>
            <a:off x="731520" y="5120640"/>
            <a:ext cx="3200400" cy="59436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977639" y="5120640"/>
            <a:ext cx="3840480" cy="59436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863840" y="5120640"/>
            <a:ext cx="3840480" cy="59436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5166360"/>
            <a:ext cx="2926080" cy="502920"/>
          </a:xfrm>
          <a:prstGeom prst="rect">
            <a:avLst/>
          </a:prstGeom>
          <a:noFill/>
        </p:spPr>
        <p:txBody>
          <a:bodyPr wrap="square" anchor="t"/>
          <a:lstStyle/>
          <a:p>
            <a:pPr algn="l">
              <a:defRPr sz="1800" b="0">
                <a:solidFill>
                  <a:srgbClr val="C0C0C0"/>
                </a:solidFill>
                <a:latin typeface="Calibri"/>
              </a:defRPr>
            </a:pPr>
            <a:r>
              <a:t>Form factor</a:t>
            </a:r>
          </a:p>
        </p:txBody>
      </p:sp>
      <p:sp>
        <p:nvSpPr>
          <p:cNvPr id="43" name="TextBox 42"/>
          <p:cNvSpPr txBox="1"/>
          <p:nvPr/>
        </p:nvSpPr>
        <p:spPr>
          <a:xfrm>
            <a:off x="4160520" y="5166360"/>
            <a:ext cx="3474720" cy="502920"/>
          </a:xfrm>
          <a:prstGeom prst="rect">
            <a:avLst/>
          </a:prstGeom>
          <a:noFill/>
        </p:spPr>
        <p:txBody>
          <a:bodyPr wrap="square" anchor="t"/>
          <a:lstStyle/>
          <a:p>
            <a:pPr algn="ctr">
              <a:defRPr sz="1800" b="0">
                <a:solidFill>
                  <a:srgbClr val="FFFFFF"/>
                </a:solidFill>
                <a:latin typeface="Calibri"/>
              </a:defRPr>
            </a:pPr>
            <a:r>
              <a:t>Rack-mounted</a:t>
            </a:r>
          </a:p>
        </p:txBody>
      </p:sp>
      <p:sp>
        <p:nvSpPr>
          <p:cNvPr id="44" name="TextBox 43"/>
          <p:cNvSpPr txBox="1"/>
          <p:nvPr/>
        </p:nvSpPr>
        <p:spPr>
          <a:xfrm>
            <a:off x="8046720" y="5166360"/>
            <a:ext cx="3474720" cy="502920"/>
          </a:xfrm>
          <a:prstGeom prst="rect">
            <a:avLst/>
          </a:prstGeom>
          <a:noFill/>
        </p:spPr>
        <p:txBody>
          <a:bodyPr wrap="square" anchor="t"/>
          <a:lstStyle/>
          <a:p>
            <a:pPr algn="ctr">
              <a:defRPr sz="1800" b="0">
                <a:solidFill>
                  <a:srgbClr val="FFFFFF"/>
                </a:solidFill>
                <a:latin typeface="Calibri"/>
              </a:defRPr>
            </a:pPr>
            <a:r>
              <a:t>Fits in torso</a:t>
            </a:r>
          </a:p>
        </p:txBody>
      </p:sp>
      <p:sp>
        <p:nvSpPr>
          <p:cNvPr id="45" name="Rectangle 44"/>
          <p:cNvSpPr/>
          <p:nvPr/>
        </p:nvSpPr>
        <p:spPr>
          <a:xfrm>
            <a:off x="731520" y="5760719"/>
            <a:ext cx="320040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977639" y="5760719"/>
            <a:ext cx="384048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863840" y="5760719"/>
            <a:ext cx="384048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5806439"/>
            <a:ext cx="2926080" cy="502920"/>
          </a:xfrm>
          <a:prstGeom prst="rect">
            <a:avLst/>
          </a:prstGeom>
          <a:noFill/>
        </p:spPr>
        <p:txBody>
          <a:bodyPr wrap="square" anchor="t"/>
          <a:lstStyle/>
          <a:p>
            <a:pPr algn="l">
              <a:defRPr sz="1800" b="0">
                <a:solidFill>
                  <a:srgbClr val="C0C0C0"/>
                </a:solidFill>
                <a:latin typeface="Calibri"/>
              </a:defRPr>
            </a:pPr>
            <a:r>
              <a:t>Cost target</a:t>
            </a:r>
          </a:p>
        </p:txBody>
      </p:sp>
      <p:sp>
        <p:nvSpPr>
          <p:cNvPr id="49" name="TextBox 48"/>
          <p:cNvSpPr txBox="1"/>
          <p:nvPr/>
        </p:nvSpPr>
        <p:spPr>
          <a:xfrm>
            <a:off x="4160520" y="5806439"/>
            <a:ext cx="3474720" cy="502920"/>
          </a:xfrm>
          <a:prstGeom prst="rect">
            <a:avLst/>
          </a:prstGeom>
          <a:noFill/>
        </p:spPr>
        <p:txBody>
          <a:bodyPr wrap="square" anchor="t"/>
          <a:lstStyle/>
          <a:p>
            <a:pPr algn="ctr">
              <a:defRPr sz="1800" b="0">
                <a:solidFill>
                  <a:srgbClr val="FFFFFF"/>
                </a:solidFill>
                <a:latin typeface="Calibri"/>
              </a:defRPr>
            </a:pPr>
            <a:r>
              <a:t>$30,000/card</a:t>
            </a:r>
          </a:p>
        </p:txBody>
      </p:sp>
      <p:sp>
        <p:nvSpPr>
          <p:cNvPr id="50" name="TextBox 49"/>
          <p:cNvSpPr txBox="1"/>
          <p:nvPr/>
        </p:nvSpPr>
        <p:spPr>
          <a:xfrm>
            <a:off x="8046720" y="5806439"/>
            <a:ext cx="3474720" cy="502920"/>
          </a:xfrm>
          <a:prstGeom prst="rect">
            <a:avLst/>
          </a:prstGeom>
          <a:noFill/>
        </p:spPr>
        <p:txBody>
          <a:bodyPr wrap="square" anchor="t"/>
          <a:lstStyle/>
          <a:p>
            <a:pPr algn="ctr">
              <a:defRPr sz="1800" b="0">
                <a:solidFill>
                  <a:srgbClr val="FFFFFF"/>
                </a:solidFill>
                <a:latin typeface="Calibri"/>
              </a:defRPr>
            </a:pPr>
            <a:r>
              <a:t>&lt;$500/unit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371600" y="1371600"/>
            <a:ext cx="9144000" cy="4572000"/>
          </a:xfrm>
          <a:prstGeom prst="rect">
            <a:avLst/>
          </a:prstGeom>
          <a:noFill/>
        </p:spPr>
        <p:txBody>
          <a:bodyPr wrap="square" anchor="ctr"/>
          <a:lstStyle/>
          <a:p>
            <a:pPr algn="ctr">
              <a:spcAft>
                <a:spcPts val="600"/>
              </a:spcAft>
              <a:defRPr sz="3000" b="1">
                <a:solidFill>
                  <a:srgbClr val="FFFFFF"/>
                </a:solidFill>
                <a:latin typeface="Calibri"/>
              </a:defRPr>
            </a:pPr>
            <a:r>
              <a:t>"Cloud computing's challenge:</a:t>
            </a:r>
          </a:p>
          <a:p>
            <a:pPr algn="ctr">
              <a:spcAft>
                <a:spcPts val="600"/>
              </a:spcAft>
              <a:defRPr sz="3000" b="1">
                <a:solidFill>
                  <a:srgbClr val="0EA5E9"/>
                </a:solidFill>
                <a:latin typeface="Calibri"/>
              </a:defRPr>
            </a:pPr>
            <a:r>
              <a:t> fitting chips into racks.</a:t>
            </a:r>
          </a:p>
          <a:p>
            <a:pPr algn="ctr">
              <a:spcAft>
                <a:spcPts val="600"/>
              </a:spcAft>
              <a:defRPr sz="2000" b="0">
                <a:solidFill>
                  <a:srgbClr val="FFFFFF"/>
                </a:solidFill>
                <a:latin typeface="Calibri"/>
              </a:defRPr>
            </a:pPr>
          </a:p>
          <a:p>
            <a:pPr algn="ctr">
              <a:spcAft>
                <a:spcPts val="600"/>
              </a:spcAft>
              <a:defRPr sz="3000" b="1">
                <a:solidFill>
                  <a:srgbClr val="FFFFFF"/>
                </a:solidFill>
                <a:latin typeface="Calibri"/>
              </a:defRPr>
            </a:pPr>
            <a:r>
              <a:t> Embodied computing's challenge:</a:t>
            </a:r>
          </a:p>
          <a:p>
            <a:pPr algn="ctr">
              <a:spcAft>
                <a:spcPts val="600"/>
              </a:spcAft>
              <a:defRPr sz="3000" b="1">
                <a:solidFill>
                  <a:srgbClr val="22C55E"/>
                </a:solidFill>
                <a:latin typeface="Calibri"/>
              </a:defRPr>
            </a:pPr>
            <a:r>
              <a:t> fitting racks into bodies."</a:t>
            </a:r>
          </a:p>
          <a:p>
            <a:pPr algn="ctr">
              <a:spcAft>
                <a:spcPts val="600"/>
              </a:spcAft>
              <a:defRPr sz="3000" b="0">
                <a:solidFill>
                  <a:srgbClr val="FFFFFF"/>
                </a:solidFill>
                <a:latin typeface="Calibri"/>
              </a:defRPr>
            </a:pPr>
          </a:p>
          <a:p>
            <a:pPr algn="ctr">
              <a:spcAft>
                <a:spcPts val="600"/>
              </a:spcAft>
              <a:defRPr sz="1800" b="0">
                <a:solidFill>
                  <a:srgbClr val="A0A0A0"/>
                </a:solidFill>
                <a:latin typeface="Calibri"/>
              </a:defRPr>
            </a:pPr>
            <a:r>
              <a:t>These require fundamentally different IC design philosophies.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74320"/>
            <a:ext cx="10972800" cy="640080"/>
          </a:xfrm>
          <a:prstGeom prst="rect">
            <a:avLst/>
          </a:prstGeom>
          <a:noFill/>
        </p:spPr>
        <p:txBody>
          <a:bodyPr wrap="square" anchor="t"/>
          <a:lstStyle/>
          <a:p>
            <a:pPr algn="l">
              <a:defRPr sz="3200" b="1">
                <a:solidFill>
                  <a:srgbClr val="FFFFFF"/>
                </a:solidFill>
                <a:latin typeface="Calibri"/>
              </a:defRPr>
            </a:pPr>
            <a:r>
              <a:t>The Three-Tier Compute Architecture for Embodied AI</a:t>
            </a:r>
          </a:p>
        </p:txBody>
      </p:sp>
      <p:sp>
        <p:nvSpPr>
          <p:cNvPr id="3" name="Rounded Rectangle 2"/>
          <p:cNvSpPr/>
          <p:nvPr/>
        </p:nvSpPr>
        <p:spPr>
          <a:xfrm>
            <a:off x="2286000" y="1097280"/>
            <a:ext cx="7772400" cy="1463040"/>
          </a:xfrm>
          <a:prstGeom prst="roundRect">
            <a:avLst/>
          </a:prstGeom>
          <a:solidFill>
            <a:srgbClr val="202038"/>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0" y="1188720"/>
            <a:ext cx="3657600" cy="457200"/>
          </a:xfrm>
          <a:prstGeom prst="rect">
            <a:avLst/>
          </a:prstGeom>
          <a:noFill/>
        </p:spPr>
        <p:txBody>
          <a:bodyPr wrap="square" anchor="t"/>
          <a:lstStyle/>
          <a:p>
            <a:pPr algn="l">
              <a:defRPr sz="2200" b="1">
                <a:solidFill>
                  <a:srgbClr val="0EA5E9"/>
                </a:solidFill>
                <a:latin typeface="Calibri"/>
              </a:defRPr>
            </a:pPr>
            <a:r>
              <a:t>☁️  CLOUD</a:t>
            </a:r>
          </a:p>
        </p:txBody>
      </p:sp>
      <p:sp>
        <p:nvSpPr>
          <p:cNvPr id="5" name="TextBox 4"/>
          <p:cNvSpPr txBox="1"/>
          <p:nvPr/>
        </p:nvSpPr>
        <p:spPr>
          <a:xfrm>
            <a:off x="2560320" y="1600200"/>
            <a:ext cx="3657600" cy="365760"/>
          </a:xfrm>
          <a:prstGeom prst="rect">
            <a:avLst/>
          </a:prstGeom>
          <a:noFill/>
        </p:spPr>
        <p:txBody>
          <a:bodyPr wrap="square" anchor="t"/>
          <a:lstStyle/>
          <a:p>
            <a:pPr algn="l">
              <a:defRPr sz="1400" b="0">
                <a:solidFill>
                  <a:srgbClr val="A0A0A0"/>
                </a:solidFill>
                <a:latin typeface="Calibri"/>
              </a:defRPr>
            </a:pPr>
            <a:r>
              <a:t>GPU Cluster  |  Existing infrastructure</a:t>
            </a:r>
          </a:p>
        </p:txBody>
      </p:sp>
      <p:sp>
        <p:nvSpPr>
          <p:cNvPr id="6" name="TextBox 5"/>
          <p:cNvSpPr txBox="1"/>
          <p:nvPr/>
        </p:nvSpPr>
        <p:spPr>
          <a:xfrm>
            <a:off x="6400800" y="1234440"/>
            <a:ext cx="3200400" cy="457200"/>
          </a:xfrm>
          <a:prstGeom prst="rect">
            <a:avLst/>
          </a:prstGeom>
          <a:noFill/>
        </p:spPr>
        <p:txBody>
          <a:bodyPr wrap="square" anchor="t"/>
          <a:lstStyle/>
          <a:p>
            <a:pPr algn="l">
              <a:defRPr sz="1400" b="0">
                <a:solidFill>
                  <a:srgbClr val="C0C0C0"/>
                </a:solidFill>
                <a:latin typeface="Calibri"/>
              </a:defRPr>
            </a:pPr>
            <a:r>
              <a:t>Model training, world model updates</a:t>
            </a:r>
          </a:p>
        </p:txBody>
      </p:sp>
      <p:sp>
        <p:nvSpPr>
          <p:cNvPr id="7" name="TextBox 6"/>
          <p:cNvSpPr txBox="1"/>
          <p:nvPr/>
        </p:nvSpPr>
        <p:spPr>
          <a:xfrm>
            <a:off x="6400800" y="1691640"/>
            <a:ext cx="3200400" cy="365760"/>
          </a:xfrm>
          <a:prstGeom prst="rect">
            <a:avLst/>
          </a:prstGeom>
          <a:noFill/>
        </p:spPr>
        <p:txBody>
          <a:bodyPr wrap="square" anchor="t"/>
          <a:lstStyle/>
          <a:p>
            <a:pPr algn="l">
              <a:defRPr sz="1300" b="1">
                <a:solidFill>
                  <a:srgbClr val="0EA5E9"/>
                </a:solidFill>
                <a:latin typeface="Calibri"/>
              </a:defRPr>
            </a:pPr>
            <a:r>
              <a:t>Latency: Hours / Days</a:t>
            </a:r>
          </a:p>
        </p:txBody>
      </p:sp>
      <p:sp>
        <p:nvSpPr>
          <p:cNvPr id="8" name="Rounded Rectangle 7"/>
          <p:cNvSpPr/>
          <p:nvPr/>
        </p:nvSpPr>
        <p:spPr>
          <a:xfrm>
            <a:off x="2286000" y="2926080"/>
            <a:ext cx="7772400" cy="1463040"/>
          </a:xfrm>
          <a:prstGeom prst="roundRect">
            <a:avLst/>
          </a:prstGeom>
          <a:solidFill>
            <a:srgbClr val="202038"/>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0" y="3017520"/>
            <a:ext cx="3657600" cy="457200"/>
          </a:xfrm>
          <a:prstGeom prst="rect">
            <a:avLst/>
          </a:prstGeom>
          <a:noFill/>
        </p:spPr>
        <p:txBody>
          <a:bodyPr wrap="square" anchor="t"/>
          <a:lstStyle/>
          <a:p>
            <a:pPr algn="l">
              <a:defRPr sz="2200" b="1">
                <a:solidFill>
                  <a:srgbClr val="F97316"/>
                </a:solidFill>
                <a:latin typeface="Calibri"/>
              </a:defRPr>
            </a:pPr>
            <a:r>
              <a:t>🏭  EDGE</a:t>
            </a:r>
          </a:p>
        </p:txBody>
      </p:sp>
      <p:sp>
        <p:nvSpPr>
          <p:cNvPr id="10" name="TextBox 9"/>
          <p:cNvSpPr txBox="1"/>
          <p:nvPr/>
        </p:nvSpPr>
        <p:spPr>
          <a:xfrm>
            <a:off x="2560320" y="3429000"/>
            <a:ext cx="3657600" cy="365760"/>
          </a:xfrm>
          <a:prstGeom prst="rect">
            <a:avLst/>
          </a:prstGeom>
          <a:noFill/>
        </p:spPr>
        <p:txBody>
          <a:bodyPr wrap="square" anchor="t"/>
          <a:lstStyle/>
          <a:p>
            <a:pPr algn="l">
              <a:defRPr sz="1400" b="0">
                <a:solidFill>
                  <a:srgbClr val="A0A0A0"/>
                </a:solidFill>
                <a:latin typeface="Calibri"/>
              </a:defRPr>
            </a:pPr>
            <a:r>
              <a:t>Edge Server  |  100–300W</a:t>
            </a:r>
          </a:p>
        </p:txBody>
      </p:sp>
      <p:sp>
        <p:nvSpPr>
          <p:cNvPr id="11" name="TextBox 10"/>
          <p:cNvSpPr txBox="1"/>
          <p:nvPr/>
        </p:nvSpPr>
        <p:spPr>
          <a:xfrm>
            <a:off x="6400800" y="3063240"/>
            <a:ext cx="3200400" cy="457200"/>
          </a:xfrm>
          <a:prstGeom prst="rect">
            <a:avLst/>
          </a:prstGeom>
          <a:noFill/>
        </p:spPr>
        <p:txBody>
          <a:bodyPr wrap="square" anchor="t"/>
          <a:lstStyle/>
          <a:p>
            <a:pPr algn="l">
              <a:defRPr sz="1400" b="0">
                <a:solidFill>
                  <a:srgbClr val="C0C0C0"/>
                </a:solidFill>
                <a:latin typeface="Calibri"/>
              </a:defRPr>
            </a:pPr>
            <a:r>
              <a:t>Scene-specific inference, multi-robot coordination</a:t>
            </a:r>
          </a:p>
        </p:txBody>
      </p:sp>
      <p:sp>
        <p:nvSpPr>
          <p:cNvPr id="12" name="TextBox 11"/>
          <p:cNvSpPr txBox="1"/>
          <p:nvPr/>
        </p:nvSpPr>
        <p:spPr>
          <a:xfrm>
            <a:off x="6400800" y="3520440"/>
            <a:ext cx="3200400" cy="365760"/>
          </a:xfrm>
          <a:prstGeom prst="rect">
            <a:avLst/>
          </a:prstGeom>
          <a:noFill/>
        </p:spPr>
        <p:txBody>
          <a:bodyPr wrap="square" anchor="t"/>
          <a:lstStyle/>
          <a:p>
            <a:pPr algn="l">
              <a:defRPr sz="1300" b="1">
                <a:solidFill>
                  <a:srgbClr val="F97316"/>
                </a:solidFill>
                <a:latin typeface="Calibri"/>
              </a:defRPr>
            </a:pPr>
            <a:r>
              <a:t>Latency: ~100ms</a:t>
            </a:r>
          </a:p>
        </p:txBody>
      </p:sp>
      <p:sp>
        <p:nvSpPr>
          <p:cNvPr id="13" name="Rounded Rectangle 12"/>
          <p:cNvSpPr/>
          <p:nvPr/>
        </p:nvSpPr>
        <p:spPr>
          <a:xfrm>
            <a:off x="2286000" y="4754880"/>
            <a:ext cx="7772400" cy="1463040"/>
          </a:xfrm>
          <a:prstGeom prst="roundRect">
            <a:avLst/>
          </a:prstGeom>
          <a:solidFill>
            <a:srgbClr val="202038"/>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60320" y="4846320"/>
            <a:ext cx="3657600" cy="457200"/>
          </a:xfrm>
          <a:prstGeom prst="rect">
            <a:avLst/>
          </a:prstGeom>
          <a:noFill/>
        </p:spPr>
        <p:txBody>
          <a:bodyPr wrap="square" anchor="t"/>
          <a:lstStyle/>
          <a:p>
            <a:pPr algn="l">
              <a:defRPr sz="2200" b="1">
                <a:solidFill>
                  <a:srgbClr val="22C55E"/>
                </a:solidFill>
                <a:latin typeface="Calibri"/>
              </a:defRPr>
            </a:pPr>
            <a:r>
              <a:t>🤖  ON-BODY</a:t>
            </a:r>
          </a:p>
        </p:txBody>
      </p:sp>
      <p:sp>
        <p:nvSpPr>
          <p:cNvPr id="15" name="TextBox 14"/>
          <p:cNvSpPr txBox="1"/>
          <p:nvPr/>
        </p:nvSpPr>
        <p:spPr>
          <a:xfrm>
            <a:off x="2560320" y="5257800"/>
            <a:ext cx="3657600" cy="365760"/>
          </a:xfrm>
          <a:prstGeom prst="rect">
            <a:avLst/>
          </a:prstGeom>
          <a:noFill/>
        </p:spPr>
        <p:txBody>
          <a:bodyPr wrap="square" anchor="t"/>
          <a:lstStyle/>
          <a:p>
            <a:pPr algn="l">
              <a:defRPr sz="1400" b="0">
                <a:solidFill>
                  <a:srgbClr val="A0A0A0"/>
                </a:solidFill>
                <a:latin typeface="Calibri"/>
              </a:defRPr>
            </a:pPr>
            <a:r>
              <a:t>SoC / NPU  |  &lt;50W</a:t>
            </a:r>
          </a:p>
        </p:txBody>
      </p:sp>
      <p:sp>
        <p:nvSpPr>
          <p:cNvPr id="16" name="TextBox 15"/>
          <p:cNvSpPr txBox="1"/>
          <p:nvPr/>
        </p:nvSpPr>
        <p:spPr>
          <a:xfrm>
            <a:off x="6400800" y="4892040"/>
            <a:ext cx="3200400" cy="457200"/>
          </a:xfrm>
          <a:prstGeom prst="rect">
            <a:avLst/>
          </a:prstGeom>
          <a:noFill/>
        </p:spPr>
        <p:txBody>
          <a:bodyPr wrap="square" anchor="t"/>
          <a:lstStyle/>
          <a:p>
            <a:pPr algn="l">
              <a:defRPr sz="1400" b="0">
                <a:solidFill>
                  <a:srgbClr val="C0C0C0"/>
                </a:solidFill>
                <a:latin typeface="Calibri"/>
              </a:defRPr>
            </a:pPr>
            <a:r>
              <a:t>Perception, safety, autonomous control</a:t>
            </a:r>
          </a:p>
        </p:txBody>
      </p:sp>
      <p:sp>
        <p:nvSpPr>
          <p:cNvPr id="17" name="TextBox 16"/>
          <p:cNvSpPr txBox="1"/>
          <p:nvPr/>
        </p:nvSpPr>
        <p:spPr>
          <a:xfrm>
            <a:off x="6400800" y="5349240"/>
            <a:ext cx="3200400" cy="365760"/>
          </a:xfrm>
          <a:prstGeom prst="rect">
            <a:avLst/>
          </a:prstGeom>
          <a:noFill/>
        </p:spPr>
        <p:txBody>
          <a:bodyPr wrap="square" anchor="t"/>
          <a:lstStyle/>
          <a:p>
            <a:pPr algn="l">
              <a:defRPr sz="1300" b="1">
                <a:solidFill>
                  <a:srgbClr val="22C55E"/>
                </a:solidFill>
                <a:latin typeface="Calibri"/>
              </a:defRPr>
            </a:pPr>
            <a:r>
              <a:t>Latency: &lt;10ms</a:t>
            </a:r>
          </a:p>
        </p:txBody>
      </p:sp>
      <p:sp>
        <p:nvSpPr>
          <p:cNvPr id="18" name="Down Arrow 17"/>
          <p:cNvSpPr/>
          <p:nvPr/>
        </p:nvSpPr>
        <p:spPr>
          <a:xfrm>
            <a:off x="6035040" y="2560320"/>
            <a:ext cx="274320" cy="320040"/>
          </a:xfrm>
          <a:prstGeom prst="downArrow">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wn Arrow 18"/>
          <p:cNvSpPr/>
          <p:nvPr/>
        </p:nvSpPr>
        <p:spPr>
          <a:xfrm>
            <a:off x="6035040" y="4389120"/>
            <a:ext cx="274320" cy="320040"/>
          </a:xfrm>
          <a:prstGeom prst="downArrow">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600" b="1">
                <a:solidFill>
                  <a:srgbClr val="FFFFFF"/>
                </a:solidFill>
                <a:latin typeface="Calibri"/>
              </a:defRPr>
            </a:pPr>
            <a:r>
              <a:t>IC Demands by Compute Tier</a:t>
            </a:r>
          </a:p>
        </p:txBody>
      </p:sp>
      <p:sp>
        <p:nvSpPr>
          <p:cNvPr id="3" name="TextBox 2"/>
          <p:cNvSpPr txBox="1"/>
          <p:nvPr/>
        </p:nvSpPr>
        <p:spPr>
          <a:xfrm>
            <a:off x="731520" y="1463040"/>
            <a:ext cx="2560320" cy="457200"/>
          </a:xfrm>
          <a:prstGeom prst="rect">
            <a:avLst/>
          </a:prstGeom>
          <a:noFill/>
        </p:spPr>
        <p:txBody>
          <a:bodyPr wrap="square" anchor="t"/>
          <a:lstStyle/>
          <a:p>
            <a:pPr algn="l">
              <a:defRPr sz="1800" b="1">
                <a:solidFill>
                  <a:srgbClr val="A0A0A0"/>
                </a:solidFill>
                <a:latin typeface="Calibri"/>
              </a:defRPr>
            </a:pPr>
          </a:p>
        </p:txBody>
      </p:sp>
      <p:sp>
        <p:nvSpPr>
          <p:cNvPr id="4" name="TextBox 3"/>
          <p:cNvSpPr txBox="1"/>
          <p:nvPr/>
        </p:nvSpPr>
        <p:spPr>
          <a:xfrm>
            <a:off x="3474720" y="1463040"/>
            <a:ext cx="2377440" cy="457200"/>
          </a:xfrm>
          <a:prstGeom prst="rect">
            <a:avLst/>
          </a:prstGeom>
          <a:noFill/>
        </p:spPr>
        <p:txBody>
          <a:bodyPr wrap="square" anchor="t"/>
          <a:lstStyle/>
          <a:p>
            <a:pPr algn="ctr">
              <a:defRPr sz="1800" b="1">
                <a:solidFill>
                  <a:srgbClr val="0EA5E9"/>
                </a:solidFill>
                <a:latin typeface="Calibri"/>
              </a:defRPr>
            </a:pPr>
            <a:r>
              <a:t>Cloud</a:t>
            </a:r>
          </a:p>
        </p:txBody>
      </p:sp>
      <p:sp>
        <p:nvSpPr>
          <p:cNvPr id="5" name="TextBox 4"/>
          <p:cNvSpPr txBox="1"/>
          <p:nvPr/>
        </p:nvSpPr>
        <p:spPr>
          <a:xfrm>
            <a:off x="6035040" y="1463040"/>
            <a:ext cx="2377440" cy="457200"/>
          </a:xfrm>
          <a:prstGeom prst="rect">
            <a:avLst/>
          </a:prstGeom>
          <a:noFill/>
        </p:spPr>
        <p:txBody>
          <a:bodyPr wrap="square" anchor="t"/>
          <a:lstStyle/>
          <a:p>
            <a:pPr algn="ctr">
              <a:defRPr sz="1800" b="1">
                <a:solidFill>
                  <a:srgbClr val="F97316"/>
                </a:solidFill>
                <a:latin typeface="Calibri"/>
              </a:defRPr>
            </a:pPr>
            <a:r>
              <a:t>Edge</a:t>
            </a:r>
          </a:p>
        </p:txBody>
      </p:sp>
      <p:sp>
        <p:nvSpPr>
          <p:cNvPr id="6" name="TextBox 5"/>
          <p:cNvSpPr txBox="1"/>
          <p:nvPr/>
        </p:nvSpPr>
        <p:spPr>
          <a:xfrm>
            <a:off x="8595360" y="1463040"/>
            <a:ext cx="2926080" cy="457200"/>
          </a:xfrm>
          <a:prstGeom prst="rect">
            <a:avLst/>
          </a:prstGeom>
          <a:noFill/>
        </p:spPr>
        <p:txBody>
          <a:bodyPr wrap="square" anchor="t"/>
          <a:lstStyle/>
          <a:p>
            <a:pPr algn="ctr">
              <a:defRPr sz="1800" b="1">
                <a:solidFill>
                  <a:srgbClr val="22C55E"/>
                </a:solidFill>
                <a:latin typeface="Calibri"/>
              </a:defRPr>
            </a:pPr>
            <a:r>
              <a:t>On-Body</a:t>
            </a:r>
          </a:p>
        </p:txBody>
      </p:sp>
      <p:sp>
        <p:nvSpPr>
          <p:cNvPr id="7" name="Rectangle 6"/>
          <p:cNvSpPr/>
          <p:nvPr/>
        </p:nvSpPr>
        <p:spPr>
          <a:xfrm>
            <a:off x="548640" y="2103120"/>
            <a:ext cx="11155680" cy="1005840"/>
          </a:xfrm>
          <a:prstGeom prst="rect">
            <a:avLst/>
          </a:prstGeom>
          <a:solidFill>
            <a:srgbClr val="20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194560"/>
            <a:ext cx="2560320" cy="822960"/>
          </a:xfrm>
          <a:prstGeom prst="rect">
            <a:avLst/>
          </a:prstGeom>
          <a:noFill/>
        </p:spPr>
        <p:txBody>
          <a:bodyPr wrap="square" anchor="t"/>
          <a:lstStyle/>
          <a:p>
            <a:pPr algn="l">
              <a:defRPr sz="1600" b="1">
                <a:solidFill>
                  <a:srgbClr val="A0A0A0"/>
                </a:solidFill>
                <a:latin typeface="Calibri"/>
              </a:defRPr>
            </a:pPr>
            <a:r>
              <a:t>Key IC type</a:t>
            </a:r>
          </a:p>
        </p:txBody>
      </p:sp>
      <p:sp>
        <p:nvSpPr>
          <p:cNvPr id="9" name="TextBox 8"/>
          <p:cNvSpPr txBox="1"/>
          <p:nvPr/>
        </p:nvSpPr>
        <p:spPr>
          <a:xfrm>
            <a:off x="3474720" y="2194560"/>
            <a:ext cx="2377440" cy="822960"/>
          </a:xfrm>
          <a:prstGeom prst="rect">
            <a:avLst/>
          </a:prstGeom>
          <a:noFill/>
        </p:spPr>
        <p:txBody>
          <a:bodyPr wrap="square" anchor="t"/>
          <a:lstStyle/>
          <a:p>
            <a:pPr algn="ctr">
              <a:defRPr sz="1600" b="0">
                <a:solidFill>
                  <a:srgbClr val="FFFFFF"/>
                </a:solidFill>
                <a:latin typeface="Calibri"/>
              </a:defRPr>
            </a:pPr>
            <a:r>
              <a:t>GPU / AI</a:t>
            </a:r>
            <a:br/>
            <a:r>
              <a:t>accelerator</a:t>
            </a:r>
          </a:p>
        </p:txBody>
      </p:sp>
      <p:sp>
        <p:nvSpPr>
          <p:cNvPr id="10" name="TextBox 9"/>
          <p:cNvSpPr txBox="1"/>
          <p:nvPr/>
        </p:nvSpPr>
        <p:spPr>
          <a:xfrm>
            <a:off x="6035040" y="2194560"/>
            <a:ext cx="2377440" cy="822960"/>
          </a:xfrm>
          <a:prstGeom prst="rect">
            <a:avLst/>
          </a:prstGeom>
          <a:noFill/>
        </p:spPr>
        <p:txBody>
          <a:bodyPr wrap="square" anchor="t"/>
          <a:lstStyle/>
          <a:p>
            <a:pPr algn="ctr">
              <a:defRPr sz="1600" b="0">
                <a:solidFill>
                  <a:srgbClr val="FFFFFF"/>
                </a:solidFill>
                <a:latin typeface="Calibri"/>
              </a:defRPr>
            </a:pPr>
            <a:r>
              <a:t>Inference</a:t>
            </a:r>
            <a:br/>
            <a:r>
              <a:t>accelerator</a:t>
            </a:r>
          </a:p>
        </p:txBody>
      </p:sp>
      <p:sp>
        <p:nvSpPr>
          <p:cNvPr id="11" name="TextBox 10"/>
          <p:cNvSpPr txBox="1"/>
          <p:nvPr/>
        </p:nvSpPr>
        <p:spPr>
          <a:xfrm>
            <a:off x="8595360" y="2194560"/>
            <a:ext cx="2926080" cy="822960"/>
          </a:xfrm>
          <a:prstGeom prst="rect">
            <a:avLst/>
          </a:prstGeom>
          <a:noFill/>
        </p:spPr>
        <p:txBody>
          <a:bodyPr wrap="square" anchor="t"/>
          <a:lstStyle/>
          <a:p>
            <a:pPr algn="ctr">
              <a:defRPr sz="1600" b="0">
                <a:solidFill>
                  <a:srgbClr val="FFFFFF"/>
                </a:solidFill>
                <a:latin typeface="Calibri"/>
              </a:defRPr>
            </a:pPr>
            <a:r>
              <a:t>Heterogeneous</a:t>
            </a:r>
            <a:br/>
            <a:r>
              <a:t>SoC</a:t>
            </a:r>
          </a:p>
        </p:txBody>
      </p:sp>
      <p:sp>
        <p:nvSpPr>
          <p:cNvPr id="12" name="Rectangle 11"/>
          <p:cNvSpPr/>
          <p:nvPr/>
        </p:nvSpPr>
        <p:spPr>
          <a:xfrm>
            <a:off x="548640" y="3200400"/>
            <a:ext cx="11155680"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291840"/>
            <a:ext cx="2560320" cy="822960"/>
          </a:xfrm>
          <a:prstGeom prst="rect">
            <a:avLst/>
          </a:prstGeom>
          <a:noFill/>
        </p:spPr>
        <p:txBody>
          <a:bodyPr wrap="square" anchor="t"/>
          <a:lstStyle/>
          <a:p>
            <a:pPr algn="l">
              <a:defRPr sz="1600" b="1">
                <a:solidFill>
                  <a:srgbClr val="A0A0A0"/>
                </a:solidFill>
                <a:latin typeface="Calibri"/>
              </a:defRPr>
            </a:pPr>
            <a:r>
              <a:t>Power</a:t>
            </a:r>
          </a:p>
        </p:txBody>
      </p:sp>
      <p:sp>
        <p:nvSpPr>
          <p:cNvPr id="14" name="TextBox 13"/>
          <p:cNvSpPr txBox="1"/>
          <p:nvPr/>
        </p:nvSpPr>
        <p:spPr>
          <a:xfrm>
            <a:off x="3474720" y="3291840"/>
            <a:ext cx="2377440" cy="822960"/>
          </a:xfrm>
          <a:prstGeom prst="rect">
            <a:avLst/>
          </a:prstGeom>
          <a:noFill/>
        </p:spPr>
        <p:txBody>
          <a:bodyPr wrap="square" anchor="t"/>
          <a:lstStyle/>
          <a:p>
            <a:pPr algn="ctr">
              <a:defRPr sz="1600" b="0">
                <a:solidFill>
                  <a:srgbClr val="FFFFFF"/>
                </a:solidFill>
                <a:latin typeface="Calibri"/>
              </a:defRPr>
            </a:pPr>
            <a:r>
              <a:t>400–700W</a:t>
            </a:r>
          </a:p>
        </p:txBody>
      </p:sp>
      <p:sp>
        <p:nvSpPr>
          <p:cNvPr id="15" name="TextBox 14"/>
          <p:cNvSpPr txBox="1"/>
          <p:nvPr/>
        </p:nvSpPr>
        <p:spPr>
          <a:xfrm>
            <a:off x="6035040" y="3291840"/>
            <a:ext cx="2377440" cy="822960"/>
          </a:xfrm>
          <a:prstGeom prst="rect">
            <a:avLst/>
          </a:prstGeom>
          <a:noFill/>
        </p:spPr>
        <p:txBody>
          <a:bodyPr wrap="square" anchor="t"/>
          <a:lstStyle/>
          <a:p>
            <a:pPr algn="ctr">
              <a:defRPr sz="1600" b="0">
                <a:solidFill>
                  <a:srgbClr val="FFFFFF"/>
                </a:solidFill>
                <a:latin typeface="Calibri"/>
              </a:defRPr>
            </a:pPr>
            <a:r>
              <a:t>100–300W</a:t>
            </a:r>
          </a:p>
        </p:txBody>
      </p:sp>
      <p:sp>
        <p:nvSpPr>
          <p:cNvPr id="16" name="TextBox 15"/>
          <p:cNvSpPr txBox="1"/>
          <p:nvPr/>
        </p:nvSpPr>
        <p:spPr>
          <a:xfrm>
            <a:off x="8595360" y="3291840"/>
            <a:ext cx="2926080" cy="822960"/>
          </a:xfrm>
          <a:prstGeom prst="rect">
            <a:avLst/>
          </a:prstGeom>
          <a:noFill/>
        </p:spPr>
        <p:txBody>
          <a:bodyPr wrap="square" anchor="t"/>
          <a:lstStyle/>
          <a:p>
            <a:pPr algn="ctr">
              <a:defRPr sz="1600" b="0">
                <a:solidFill>
                  <a:srgbClr val="FFFFFF"/>
                </a:solidFill>
                <a:latin typeface="Calibri"/>
              </a:defRPr>
            </a:pPr>
            <a:r>
              <a:t>&lt;50W</a:t>
            </a:r>
          </a:p>
        </p:txBody>
      </p:sp>
      <p:sp>
        <p:nvSpPr>
          <p:cNvPr id="17" name="Rectangle 16"/>
          <p:cNvSpPr/>
          <p:nvPr/>
        </p:nvSpPr>
        <p:spPr>
          <a:xfrm>
            <a:off x="548640" y="4297679"/>
            <a:ext cx="11155680" cy="1005840"/>
          </a:xfrm>
          <a:prstGeom prst="rect">
            <a:avLst/>
          </a:prstGeom>
          <a:solidFill>
            <a:srgbClr val="20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389119"/>
            <a:ext cx="2560320" cy="822960"/>
          </a:xfrm>
          <a:prstGeom prst="rect">
            <a:avLst/>
          </a:prstGeom>
          <a:noFill/>
        </p:spPr>
        <p:txBody>
          <a:bodyPr wrap="square" anchor="t"/>
          <a:lstStyle/>
          <a:p>
            <a:pPr algn="l">
              <a:defRPr sz="1600" b="1">
                <a:solidFill>
                  <a:srgbClr val="A0A0A0"/>
                </a:solidFill>
                <a:latin typeface="Calibri"/>
              </a:defRPr>
            </a:pPr>
            <a:r>
              <a:t>Key challenge</a:t>
            </a:r>
          </a:p>
        </p:txBody>
      </p:sp>
      <p:sp>
        <p:nvSpPr>
          <p:cNvPr id="19" name="TextBox 18"/>
          <p:cNvSpPr txBox="1"/>
          <p:nvPr/>
        </p:nvSpPr>
        <p:spPr>
          <a:xfrm>
            <a:off x="3474720" y="4389119"/>
            <a:ext cx="2377440" cy="822960"/>
          </a:xfrm>
          <a:prstGeom prst="rect">
            <a:avLst/>
          </a:prstGeom>
          <a:noFill/>
        </p:spPr>
        <p:txBody>
          <a:bodyPr wrap="square" anchor="t"/>
          <a:lstStyle/>
          <a:p>
            <a:pPr algn="ctr">
              <a:defRPr sz="1600" b="0">
                <a:solidFill>
                  <a:srgbClr val="FFFFFF"/>
                </a:solidFill>
                <a:latin typeface="Calibri"/>
              </a:defRPr>
            </a:pPr>
            <a:r>
              <a:t>Interconnect</a:t>
            </a:r>
            <a:br/>
            <a:r>
              <a:t>bandwidth</a:t>
            </a:r>
          </a:p>
        </p:txBody>
      </p:sp>
      <p:sp>
        <p:nvSpPr>
          <p:cNvPr id="20" name="TextBox 19"/>
          <p:cNvSpPr txBox="1"/>
          <p:nvPr/>
        </p:nvSpPr>
        <p:spPr>
          <a:xfrm>
            <a:off x="6035040" y="4389119"/>
            <a:ext cx="2377440" cy="822960"/>
          </a:xfrm>
          <a:prstGeom prst="rect">
            <a:avLst/>
          </a:prstGeom>
          <a:noFill/>
        </p:spPr>
        <p:txBody>
          <a:bodyPr wrap="square" anchor="t"/>
          <a:lstStyle/>
          <a:p>
            <a:pPr algn="ctr">
              <a:defRPr sz="1600" b="0">
                <a:solidFill>
                  <a:srgbClr val="FFFFFF"/>
                </a:solidFill>
                <a:latin typeface="Calibri"/>
              </a:defRPr>
            </a:pPr>
            <a:r>
              <a:t>Multi-model</a:t>
            </a:r>
            <a:br/>
            <a:r>
              <a:t>scheduling</a:t>
            </a:r>
          </a:p>
        </p:txBody>
      </p:sp>
      <p:sp>
        <p:nvSpPr>
          <p:cNvPr id="21" name="TextBox 20"/>
          <p:cNvSpPr txBox="1"/>
          <p:nvPr/>
        </p:nvSpPr>
        <p:spPr>
          <a:xfrm>
            <a:off x="8595360" y="4389119"/>
            <a:ext cx="2926080" cy="822960"/>
          </a:xfrm>
          <a:prstGeom prst="rect">
            <a:avLst/>
          </a:prstGeom>
          <a:noFill/>
        </p:spPr>
        <p:txBody>
          <a:bodyPr wrap="square" anchor="t"/>
          <a:lstStyle/>
          <a:p>
            <a:pPr algn="ctr">
              <a:defRPr sz="1600" b="0">
                <a:solidFill>
                  <a:srgbClr val="FFFFFF"/>
                </a:solidFill>
                <a:latin typeface="Calibri"/>
              </a:defRPr>
            </a:pPr>
            <a:r>
              <a:t>Multi-modal</a:t>
            </a:r>
            <a:br/>
            <a:r>
              <a:t>integration</a:t>
            </a:r>
          </a:p>
        </p:txBody>
      </p:sp>
      <p:sp>
        <p:nvSpPr>
          <p:cNvPr id="22" name="Rectangle 21"/>
          <p:cNvSpPr/>
          <p:nvPr/>
        </p:nvSpPr>
        <p:spPr>
          <a:xfrm>
            <a:off x="548640" y="5394959"/>
            <a:ext cx="11155680"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486399"/>
            <a:ext cx="2560320" cy="822960"/>
          </a:xfrm>
          <a:prstGeom prst="rect">
            <a:avLst/>
          </a:prstGeom>
          <a:noFill/>
        </p:spPr>
        <p:txBody>
          <a:bodyPr wrap="square" anchor="t"/>
          <a:lstStyle/>
          <a:p>
            <a:pPr algn="l">
              <a:defRPr sz="1600" b="1">
                <a:solidFill>
                  <a:srgbClr val="A0A0A0"/>
                </a:solidFill>
                <a:latin typeface="Calibri"/>
              </a:defRPr>
            </a:pPr>
            <a:r>
              <a:t>Market status</a:t>
            </a:r>
          </a:p>
        </p:txBody>
      </p:sp>
      <p:sp>
        <p:nvSpPr>
          <p:cNvPr id="24" name="TextBox 23"/>
          <p:cNvSpPr txBox="1"/>
          <p:nvPr/>
        </p:nvSpPr>
        <p:spPr>
          <a:xfrm>
            <a:off x="3474720" y="5486399"/>
            <a:ext cx="2377440" cy="822960"/>
          </a:xfrm>
          <a:prstGeom prst="rect">
            <a:avLst/>
          </a:prstGeom>
          <a:noFill/>
        </p:spPr>
        <p:txBody>
          <a:bodyPr wrap="square" anchor="t"/>
          <a:lstStyle/>
          <a:p>
            <a:pPr algn="ctr">
              <a:defRPr sz="1600" b="0">
                <a:solidFill>
                  <a:srgbClr val="FFFFFF"/>
                </a:solidFill>
                <a:latin typeface="Calibri"/>
              </a:defRPr>
            </a:pPr>
            <a:r>
              <a:t>Mature</a:t>
            </a:r>
          </a:p>
        </p:txBody>
      </p:sp>
      <p:sp>
        <p:nvSpPr>
          <p:cNvPr id="25" name="TextBox 24"/>
          <p:cNvSpPr txBox="1"/>
          <p:nvPr/>
        </p:nvSpPr>
        <p:spPr>
          <a:xfrm>
            <a:off x="6035040" y="5486399"/>
            <a:ext cx="2377440" cy="822960"/>
          </a:xfrm>
          <a:prstGeom prst="rect">
            <a:avLst/>
          </a:prstGeom>
          <a:noFill/>
        </p:spPr>
        <p:txBody>
          <a:bodyPr wrap="square" anchor="t"/>
          <a:lstStyle/>
          <a:p>
            <a:pPr algn="ctr">
              <a:defRPr sz="1600" b="0">
                <a:solidFill>
                  <a:srgbClr val="FFFFFF"/>
                </a:solidFill>
                <a:latin typeface="Calibri"/>
              </a:defRPr>
            </a:pPr>
            <a:r>
              <a:t>Exploding</a:t>
            </a:r>
          </a:p>
        </p:txBody>
      </p:sp>
      <p:sp>
        <p:nvSpPr>
          <p:cNvPr id="26" name="TextBox 25"/>
          <p:cNvSpPr txBox="1"/>
          <p:nvPr/>
        </p:nvSpPr>
        <p:spPr>
          <a:xfrm>
            <a:off x="8595360" y="5486399"/>
            <a:ext cx="2926080" cy="822960"/>
          </a:xfrm>
          <a:prstGeom prst="rect">
            <a:avLst/>
          </a:prstGeom>
          <a:noFill/>
        </p:spPr>
        <p:txBody>
          <a:bodyPr wrap="square" anchor="t"/>
          <a:lstStyle/>
          <a:p>
            <a:pPr algn="ctr">
              <a:defRPr sz="1600" b="1">
                <a:solidFill>
                  <a:srgbClr val="22C55E"/>
                </a:solidFill>
                <a:latin typeface="Calibri"/>
              </a:defRPr>
            </a:pPr>
            <a:r>
              <a:t>GREENFIELD</a:t>
            </a:r>
            <a:br/>
            <a:r>
              <a:t>BIGGEST OPPORTUNITY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1220"/>
        </a:solidFill>
        <a:effectLst/>
      </p:bgPr>
    </p:bg>
    <p:spTree>
      <p:nvGrpSpPr>
        <p:cNvPr id="1" name=""/>
        <p:cNvGrpSpPr/>
        <p:nvPr/>
      </p:nvGrpSpPr>
      <p:grpSpPr/>
      <p:pic>
        <p:nvPicPr>
          <p:cNvPr id="2" name="Picture 1" descr="chip_wafer.jpg"/>
          <p:cNvPicPr>
            <a:picLocks noChangeAspect="1"/>
          </p:cNvPicPr>
          <p:nvPr/>
        </p:nvPicPr>
        <p:blipFill>
          <a:blip r:embed="rId2"/>
          <a:stretch>
            <a:fillRect/>
          </a:stretch>
        </p:blipFill>
        <p:spPr>
          <a:xfrm>
            <a:off x="0" y="-634898"/>
            <a:ext cx="12191695" cy="8127796"/>
          </a:xfrm>
          <a:prstGeom prst="rect">
            <a:avLst/>
          </a:prstGeom>
        </p:spPr>
      </p:pic>
      <p:sp>
        <p:nvSpPr>
          <p:cNvPr id="3" name="Rectangle 2"/>
          <p:cNvSpPr/>
          <p:nvPr/>
        </p:nvSpPr>
        <p:spPr>
          <a:xfrm>
            <a:off x="0" y="0"/>
            <a:ext cx="12191695" cy="6858000"/>
          </a:xfrm>
          <a:prstGeom prst="rect">
            <a:avLst/>
          </a:prstGeom>
          <a:solidFill>
            <a:srgbClr val="0A0A15">
              <a:alpha val="44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144000" cy="3657600"/>
          </a:xfrm>
          <a:prstGeom prst="rect">
            <a:avLst/>
          </a:prstGeom>
          <a:noFill/>
        </p:spPr>
        <p:txBody>
          <a:bodyPr wrap="square" anchor="ctr"/>
          <a:lstStyle/>
          <a:p>
            <a:pPr algn="l">
              <a:spcAft>
                <a:spcPts val="600"/>
              </a:spcAft>
              <a:defRPr sz="2000" b="1">
                <a:solidFill>
                  <a:srgbClr val="F97316"/>
                </a:solidFill>
                <a:latin typeface="Calibri"/>
              </a:defRPr>
            </a:pPr>
            <a:r>
              <a:t>PART III</a:t>
            </a:r>
          </a:p>
          <a:p>
            <a:pPr algn="l">
              <a:spcAft>
                <a:spcPts val="600"/>
              </a:spcAft>
              <a:defRPr sz="5200" b="1">
                <a:solidFill>
                  <a:srgbClr val="FFFFFF"/>
                </a:solidFill>
                <a:latin typeface="Calibri"/>
              </a:defRPr>
            </a:pPr>
            <a:r>
              <a:t>Recommendations</a:t>
            </a:r>
          </a:p>
          <a:p>
            <a:pPr algn="l">
              <a:spcAft>
                <a:spcPts val="600"/>
              </a:spcAft>
              <a:defRPr sz="2800" b="0">
                <a:solidFill>
                  <a:srgbClr val="C0C0C0"/>
                </a:solidFill>
                <a:latin typeface="Calibri"/>
              </a:defRPr>
            </a:pPr>
            <a:r>
              <a:t>for IC Designers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10058400" cy="731520"/>
          </a:xfrm>
          <a:prstGeom prst="rect">
            <a:avLst/>
          </a:prstGeom>
          <a:noFill/>
        </p:spPr>
        <p:txBody>
          <a:bodyPr wrap="square" anchor="t"/>
          <a:lstStyle/>
          <a:p>
            <a:pPr algn="l">
              <a:defRPr sz="3400" b="1">
                <a:solidFill>
                  <a:srgbClr val="FFFFFF"/>
                </a:solidFill>
                <a:latin typeface="Calibri"/>
              </a:defRPr>
            </a:pPr>
            <a:r>
              <a:t>For Cloud / Data Center Chip Designers</a:t>
            </a:r>
          </a:p>
        </p:txBody>
      </p:sp>
      <p:sp>
        <p:nvSpPr>
          <p:cNvPr id="3" name="Rectangle 2"/>
          <p:cNvSpPr/>
          <p:nvPr/>
        </p:nvSpPr>
        <p:spPr>
          <a:xfrm>
            <a:off x="1097280" y="1371600"/>
            <a:ext cx="54864" cy="4754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554480"/>
            <a:ext cx="9144000" cy="457200"/>
          </a:xfrm>
          <a:prstGeom prst="rect">
            <a:avLst/>
          </a:prstGeom>
          <a:noFill/>
        </p:spPr>
        <p:txBody>
          <a:bodyPr wrap="square" anchor="t"/>
          <a:lstStyle/>
          <a:p>
            <a:pPr algn="l">
              <a:defRPr sz="2400" b="1">
                <a:solidFill>
                  <a:srgbClr val="FFFFFF"/>
                </a:solidFill>
                <a:latin typeface="Calibri"/>
              </a:defRPr>
            </a:pPr>
            <a:r>
              <a:t>1.  Performance per watt &gt; peak performance</a:t>
            </a:r>
          </a:p>
        </p:txBody>
      </p:sp>
      <p:sp>
        <p:nvSpPr>
          <p:cNvPr id="5" name="TextBox 4"/>
          <p:cNvSpPr txBox="1"/>
          <p:nvPr/>
        </p:nvSpPr>
        <p:spPr>
          <a:xfrm>
            <a:off x="2103120" y="2057400"/>
            <a:ext cx="8229600" cy="457200"/>
          </a:xfrm>
          <a:prstGeom prst="rect">
            <a:avLst/>
          </a:prstGeom>
          <a:noFill/>
        </p:spPr>
        <p:txBody>
          <a:bodyPr wrap="square" anchor="t"/>
          <a:lstStyle/>
          <a:p>
            <a:pPr algn="l">
              <a:defRPr sz="1600" b="0">
                <a:solidFill>
                  <a:srgbClr val="A0A0A0"/>
                </a:solidFill>
                <a:latin typeface="Calibri"/>
              </a:defRPr>
            </a:pPr>
            <a:r>
              <a:t>Your customer's #1 cost is electricity</a:t>
            </a:r>
          </a:p>
        </p:txBody>
      </p:sp>
      <p:sp>
        <p:nvSpPr>
          <p:cNvPr id="6" name="TextBox 5"/>
          <p:cNvSpPr txBox="1"/>
          <p:nvPr/>
        </p:nvSpPr>
        <p:spPr>
          <a:xfrm>
            <a:off x="1645920" y="2697480"/>
            <a:ext cx="9144000" cy="457200"/>
          </a:xfrm>
          <a:prstGeom prst="rect">
            <a:avLst/>
          </a:prstGeom>
          <a:noFill/>
        </p:spPr>
        <p:txBody>
          <a:bodyPr wrap="square" anchor="t"/>
          <a:lstStyle/>
          <a:p>
            <a:pPr algn="l">
              <a:defRPr sz="2400" b="1">
                <a:solidFill>
                  <a:srgbClr val="FFFFFF"/>
                </a:solidFill>
                <a:latin typeface="Calibri"/>
              </a:defRPr>
            </a:pPr>
            <a:r>
              <a:t>2.  Standardize interconnects</a:t>
            </a:r>
          </a:p>
        </p:txBody>
      </p:sp>
      <p:sp>
        <p:nvSpPr>
          <p:cNvPr id="7" name="TextBox 6"/>
          <p:cNvSpPr txBox="1"/>
          <p:nvPr/>
        </p:nvSpPr>
        <p:spPr>
          <a:xfrm>
            <a:off x="2103120" y="3200400"/>
            <a:ext cx="8229600" cy="457200"/>
          </a:xfrm>
          <a:prstGeom prst="rect">
            <a:avLst/>
          </a:prstGeom>
          <a:noFill/>
        </p:spPr>
        <p:txBody>
          <a:bodyPr wrap="square" anchor="t"/>
          <a:lstStyle/>
          <a:p>
            <a:pPr algn="l">
              <a:defRPr sz="1600" b="0">
                <a:solidFill>
                  <a:srgbClr val="A0A0A0"/>
                </a:solidFill>
                <a:latin typeface="Calibri"/>
              </a:defRPr>
            </a:pPr>
            <a:r>
              <a:t>Proprietary = lock-in = slow adoption</a:t>
            </a:r>
          </a:p>
        </p:txBody>
      </p:sp>
      <p:sp>
        <p:nvSpPr>
          <p:cNvPr id="8" name="TextBox 7"/>
          <p:cNvSpPr txBox="1"/>
          <p:nvPr/>
        </p:nvSpPr>
        <p:spPr>
          <a:xfrm>
            <a:off x="1645920" y="3840480"/>
            <a:ext cx="9144000" cy="457200"/>
          </a:xfrm>
          <a:prstGeom prst="rect">
            <a:avLst/>
          </a:prstGeom>
          <a:noFill/>
        </p:spPr>
        <p:txBody>
          <a:bodyPr wrap="square" anchor="t"/>
          <a:lstStyle/>
          <a:p>
            <a:pPr algn="l">
              <a:defRPr sz="2400" b="1">
                <a:solidFill>
                  <a:srgbClr val="FFFFFF"/>
                </a:solidFill>
                <a:latin typeface="Calibri"/>
              </a:defRPr>
            </a:pPr>
            <a:r>
              <a:t>3.  Build diagnostics into silicon</a:t>
            </a:r>
          </a:p>
        </p:txBody>
      </p:sp>
      <p:sp>
        <p:nvSpPr>
          <p:cNvPr id="9" name="TextBox 8"/>
          <p:cNvSpPr txBox="1"/>
          <p:nvPr/>
        </p:nvSpPr>
        <p:spPr>
          <a:xfrm>
            <a:off x="2103120" y="4343400"/>
            <a:ext cx="8229600" cy="457200"/>
          </a:xfrm>
          <a:prstGeom prst="rect">
            <a:avLst/>
          </a:prstGeom>
          <a:noFill/>
        </p:spPr>
        <p:txBody>
          <a:bodyPr wrap="square" anchor="t"/>
          <a:lstStyle/>
          <a:p>
            <a:pPr algn="l">
              <a:defRPr sz="1600" b="0">
                <a:solidFill>
                  <a:srgbClr val="A0A0A0"/>
                </a:solidFill>
                <a:latin typeface="Calibri"/>
              </a:defRPr>
            </a:pPr>
            <a:r>
              <a:t>Remote monitoring is an operational necessity</a:t>
            </a:r>
          </a:p>
        </p:txBody>
      </p:sp>
      <p:sp>
        <p:nvSpPr>
          <p:cNvPr id="10" name="TextBox 9"/>
          <p:cNvSpPr txBox="1"/>
          <p:nvPr/>
        </p:nvSpPr>
        <p:spPr>
          <a:xfrm>
            <a:off x="1645920" y="4983480"/>
            <a:ext cx="9144000" cy="457200"/>
          </a:xfrm>
          <a:prstGeom prst="rect">
            <a:avLst/>
          </a:prstGeom>
          <a:noFill/>
        </p:spPr>
        <p:txBody>
          <a:bodyPr wrap="square" anchor="t"/>
          <a:lstStyle/>
          <a:p>
            <a:pPr algn="l">
              <a:defRPr sz="2400" b="1">
                <a:solidFill>
                  <a:srgbClr val="FFFFFF"/>
                </a:solidFill>
                <a:latin typeface="Calibri"/>
              </a:defRPr>
            </a:pPr>
            <a:r>
              <a:t>4.  Design for multi-tenant workloads</a:t>
            </a:r>
          </a:p>
        </p:txBody>
      </p:sp>
      <p:sp>
        <p:nvSpPr>
          <p:cNvPr id="11" name="TextBox 10"/>
          <p:cNvSpPr txBox="1"/>
          <p:nvPr/>
        </p:nvSpPr>
        <p:spPr>
          <a:xfrm>
            <a:off x="2103120" y="5486400"/>
            <a:ext cx="8229600" cy="457200"/>
          </a:xfrm>
          <a:prstGeom prst="rect">
            <a:avLst/>
          </a:prstGeom>
          <a:noFill/>
        </p:spPr>
        <p:txBody>
          <a:bodyPr wrap="square" anchor="t"/>
          <a:lstStyle/>
          <a:p>
            <a:pPr algn="l">
              <a:defRPr sz="1600" b="0">
                <a:solidFill>
                  <a:srgbClr val="A0A0A0"/>
                </a:solidFill>
                <a:latin typeface="Calibri"/>
              </a:defRPr>
            </a:pPr>
            <a:r>
              <a:t>Hardware isolation improves utilization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10058400" cy="731520"/>
          </a:xfrm>
          <a:prstGeom prst="rect">
            <a:avLst/>
          </a:prstGeom>
          <a:noFill/>
        </p:spPr>
        <p:txBody>
          <a:bodyPr wrap="square" anchor="t"/>
          <a:lstStyle/>
          <a:p>
            <a:pPr algn="l">
              <a:defRPr sz="3400" b="1">
                <a:solidFill>
                  <a:srgbClr val="FFFFFF"/>
                </a:solidFill>
                <a:latin typeface="Calibri"/>
              </a:defRPr>
            </a:pPr>
            <a:r>
              <a:t>For Edge / Embodied Chip Designers</a:t>
            </a:r>
          </a:p>
        </p:txBody>
      </p:sp>
      <p:sp>
        <p:nvSpPr>
          <p:cNvPr id="3" name="Rectangle 2"/>
          <p:cNvSpPr/>
          <p:nvPr/>
        </p:nvSpPr>
        <p:spPr>
          <a:xfrm>
            <a:off x="1097280" y="1371600"/>
            <a:ext cx="54864" cy="50292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463040"/>
            <a:ext cx="9144000" cy="411480"/>
          </a:xfrm>
          <a:prstGeom prst="rect">
            <a:avLst/>
          </a:prstGeom>
          <a:noFill/>
        </p:spPr>
        <p:txBody>
          <a:bodyPr wrap="square" anchor="t"/>
          <a:lstStyle/>
          <a:p>
            <a:pPr algn="l">
              <a:defRPr sz="2200" b="1">
                <a:solidFill>
                  <a:srgbClr val="FFFFFF"/>
                </a:solidFill>
                <a:latin typeface="Calibri"/>
              </a:defRPr>
            </a:pPr>
            <a:r>
              <a:t>1.  Heterogeneous compute is mandatory</a:t>
            </a:r>
          </a:p>
        </p:txBody>
      </p:sp>
      <p:sp>
        <p:nvSpPr>
          <p:cNvPr id="5" name="TextBox 4"/>
          <p:cNvSpPr txBox="1"/>
          <p:nvPr/>
        </p:nvSpPr>
        <p:spPr>
          <a:xfrm>
            <a:off x="2103120" y="1874520"/>
            <a:ext cx="8229600" cy="411480"/>
          </a:xfrm>
          <a:prstGeom prst="rect">
            <a:avLst/>
          </a:prstGeom>
          <a:noFill/>
        </p:spPr>
        <p:txBody>
          <a:bodyPr wrap="square" anchor="t"/>
          <a:lstStyle/>
          <a:p>
            <a:pPr algn="l">
              <a:defRPr sz="1500" b="0">
                <a:solidFill>
                  <a:srgbClr val="A0A0A0"/>
                </a:solidFill>
                <a:latin typeface="Calibri"/>
              </a:defRPr>
            </a:pPr>
            <a:r>
              <a:t>CNN + Transformer + Control on one die</a:t>
            </a:r>
          </a:p>
        </p:txBody>
      </p:sp>
      <p:sp>
        <p:nvSpPr>
          <p:cNvPr id="6" name="TextBox 5"/>
          <p:cNvSpPr txBox="1"/>
          <p:nvPr/>
        </p:nvSpPr>
        <p:spPr>
          <a:xfrm>
            <a:off x="1645920" y="2423160"/>
            <a:ext cx="9144000" cy="411480"/>
          </a:xfrm>
          <a:prstGeom prst="rect">
            <a:avLst/>
          </a:prstGeom>
          <a:noFill/>
        </p:spPr>
        <p:txBody>
          <a:bodyPr wrap="square" anchor="t"/>
          <a:lstStyle/>
          <a:p>
            <a:pPr algn="l">
              <a:defRPr sz="2200" b="1">
                <a:solidFill>
                  <a:srgbClr val="FFFFFF"/>
                </a:solidFill>
                <a:latin typeface="Calibri"/>
              </a:defRPr>
            </a:pPr>
            <a:r>
              <a:t>2.  Power is the hard constraint</a:t>
            </a:r>
          </a:p>
        </p:txBody>
      </p:sp>
      <p:sp>
        <p:nvSpPr>
          <p:cNvPr id="7" name="TextBox 6"/>
          <p:cNvSpPr txBox="1"/>
          <p:nvPr/>
        </p:nvSpPr>
        <p:spPr>
          <a:xfrm>
            <a:off x="2103120" y="2834640"/>
            <a:ext cx="8229600" cy="411480"/>
          </a:xfrm>
          <a:prstGeom prst="rect">
            <a:avLst/>
          </a:prstGeom>
          <a:noFill/>
        </p:spPr>
        <p:txBody>
          <a:bodyPr wrap="square" anchor="t"/>
          <a:lstStyle/>
          <a:p>
            <a:pPr algn="l">
              <a:defRPr sz="1500" b="0">
                <a:solidFill>
                  <a:srgbClr val="A0A0A0"/>
                </a:solidFill>
                <a:latin typeface="Calibri"/>
              </a:defRPr>
            </a:pPr>
            <a:r>
              <a:t>Design to 50W first, then maximize compute</a:t>
            </a:r>
          </a:p>
        </p:txBody>
      </p:sp>
      <p:sp>
        <p:nvSpPr>
          <p:cNvPr id="8" name="TextBox 7"/>
          <p:cNvSpPr txBox="1"/>
          <p:nvPr/>
        </p:nvSpPr>
        <p:spPr>
          <a:xfrm>
            <a:off x="1645920" y="3383280"/>
            <a:ext cx="9144000" cy="411480"/>
          </a:xfrm>
          <a:prstGeom prst="rect">
            <a:avLst/>
          </a:prstGeom>
          <a:noFill/>
        </p:spPr>
        <p:txBody>
          <a:bodyPr wrap="square" anchor="t"/>
          <a:lstStyle/>
          <a:p>
            <a:pPr algn="l">
              <a:defRPr sz="2200" b="1">
                <a:solidFill>
                  <a:srgbClr val="FFFFFF"/>
                </a:solidFill>
                <a:latin typeface="Calibri"/>
              </a:defRPr>
            </a:pPr>
            <a:r>
              <a:t>3.  Latency &gt; throughput</a:t>
            </a:r>
          </a:p>
        </p:txBody>
      </p:sp>
      <p:sp>
        <p:nvSpPr>
          <p:cNvPr id="9" name="TextBox 8"/>
          <p:cNvSpPr txBox="1"/>
          <p:nvPr/>
        </p:nvSpPr>
        <p:spPr>
          <a:xfrm>
            <a:off x="2103120" y="3794760"/>
            <a:ext cx="8229600" cy="411480"/>
          </a:xfrm>
          <a:prstGeom prst="rect">
            <a:avLst/>
          </a:prstGeom>
          <a:noFill/>
        </p:spPr>
        <p:txBody>
          <a:bodyPr wrap="square" anchor="t"/>
          <a:lstStyle/>
          <a:p>
            <a:pPr algn="l">
              <a:defRPr sz="1500" b="0">
                <a:solidFill>
                  <a:srgbClr val="A0A0A0"/>
                </a:solidFill>
                <a:latin typeface="Calibri"/>
              </a:defRPr>
            </a:pPr>
            <a:r>
              <a:t>One result in 5ms, not 1000 results per second</a:t>
            </a:r>
          </a:p>
        </p:txBody>
      </p:sp>
      <p:sp>
        <p:nvSpPr>
          <p:cNvPr id="10" name="TextBox 9"/>
          <p:cNvSpPr txBox="1"/>
          <p:nvPr/>
        </p:nvSpPr>
        <p:spPr>
          <a:xfrm>
            <a:off x="1645920" y="4343400"/>
            <a:ext cx="9144000" cy="411480"/>
          </a:xfrm>
          <a:prstGeom prst="rect">
            <a:avLst/>
          </a:prstGeom>
          <a:noFill/>
        </p:spPr>
        <p:txBody>
          <a:bodyPr wrap="square" anchor="t"/>
          <a:lstStyle/>
          <a:p>
            <a:pPr algn="l">
              <a:defRPr sz="2200" b="1">
                <a:solidFill>
                  <a:srgbClr val="EF4444"/>
                </a:solidFill>
                <a:latin typeface="Calibri"/>
              </a:defRPr>
            </a:pPr>
            <a:r>
              <a:t>4.  Safety is non-negotiable</a:t>
            </a:r>
          </a:p>
        </p:txBody>
      </p:sp>
      <p:sp>
        <p:nvSpPr>
          <p:cNvPr id="11" name="TextBox 10"/>
          <p:cNvSpPr txBox="1"/>
          <p:nvPr/>
        </p:nvSpPr>
        <p:spPr>
          <a:xfrm>
            <a:off x="2103120" y="4754880"/>
            <a:ext cx="8229600" cy="411480"/>
          </a:xfrm>
          <a:prstGeom prst="rect">
            <a:avLst/>
          </a:prstGeom>
          <a:noFill/>
        </p:spPr>
        <p:txBody>
          <a:bodyPr wrap="square" anchor="t"/>
          <a:lstStyle/>
          <a:p>
            <a:pPr algn="l">
              <a:defRPr sz="1500" b="0">
                <a:solidFill>
                  <a:srgbClr val="A0A0A0"/>
                </a:solidFill>
                <a:latin typeface="Calibri"/>
              </a:defRPr>
            </a:pPr>
            <a:r>
              <a:t>Functional safety, error correction, graceful degradation</a:t>
            </a:r>
          </a:p>
        </p:txBody>
      </p:sp>
      <p:sp>
        <p:nvSpPr>
          <p:cNvPr id="12" name="TextBox 11"/>
          <p:cNvSpPr txBox="1"/>
          <p:nvPr/>
        </p:nvSpPr>
        <p:spPr>
          <a:xfrm>
            <a:off x="1645920" y="5303520"/>
            <a:ext cx="9144000" cy="411480"/>
          </a:xfrm>
          <a:prstGeom prst="rect">
            <a:avLst/>
          </a:prstGeom>
          <a:noFill/>
        </p:spPr>
        <p:txBody>
          <a:bodyPr wrap="square" anchor="t"/>
          <a:lstStyle/>
          <a:p>
            <a:pPr algn="l">
              <a:defRPr sz="2200" b="1">
                <a:solidFill>
                  <a:srgbClr val="FFFFFF"/>
                </a:solidFill>
                <a:latin typeface="Calibri"/>
              </a:defRPr>
            </a:pPr>
            <a:r>
              <a:t>5.  Cost at scale: &lt;$500/unit</a:t>
            </a:r>
          </a:p>
        </p:txBody>
      </p:sp>
      <p:sp>
        <p:nvSpPr>
          <p:cNvPr id="13" name="TextBox 12"/>
          <p:cNvSpPr txBox="1"/>
          <p:nvPr/>
        </p:nvSpPr>
        <p:spPr>
          <a:xfrm>
            <a:off x="2103120" y="5715000"/>
            <a:ext cx="8229600" cy="411480"/>
          </a:xfrm>
          <a:prstGeom prst="rect">
            <a:avLst/>
          </a:prstGeom>
          <a:noFill/>
        </p:spPr>
        <p:txBody>
          <a:bodyPr wrap="square" anchor="t"/>
          <a:lstStyle/>
          <a:p>
            <a:pPr algn="l">
              <a:defRPr sz="1500" b="0">
                <a:solidFill>
                  <a:srgbClr val="A0A0A0"/>
                </a:solidFill>
                <a:latin typeface="Calibri"/>
              </a:defRPr>
            </a:pPr>
            <a:r>
              <a:t>A $200K robot will never reach mass adoption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371600" y="914400"/>
            <a:ext cx="9144000" cy="5029200"/>
          </a:xfrm>
          <a:prstGeom prst="rect">
            <a:avLst/>
          </a:prstGeom>
          <a:noFill/>
        </p:spPr>
        <p:txBody>
          <a:bodyPr wrap="square" anchor="ctr"/>
          <a:lstStyle/>
          <a:p>
            <a:pPr algn="ctr">
              <a:spcAft>
                <a:spcPts val="600"/>
              </a:spcAft>
              <a:defRPr sz="2800" b="1">
                <a:solidFill>
                  <a:srgbClr val="FFFFFF"/>
                </a:solidFill>
                <a:latin typeface="Calibri"/>
              </a:defRPr>
            </a:pPr>
            <a:r>
              <a:t>"The best chip is never the one</a:t>
            </a:r>
          </a:p>
          <a:p>
            <a:pPr algn="ctr">
              <a:spcAft>
                <a:spcPts val="600"/>
              </a:spcAft>
              <a:defRPr sz="2800" b="1">
                <a:solidFill>
                  <a:srgbClr val="FFFFFF"/>
                </a:solidFill>
                <a:latin typeface="Calibri"/>
              </a:defRPr>
            </a:pPr>
            <a:r>
              <a:t> with the highest benchmark score.</a:t>
            </a:r>
          </a:p>
          <a:p>
            <a:pPr algn="ctr">
              <a:spcAft>
                <a:spcPts val="600"/>
              </a:spcAft>
              <a:defRPr sz="2000" b="0">
                <a:solidFill>
                  <a:srgbClr val="FFFFFF"/>
                </a:solidFill>
                <a:latin typeface="Calibri"/>
              </a:defRPr>
            </a:pPr>
          </a:p>
          <a:p>
            <a:pPr algn="ctr">
              <a:spcAft>
                <a:spcPts val="600"/>
              </a:spcAft>
              <a:defRPr sz="2800" b="1">
                <a:solidFill>
                  <a:srgbClr val="0EA5E9"/>
                </a:solidFill>
                <a:latin typeface="Calibri"/>
              </a:defRPr>
            </a:pPr>
            <a:r>
              <a:t> It is the one that runs reliably,</a:t>
            </a:r>
          </a:p>
          <a:p>
            <a:pPr algn="ctr">
              <a:spcAft>
                <a:spcPts val="600"/>
              </a:spcAft>
              <a:defRPr sz="2800" b="1">
                <a:solidFill>
                  <a:srgbClr val="0EA5E9"/>
                </a:solidFill>
                <a:latin typeface="Calibri"/>
              </a:defRPr>
            </a:pPr>
            <a:r>
              <a:t> efficiently, and affordably</a:t>
            </a:r>
          </a:p>
          <a:p>
            <a:pPr algn="ctr">
              <a:spcAft>
                <a:spcPts val="600"/>
              </a:spcAft>
              <a:defRPr sz="2800" b="1">
                <a:solidFill>
                  <a:srgbClr val="0EA5E9"/>
                </a:solidFill>
                <a:latin typeface="Calibri"/>
              </a:defRPr>
            </a:pPr>
            <a:r>
              <a:t> in its target deployment environment."</a:t>
            </a:r>
          </a:p>
          <a:p>
            <a:pPr algn="ctr">
              <a:spcAft>
                <a:spcPts val="600"/>
              </a:spcAft>
              <a:defRPr sz="2400" b="0">
                <a:solidFill>
                  <a:srgbClr val="FFFFFF"/>
                </a:solidFill>
                <a:latin typeface="Calibri"/>
              </a:defRPr>
            </a:pPr>
          </a:p>
          <a:p>
            <a:pPr algn="ctr">
              <a:spcAft>
                <a:spcPts val="600"/>
              </a:spcAft>
              <a:defRPr sz="2000" b="0">
                <a:solidFill>
                  <a:srgbClr val="A0A0A0"/>
                </a:solidFill>
                <a:latin typeface="Calibri"/>
              </a:defRPr>
            </a:pPr>
            <a:r>
              <a:t>— From quantitative trading,</a:t>
            </a:r>
          </a:p>
          <a:p>
            <a:pPr algn="ctr">
              <a:spcAft>
                <a:spcPts val="600"/>
              </a:spcAft>
              <a:defRPr sz="2000" b="0">
                <a:solidFill>
                  <a:srgbClr val="A0A0A0"/>
                </a:solidFill>
                <a:latin typeface="Calibri"/>
              </a:defRPr>
            </a:pPr>
            <a:r>
              <a:t>  through data centers, to robots.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600" b="1">
                <a:solidFill>
                  <a:srgbClr val="FFFFFF"/>
                </a:solidFill>
                <a:latin typeface="Calibri"/>
              </a:defRPr>
            </a:pPr>
            <a:r>
              <a:t>Looking Ahead</a:t>
            </a:r>
          </a:p>
        </p:txBody>
      </p:sp>
      <p:sp>
        <p:nvSpPr>
          <p:cNvPr id="3" name="Oval 2"/>
          <p:cNvSpPr/>
          <p:nvPr/>
        </p:nvSpPr>
        <p:spPr>
          <a:xfrm>
            <a:off x="1371600" y="1645920"/>
            <a:ext cx="1097280" cy="109728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defRPr>
            </a:pPr>
            <a:r>
              <a:t>2026</a:t>
            </a:r>
          </a:p>
        </p:txBody>
      </p:sp>
      <p:sp>
        <p:nvSpPr>
          <p:cNvPr id="4" name="Rectangle 3"/>
          <p:cNvSpPr/>
          <p:nvPr/>
        </p:nvSpPr>
        <p:spPr>
          <a:xfrm>
            <a:off x="1892807" y="2743200"/>
            <a:ext cx="54864" cy="4572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0" y="1691640"/>
            <a:ext cx="7315200" cy="548640"/>
          </a:xfrm>
          <a:prstGeom prst="rect">
            <a:avLst/>
          </a:prstGeom>
          <a:noFill/>
        </p:spPr>
        <p:txBody>
          <a:bodyPr wrap="square" anchor="t"/>
          <a:lstStyle/>
          <a:p>
            <a:pPr algn="l">
              <a:defRPr sz="2400" b="1">
                <a:solidFill>
                  <a:srgbClr val="FFFFFF"/>
                </a:solidFill>
                <a:latin typeface="Calibri"/>
              </a:defRPr>
            </a:pPr>
            <a:r>
              <a:t>"Inference Famine"</a:t>
            </a:r>
          </a:p>
        </p:txBody>
      </p:sp>
      <p:sp>
        <p:nvSpPr>
          <p:cNvPr id="6" name="TextBox 5"/>
          <p:cNvSpPr txBox="1"/>
          <p:nvPr/>
        </p:nvSpPr>
        <p:spPr>
          <a:xfrm>
            <a:off x="2926080" y="2194560"/>
            <a:ext cx="7315200" cy="457200"/>
          </a:xfrm>
          <a:prstGeom prst="rect">
            <a:avLst/>
          </a:prstGeom>
          <a:noFill/>
        </p:spPr>
        <p:txBody>
          <a:bodyPr wrap="square" anchor="t"/>
          <a:lstStyle/>
          <a:p>
            <a:pPr algn="l">
              <a:defRPr sz="1600" b="0">
                <a:solidFill>
                  <a:srgbClr val="A0A0A0"/>
                </a:solidFill>
                <a:latin typeface="Calibri"/>
              </a:defRPr>
            </a:pPr>
            <a:r>
              <a:t>Demand for inference compute outpaces supply</a:t>
            </a:r>
          </a:p>
        </p:txBody>
      </p:sp>
      <p:sp>
        <p:nvSpPr>
          <p:cNvPr id="7" name="Oval 6"/>
          <p:cNvSpPr/>
          <p:nvPr/>
        </p:nvSpPr>
        <p:spPr>
          <a:xfrm>
            <a:off x="1371600" y="3200400"/>
            <a:ext cx="1097280" cy="1097280"/>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defRPr>
            </a:pPr>
            <a:r>
              <a:t>2027</a:t>
            </a:r>
          </a:p>
        </p:txBody>
      </p:sp>
      <p:sp>
        <p:nvSpPr>
          <p:cNvPr id="8" name="Rectangle 7"/>
          <p:cNvSpPr/>
          <p:nvPr/>
        </p:nvSpPr>
        <p:spPr>
          <a:xfrm>
            <a:off x="1892807" y="4297680"/>
            <a:ext cx="54864" cy="4572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0" y="3246120"/>
            <a:ext cx="7315200" cy="548640"/>
          </a:xfrm>
          <a:prstGeom prst="rect">
            <a:avLst/>
          </a:prstGeom>
          <a:noFill/>
        </p:spPr>
        <p:txBody>
          <a:bodyPr wrap="square" anchor="t"/>
          <a:lstStyle/>
          <a:p>
            <a:pPr algn="l">
              <a:defRPr sz="2400" b="1">
                <a:solidFill>
                  <a:srgbClr val="FFFFFF"/>
                </a:solidFill>
                <a:latin typeface="Calibri"/>
              </a:defRPr>
            </a:pPr>
            <a:r>
              <a:t>First wave of mass-produced humanoid robots</a:t>
            </a:r>
          </a:p>
        </p:txBody>
      </p:sp>
      <p:sp>
        <p:nvSpPr>
          <p:cNvPr id="10" name="TextBox 9"/>
          <p:cNvSpPr txBox="1"/>
          <p:nvPr/>
        </p:nvSpPr>
        <p:spPr>
          <a:xfrm>
            <a:off x="2926080" y="3749040"/>
            <a:ext cx="7315200" cy="457200"/>
          </a:xfrm>
          <a:prstGeom prst="rect">
            <a:avLst/>
          </a:prstGeom>
          <a:noFill/>
        </p:spPr>
        <p:txBody>
          <a:bodyPr wrap="square" anchor="t"/>
          <a:lstStyle/>
          <a:p>
            <a:pPr algn="l">
              <a:defRPr sz="1600" b="0">
                <a:solidFill>
                  <a:srgbClr val="A0A0A0"/>
                </a:solidFill>
                <a:latin typeface="Calibri"/>
              </a:defRPr>
            </a:pPr>
            <a:r>
              <a:t>Logistics, manufacturing, elder care</a:t>
            </a:r>
          </a:p>
        </p:txBody>
      </p:sp>
      <p:sp>
        <p:nvSpPr>
          <p:cNvPr id="11" name="Oval 10"/>
          <p:cNvSpPr/>
          <p:nvPr/>
        </p:nvSpPr>
        <p:spPr>
          <a:xfrm>
            <a:off x="1371600" y="4754880"/>
            <a:ext cx="1097280" cy="109728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defRPr>
            </a:pPr>
            <a:r>
              <a:t>2028+</a:t>
            </a:r>
          </a:p>
        </p:txBody>
      </p:sp>
      <p:sp>
        <p:nvSpPr>
          <p:cNvPr id="12" name="TextBox 11"/>
          <p:cNvSpPr txBox="1"/>
          <p:nvPr/>
        </p:nvSpPr>
        <p:spPr>
          <a:xfrm>
            <a:off x="2926080" y="4800600"/>
            <a:ext cx="7315200" cy="548640"/>
          </a:xfrm>
          <a:prstGeom prst="rect">
            <a:avLst/>
          </a:prstGeom>
          <a:noFill/>
        </p:spPr>
        <p:txBody>
          <a:bodyPr wrap="square" anchor="t"/>
          <a:lstStyle/>
          <a:p>
            <a:pPr algn="l">
              <a:defRPr sz="2400" b="1">
                <a:solidFill>
                  <a:srgbClr val="FFFFFF"/>
                </a:solidFill>
                <a:latin typeface="Calibri"/>
              </a:defRPr>
            </a:pPr>
            <a:r>
              <a:t>On-body AI compute market</a:t>
            </a:r>
          </a:p>
        </p:txBody>
      </p:sp>
      <p:sp>
        <p:nvSpPr>
          <p:cNvPr id="13" name="TextBox 12"/>
          <p:cNvSpPr txBox="1"/>
          <p:nvPr/>
        </p:nvSpPr>
        <p:spPr>
          <a:xfrm>
            <a:off x="2926080" y="5303520"/>
            <a:ext cx="7315200" cy="457200"/>
          </a:xfrm>
          <a:prstGeom prst="rect">
            <a:avLst/>
          </a:prstGeom>
          <a:noFill/>
        </p:spPr>
        <p:txBody>
          <a:bodyPr wrap="square" anchor="t"/>
          <a:lstStyle/>
          <a:p>
            <a:pPr algn="l">
              <a:defRPr sz="1600" b="0">
                <a:solidFill>
                  <a:srgbClr val="A0A0A0"/>
                </a:solidFill>
                <a:latin typeface="Calibri"/>
              </a:defRPr>
            </a:pPr>
            <a:r>
              <a:t>Comparable in scale to smartphone SoC market</a:t>
            </a:r>
          </a:p>
        </p:txBody>
      </p:sp>
      <p:sp>
        <p:nvSpPr>
          <p:cNvPr id="14" name="TextBox 13"/>
          <p:cNvSpPr txBox="1"/>
          <p:nvPr/>
        </p:nvSpPr>
        <p:spPr>
          <a:xfrm>
            <a:off x="914400" y="5760720"/>
            <a:ext cx="10058400" cy="914400"/>
          </a:xfrm>
          <a:prstGeom prst="rect">
            <a:avLst/>
          </a:prstGeom>
          <a:noFill/>
        </p:spPr>
        <p:txBody>
          <a:bodyPr wrap="square" anchor="t"/>
          <a:lstStyle/>
          <a:p>
            <a:pPr algn="ctr">
              <a:spcAft>
                <a:spcPts val="600"/>
              </a:spcAft>
              <a:defRPr sz="1800" b="1">
                <a:solidFill>
                  <a:srgbClr val="FFD700"/>
                </a:solidFill>
                <a:latin typeface="Calibri"/>
              </a:defRPr>
            </a:pPr>
            <a:r>
              <a:t>Every robot = a mobile computing platform</a:t>
            </a:r>
          </a:p>
          <a:p>
            <a:pPr algn="ctr">
              <a:spcAft>
                <a:spcPts val="600"/>
              </a:spcAft>
              <a:defRPr sz="1800" b="1">
                <a:solidFill>
                  <a:srgbClr val="FFD700"/>
                </a:solidFill>
                <a:latin typeface="Calibri"/>
              </a:defRPr>
            </a:pPr>
            <a:r>
              <a:t>Aggregate demand = enormous new IC market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600" b="1">
                <a:solidFill>
                  <a:srgbClr val="FFFFFF"/>
                </a:solidFill>
                <a:latin typeface="Calibri"/>
              </a:defRPr>
            </a:pPr>
            <a:r>
              <a:t>The Convergence</a:t>
            </a:r>
          </a:p>
        </p:txBody>
      </p:sp>
      <p:sp>
        <p:nvSpPr>
          <p:cNvPr id="3" name="Oval 2"/>
          <p:cNvSpPr/>
          <p:nvPr/>
        </p:nvSpPr>
        <p:spPr>
          <a:xfrm>
            <a:off x="3657600" y="1645920"/>
            <a:ext cx="3200400" cy="3200400"/>
          </a:xfrm>
          <a:prstGeom prst="ellipse">
            <a:avLst/>
          </a:prstGeom>
          <a:solidFill>
            <a:srgbClr val="04374D"/>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defRPr>
            </a:pPr>
            <a:r>
              <a:t>Cloud AI</a:t>
            </a:r>
            <a:br/>
            <a:r>
              <a:t>Training chips</a:t>
            </a:r>
            <a:br/>
            <a:r>
              <a:t>(mature)</a:t>
            </a:r>
          </a:p>
        </p:txBody>
      </p:sp>
      <p:sp>
        <p:nvSpPr>
          <p:cNvPr id="4" name="Oval 3"/>
          <p:cNvSpPr/>
          <p:nvPr/>
        </p:nvSpPr>
        <p:spPr>
          <a:xfrm>
            <a:off x="5943600" y="1645920"/>
            <a:ext cx="3200400" cy="3200400"/>
          </a:xfrm>
          <a:prstGeom prst="ellipse">
            <a:avLst/>
          </a:prstGeom>
          <a:solidFill>
            <a:srgbClr val="532607"/>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defRPr>
            </a:pPr>
            <a:r>
              <a:t>Edge AI</a:t>
            </a:r>
            <a:br/>
            <a:r>
              <a:t>Inference chips</a:t>
            </a:r>
            <a:br/>
            <a:r>
              <a:t>(growing)</a:t>
            </a:r>
          </a:p>
        </p:txBody>
      </p:sp>
      <p:sp>
        <p:nvSpPr>
          <p:cNvPr id="5" name="Oval 4"/>
          <p:cNvSpPr/>
          <p:nvPr/>
        </p:nvSpPr>
        <p:spPr>
          <a:xfrm>
            <a:off x="4800600" y="3474720"/>
            <a:ext cx="3200400" cy="3200400"/>
          </a:xfrm>
          <a:prstGeom prst="ellipse">
            <a:avLst/>
          </a:prstGeom>
          <a:solidFill>
            <a:srgbClr val="0B411F"/>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defRPr>
            </a:pPr>
            <a:r>
              <a:t>On-Body AI</a:t>
            </a:r>
            <a:br/>
            <a:r>
              <a:t>Embodied SoCs</a:t>
            </a:r>
            <a:br/>
            <a:r>
              <a:t>(emerging)</a:t>
            </a:r>
          </a:p>
        </p:txBody>
      </p:sp>
      <p:sp>
        <p:nvSpPr>
          <p:cNvPr id="6" name="Rounded Rectangle 5"/>
          <p:cNvSpPr/>
          <p:nvPr/>
        </p:nvSpPr>
        <p:spPr>
          <a:xfrm>
            <a:off x="4937760" y="3474720"/>
            <a:ext cx="2560320" cy="640080"/>
          </a:xfrm>
          <a:prstGeom prst="roundRect">
            <a:avLst/>
          </a:prstGeom>
          <a:solidFill>
            <a:srgbClr val="303050"/>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37760" y="3520440"/>
            <a:ext cx="2560320" cy="548640"/>
          </a:xfrm>
          <a:prstGeom prst="rect">
            <a:avLst/>
          </a:prstGeom>
          <a:noFill/>
        </p:spPr>
        <p:txBody>
          <a:bodyPr wrap="square" anchor="t"/>
          <a:lstStyle/>
          <a:p>
            <a:pPr algn="ctr">
              <a:defRPr sz="1600" b="1">
                <a:solidFill>
                  <a:srgbClr val="FFD700"/>
                </a:solidFill>
                <a:latin typeface="Calibri"/>
              </a:defRPr>
            </a:pPr>
            <a:r>
              <a:t>The IC Opportunity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600" b="1">
                <a:solidFill>
                  <a:srgbClr val="FFFFFF"/>
                </a:solidFill>
                <a:latin typeface="Calibri"/>
              </a:defRPr>
            </a:pPr>
            <a:r>
              <a:t>For Everyone in This Room</a:t>
            </a:r>
          </a:p>
        </p:txBody>
      </p:sp>
      <p:sp>
        <p:nvSpPr>
          <p:cNvPr id="3" name="TextBox 2"/>
          <p:cNvSpPr txBox="1"/>
          <p:nvPr/>
        </p:nvSpPr>
        <p:spPr>
          <a:xfrm>
            <a:off x="1371600" y="1645920"/>
            <a:ext cx="9144000" cy="4572000"/>
          </a:xfrm>
          <a:prstGeom prst="rect">
            <a:avLst/>
          </a:prstGeom>
          <a:noFill/>
        </p:spPr>
        <p:txBody>
          <a:bodyPr wrap="square" anchor="t"/>
          <a:lstStyle/>
          <a:p>
            <a:pPr algn="l">
              <a:spcAft>
                <a:spcPts val="600"/>
              </a:spcAft>
              <a:defRPr sz="2800" b="0">
                <a:solidFill>
                  <a:srgbClr val="FFFFFF"/>
                </a:solidFill>
                <a:latin typeface="Calibri"/>
              </a:defRPr>
            </a:pPr>
            <a:r>
              <a:t>You are designing the</a:t>
            </a:r>
          </a:p>
          <a:p>
            <a:pPr algn="l">
              <a:spcAft>
                <a:spcPts val="600"/>
              </a:spcAft>
              <a:defRPr sz="3600" b="1">
                <a:solidFill>
                  <a:srgbClr val="FFD700"/>
                </a:solidFill>
                <a:latin typeface="Calibri"/>
              </a:defRPr>
            </a:pPr>
            <a:r>
              <a:t>nervous system</a:t>
            </a:r>
          </a:p>
          <a:p>
            <a:pPr algn="l">
              <a:spcAft>
                <a:spcPts val="600"/>
              </a:spcAft>
              <a:defRPr sz="2800" b="0">
                <a:solidFill>
                  <a:srgbClr val="FFFFFF"/>
                </a:solidFill>
                <a:latin typeface="Calibri"/>
              </a:defRPr>
            </a:pPr>
            <a:r>
              <a:t>of tomorrow's intelligent machines.</a:t>
            </a:r>
          </a:p>
          <a:p>
            <a:pPr algn="l">
              <a:spcAft>
                <a:spcPts val="600"/>
              </a:spcAft>
              <a:defRPr sz="2000" b="0">
                <a:solidFill>
                  <a:srgbClr val="FFFFFF"/>
                </a:solidFill>
                <a:latin typeface="Calibri"/>
              </a:defRPr>
            </a:pPr>
          </a:p>
          <a:p>
            <a:pPr algn="l">
              <a:spcAft>
                <a:spcPts val="600"/>
              </a:spcAft>
              <a:defRPr sz="2400" b="0">
                <a:solidFill>
                  <a:srgbClr val="C0C0C0"/>
                </a:solidFill>
                <a:latin typeface="Calibri"/>
              </a:defRPr>
            </a:pPr>
            <a:r>
              <a:t>Your decisions on:</a:t>
            </a:r>
          </a:p>
          <a:p>
            <a:pPr algn="l">
              <a:spcAft>
                <a:spcPts val="600"/>
              </a:spcAft>
              <a:defRPr sz="800" b="0">
                <a:solidFill>
                  <a:srgbClr val="FFFFFF"/>
                </a:solidFill>
                <a:latin typeface="Calibri"/>
              </a:defRPr>
            </a:pPr>
          </a:p>
          <a:p>
            <a:pPr algn="l">
              <a:spcAft>
                <a:spcPts val="600"/>
              </a:spcAft>
              <a:defRPr sz="2400" b="1">
                <a:solidFill>
                  <a:srgbClr val="0EA5E9"/>
                </a:solidFill>
                <a:latin typeface="Calibri"/>
              </a:defRPr>
            </a:pPr>
            <a:r>
              <a:t>    •  Architecture</a:t>
            </a:r>
          </a:p>
          <a:p>
            <a:pPr algn="l">
              <a:spcAft>
                <a:spcPts val="600"/>
              </a:spcAft>
              <a:defRPr sz="2400" b="1">
                <a:solidFill>
                  <a:srgbClr val="F97316"/>
                </a:solidFill>
                <a:latin typeface="Calibri"/>
              </a:defRPr>
            </a:pPr>
            <a:r>
              <a:t>    •  Power efficiency</a:t>
            </a:r>
          </a:p>
          <a:p>
            <a:pPr algn="l">
              <a:spcAft>
                <a:spcPts val="600"/>
              </a:spcAft>
              <a:defRPr sz="2400" b="1">
                <a:solidFill>
                  <a:srgbClr val="22C55E"/>
                </a:solidFill>
                <a:latin typeface="Calibri"/>
              </a:defRPr>
            </a:pPr>
            <a:r>
              <a:t>    •  Reliability</a:t>
            </a:r>
          </a:p>
          <a:p>
            <a:pPr algn="l">
              <a:spcAft>
                <a:spcPts val="600"/>
              </a:spcAft>
              <a:defRPr sz="1600" b="0">
                <a:solidFill>
                  <a:srgbClr val="FFFFFF"/>
                </a:solidFill>
                <a:latin typeface="Calibri"/>
              </a:defRPr>
            </a:pPr>
          </a:p>
          <a:p>
            <a:pPr algn="l">
              <a:spcAft>
                <a:spcPts val="600"/>
              </a:spcAft>
              <a:defRPr sz="2400" b="0">
                <a:solidFill>
                  <a:srgbClr val="FFFFFF"/>
                </a:solidFill>
                <a:latin typeface="Calibri"/>
              </a:defRPr>
            </a:pPr>
            <a:r>
              <a:t>will determine whether embodied AI</a:t>
            </a:r>
          </a:p>
          <a:p>
            <a:pPr algn="l">
              <a:spcAft>
                <a:spcPts val="600"/>
              </a:spcAft>
              <a:defRPr sz="2400" b="1">
                <a:solidFill>
                  <a:srgbClr val="FFFFFF"/>
                </a:solidFill>
                <a:latin typeface="Calibri"/>
              </a:defRPr>
            </a:pPr>
            <a:r>
              <a:t>becomes reality — or stays in the lab.</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371600" y="914400"/>
            <a:ext cx="9144000" cy="5029200"/>
          </a:xfrm>
          <a:prstGeom prst="rect">
            <a:avLst/>
          </a:prstGeom>
          <a:noFill/>
        </p:spPr>
        <p:txBody>
          <a:bodyPr wrap="square" anchor="ctr"/>
          <a:lstStyle/>
          <a:p>
            <a:pPr algn="ctr">
              <a:spcAft>
                <a:spcPts val="600"/>
              </a:spcAft>
              <a:defRPr sz="2400" b="0">
                <a:solidFill>
                  <a:srgbClr val="FFFFFF"/>
                </a:solidFill>
                <a:latin typeface="Calibri"/>
              </a:defRPr>
            </a:pPr>
            <a:r>
              <a:t>"I started optimizing compute for financial models,</a:t>
            </a:r>
          </a:p>
          <a:p>
            <a:pPr algn="ctr">
              <a:spcAft>
                <a:spcPts val="600"/>
              </a:spcAft>
              <a:defRPr sz="2400" b="1">
                <a:solidFill>
                  <a:srgbClr val="0EA5E9"/>
                </a:solidFill>
                <a:latin typeface="Calibri"/>
              </a:defRPr>
            </a:pPr>
            <a:r>
              <a:t> where microseconds meant money.</a:t>
            </a:r>
          </a:p>
          <a:p>
            <a:pPr algn="ctr">
              <a:spcAft>
                <a:spcPts val="600"/>
              </a:spcAft>
              <a:defRPr sz="1600" b="0">
                <a:solidFill>
                  <a:srgbClr val="FFFFFF"/>
                </a:solidFill>
                <a:latin typeface="Calibri"/>
              </a:defRPr>
            </a:pPr>
          </a:p>
          <a:p>
            <a:pPr algn="ctr">
              <a:spcAft>
                <a:spcPts val="600"/>
              </a:spcAft>
              <a:defRPr sz="2400" b="0">
                <a:solidFill>
                  <a:srgbClr val="FFFFFF"/>
                </a:solidFill>
                <a:latin typeface="Calibri"/>
              </a:defRPr>
            </a:pPr>
            <a:r>
              <a:t> I then built computing centers,</a:t>
            </a:r>
          </a:p>
          <a:p>
            <a:pPr algn="ctr">
              <a:spcAft>
                <a:spcPts val="600"/>
              </a:spcAft>
              <a:defRPr sz="2400" b="1">
                <a:solidFill>
                  <a:srgbClr val="F97316"/>
                </a:solidFill>
                <a:latin typeface="Calibri"/>
              </a:defRPr>
            </a:pPr>
            <a:r>
              <a:t> where power efficiency meant survival.</a:t>
            </a:r>
          </a:p>
          <a:p>
            <a:pPr algn="ctr">
              <a:spcAft>
                <a:spcPts val="600"/>
              </a:spcAft>
              <a:defRPr sz="1600" b="0">
                <a:solidFill>
                  <a:srgbClr val="FFFFFF"/>
                </a:solidFill>
                <a:latin typeface="Calibri"/>
              </a:defRPr>
            </a:pPr>
          </a:p>
          <a:p>
            <a:pPr algn="ctr">
              <a:spcAft>
                <a:spcPts val="600"/>
              </a:spcAft>
              <a:defRPr sz="2400" b="0">
                <a:solidFill>
                  <a:srgbClr val="FFFFFF"/>
                </a:solidFill>
                <a:latin typeface="Calibri"/>
              </a:defRPr>
            </a:pPr>
            <a:r>
              <a:t> Now I invest in robots,</a:t>
            </a:r>
          </a:p>
          <a:p>
            <a:pPr algn="ctr">
              <a:spcAft>
                <a:spcPts val="600"/>
              </a:spcAft>
              <a:defRPr sz="2400" b="1">
                <a:solidFill>
                  <a:srgbClr val="22C55E"/>
                </a:solidFill>
                <a:latin typeface="Calibri"/>
              </a:defRPr>
            </a:pPr>
            <a:r>
              <a:t> where real-time inference means safety."</a:t>
            </a:r>
          </a:p>
          <a:p>
            <a:pPr algn="ctr">
              <a:spcAft>
                <a:spcPts val="600"/>
              </a:spcAft>
              <a:defRPr sz="2400" b="0">
                <a:solidFill>
                  <a:srgbClr val="FFFFFF"/>
                </a:solidFill>
                <a:latin typeface="Calibri"/>
              </a:defRPr>
            </a:pPr>
          </a:p>
          <a:p>
            <a:pPr algn="ctr">
              <a:spcAft>
                <a:spcPts val="600"/>
              </a:spcAft>
              <a:defRPr sz="2200" b="0">
                <a:solidFill>
                  <a:srgbClr val="C0C0C0"/>
                </a:solidFill>
                <a:latin typeface="Calibri"/>
              </a:defRPr>
            </a:pPr>
            <a:r>
              <a:t>Advancing IC with AI.</a:t>
            </a:r>
          </a:p>
          <a:p>
            <a:pPr algn="ctr">
              <a:spcAft>
                <a:spcPts val="600"/>
              </a:spcAft>
              <a:defRPr sz="2200" b="0">
                <a:solidFill>
                  <a:srgbClr val="C0C0C0"/>
                </a:solidFill>
                <a:latin typeface="Calibri"/>
              </a:defRPr>
            </a:pPr>
            <a:r>
              <a:t>Advancing AI with IC —</a:t>
            </a:r>
          </a:p>
          <a:p>
            <a:pPr algn="ctr">
              <a:spcAft>
                <a:spcPts val="600"/>
              </a:spcAft>
              <a:defRPr sz="2200" b="1">
                <a:solidFill>
                  <a:srgbClr val="FFD700"/>
                </a:solidFill>
                <a:latin typeface="Calibri"/>
              </a:defRPr>
            </a:pPr>
            <a:r>
              <a:t>from the cloud, through the edge, into the body.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2743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1371600"/>
            <a:ext cx="8229600" cy="4572000"/>
          </a:xfrm>
          <a:prstGeom prst="rect">
            <a:avLst/>
          </a:prstGeom>
          <a:noFill/>
        </p:spPr>
        <p:txBody>
          <a:bodyPr wrap="square" anchor="ctr"/>
          <a:lstStyle/>
          <a:p>
            <a:pPr algn="ctr">
              <a:spcAft>
                <a:spcPts val="600"/>
              </a:spcAft>
              <a:defRPr sz="5600" b="1">
                <a:solidFill>
                  <a:srgbClr val="FFFFFF"/>
                </a:solidFill>
                <a:latin typeface="Calibri"/>
              </a:defRPr>
            </a:pPr>
            <a:r>
              <a:t>Thank You</a:t>
            </a:r>
          </a:p>
          <a:p>
            <a:pPr algn="ctr">
              <a:spcAft>
                <a:spcPts val="600"/>
              </a:spcAft>
              <a:defRPr sz="3600" b="0">
                <a:solidFill>
                  <a:srgbClr val="A0A0A0"/>
                </a:solidFill>
                <a:latin typeface="Calibri"/>
              </a:defRPr>
            </a:pPr>
            <a:r>
              <a:t>谢谢</a:t>
            </a:r>
          </a:p>
          <a:p>
            <a:pPr algn="ctr">
              <a:spcAft>
                <a:spcPts val="600"/>
              </a:spcAft>
              <a:defRPr sz="3000" b="0">
                <a:solidFill>
                  <a:srgbClr val="FFFFFF"/>
                </a:solidFill>
                <a:latin typeface="Calibri"/>
              </a:defRPr>
            </a:pPr>
          </a:p>
          <a:p>
            <a:pPr algn="ctr">
              <a:spcAft>
                <a:spcPts val="600"/>
              </a:spcAft>
              <a:defRPr sz="2800" b="1">
                <a:solidFill>
                  <a:srgbClr val="FFFFFF"/>
                </a:solidFill>
                <a:latin typeface="Calibri"/>
              </a:defRPr>
            </a:pPr>
            <a:r>
              <a:t>Chao Chen  陈超</a:t>
            </a:r>
          </a:p>
          <a:p>
            <a:pPr algn="ctr">
              <a:spcAft>
                <a:spcPts val="600"/>
              </a:spcAft>
              <a:defRPr sz="1000" b="0">
                <a:solidFill>
                  <a:srgbClr val="FFFFFF"/>
                </a:solidFill>
                <a:latin typeface="Calibri"/>
              </a:defRPr>
            </a:pPr>
          </a:p>
          <a:p>
            <a:pPr algn="ctr">
              <a:spcAft>
                <a:spcPts val="600"/>
              </a:spcAft>
              <a:defRPr sz="1800" b="0">
                <a:solidFill>
                  <a:srgbClr val="C0C0C0"/>
                </a:solidFill>
                <a:latin typeface="Calibri"/>
              </a:defRPr>
            </a:pPr>
            <a:r>
              <a:t>Suzhou Chuangjie Intelligent Technology Co., Ltd.</a:t>
            </a:r>
          </a:p>
          <a:p>
            <a:pPr algn="ctr">
              <a:spcAft>
                <a:spcPts val="600"/>
              </a:spcAft>
              <a:defRPr sz="1600" b="0">
                <a:solidFill>
                  <a:srgbClr val="A0A0A0"/>
                </a:solidFill>
                <a:latin typeface="Calibri"/>
              </a:defRPr>
            </a:pPr>
            <a:r>
              <a:t>苏州创杰智能科技有限公司</a:t>
            </a:r>
          </a:p>
          <a:p>
            <a:pPr algn="ctr">
              <a:spcAft>
                <a:spcPts val="600"/>
              </a:spcAft>
              <a:defRPr sz="1600" b="0">
                <a:solidFill>
                  <a:srgbClr val="FFFFFF"/>
                </a:solidFill>
                <a:latin typeface="Calibri"/>
              </a:defRPr>
            </a:pPr>
          </a:p>
          <a:p>
            <a:pPr algn="ctr">
              <a:spcAft>
                <a:spcPts val="600"/>
              </a:spcAft>
              <a:defRPr sz="1800" b="0">
                <a:solidFill>
                  <a:srgbClr val="F97316"/>
                </a:solidFill>
                <a:latin typeface="Calibri"/>
              </a:defRPr>
            </a:pPr>
            <a:r>
              <a:t>IEEE ICTA 2026  |  Singapore</a:t>
            </a:r>
          </a:p>
        </p:txBody>
      </p:sp>
      <p:sp>
        <p:nvSpPr>
          <p:cNvPr id="4" name="Rectangle 3"/>
          <p:cNvSpPr/>
          <p:nvPr/>
        </p:nvSpPr>
        <p:spPr>
          <a:xfrm>
            <a:off x="0" y="6583680"/>
            <a:ext cx="12191695" cy="2743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